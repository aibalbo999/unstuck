
<file path=[Content_Types].xml><?xml version="1.0" encoding="utf-8"?>
<Types xmlns="http://schemas.openxmlformats.org/package/2006/content-types">
  <Default ContentType="image/png" Extension="png"/>
  <Default ContentType="image/jpeg" Extension="jpeg"/>
  <Default ContentType="image/x-emf" Extension="emf"/>
  <Default ContentType="application/vnd.openxmlformats-package.relationships+xml" Extension="rels"/>
  <Default ContentType="application/xml" Extension="xml"/>
  <Default ContentType="application/vnd.openxmlformats-officedocument.vmlDrawing" Extension="vml"/>
  <Default ContentType="application/vnd.openxmlformats-officedocument.spreadsheetml.sheet" Extension="xlsx"/>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theme+xml" PartName="/ppt/theme/theme2.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drawingml.chart+xml" PartName="/ppt/charts/chart1.xml"/>
  <Override ContentType="application/vnd.ms-office.chartstyle+xml" PartName="/ppt/charts/style1.xml"/>
  <Override ContentType="application/vnd.ms-office.chartcolorstyle+xml" PartName="/ppt/charts/colors1.xml"/>
  <Override ContentType="application/vnd.openxmlformats-officedocument.themeOverride+xml" PartName="/ppt/theme/themeOverride1.xml"/>
  <Override ContentType="application/vnd.openxmlformats-officedocument.drawingml.chart+xml" PartName="/ppt/charts/chart2.xml"/>
  <Override ContentType="application/vnd.ms-office.chartstyle+xml" PartName="/ppt/charts/style2.xml"/>
  <Override ContentType="application/vnd.ms-office.chartcolorstyle+xml" PartName="/ppt/charts/colors2.xml"/>
  <Override ContentType="application/vnd.openxmlformats-officedocument.themeOverride+xml" PartName="/ppt/theme/themeOverride2.xml"/>
  <Override ContentType="application/vnd.openxmlformats-officedocument.drawingml.chart+xml" PartName="/ppt/charts/chart3.xml"/>
  <Override ContentType="application/vnd.ms-office.chartstyle+xml" PartName="/ppt/charts/style3.xml"/>
  <Override ContentType="application/vnd.ms-office.chartcolorstyle+xml" PartName="/ppt/charts/colors3.xml"/>
  <Override ContentType="application/vnd.openxmlformats-officedocument.themeOverride+xml" PartName="/ppt/theme/themeOverride3.xml"/>
  <Override ContentType="application/vnd.openxmlformats-officedocument.drawingml.chart+xml" PartName="/ppt/charts/chart4.xml"/>
  <Override ContentType="application/vnd.ms-office.chartstyle+xml" PartName="/ppt/charts/style4.xml"/>
  <Override ContentType="application/vnd.ms-office.chartcolorstyle+xml" PartName="/ppt/charts/colors4.xml"/>
  <Override ContentType="application/vnd.openxmlformats-officedocument.themeOverride+xml" PartName="/ppt/theme/themeOverride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drawingml.chart+xml" PartName="/ppt/charts/chart5.xml"/>
  <Override ContentType="application/vnd.ms-office.chartstyle+xml" PartName="/ppt/charts/style5.xml"/>
  <Override ContentType="application/vnd.ms-office.chartcolorstyle+xml" PartName="/ppt/charts/colors5.xml"/>
  <Override ContentType="application/vnd.openxmlformats-officedocument.themeOverride+xml" PartName="/ppt/theme/themeOverride5.xml"/>
  <Override ContentType="application/vnd.openxmlformats-officedocument.presentationml.notesSlide+xml" PartName="/ppt/notesSlides/notesSlide17.xml"/>
  <Override ContentType="application/vnd.openxmlformats-officedocument.drawingml.chart+xml" PartName="/ppt/charts/chart6.xml"/>
  <Override ContentType="application/vnd.openxmlformats-officedocument.presentationml.notesSlide+xml" PartName="/ppt/notesSlides/notesSlide18.xml"/>
  <Override ContentType="application/vnd.openxmlformats-officedocument.drawingml.chart+xml" PartName="/ppt/charts/chart7.xml"/>
  <Override ContentType="application/vnd.ms-office.chartstyle+xml" PartName="/ppt/charts/style6.xml"/>
  <Override ContentType="application/vnd.ms-office.chartcolorstyle+xml" PartName="/ppt/charts/colors6.xml"/>
  <Override ContentType="application/vnd.openxmlformats-officedocument.themeOverride+xml" PartName="/ppt/theme/themeOverride6.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drawingml.chart+xml" PartName="/ppt/charts/chart8.xml"/>
  <Override ContentType="application/vnd.openxmlformats-officedocument.drawingml.chart+xml" PartName="/ppt/charts/chart9.xml"/>
  <Override ContentType="application/vnd.openxmlformats-officedocument.presentationml.notesSlide+xml" PartName="/ppt/notesSlides/notesSlide21.xml"/>
  <Override ContentType="application/vnd.openxmlformats-officedocument.drawingml.chart+xml" PartName="/ppt/charts/chart10.xml"/>
  <Override ContentType="application/vnd.ms-office.chartstyle+xml" PartName="/ppt/charts/style7.xml"/>
  <Override ContentType="application/vnd.ms-office.chartcolorstyle+xml" PartName="/ppt/charts/colors7.xml"/>
  <Override ContentType="application/vnd.openxmlformats-officedocument.themeOverride+xml" PartName="/ppt/theme/themeOverride7.xml"/>
  <Override ContentType="application/vnd.openxmlformats-officedocument.presentationml.notesSlide+xml" PartName="/ppt/notesSlides/notesSlide22.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app.xml" Type="http://schemas.openxmlformats.org/officeDocument/2006/relationships/extended-properties"/><Relationship Id="rId2" Target="docProps/core.xml" Type="http://schemas.openxmlformats.org/package/2006/relationships/metadata/core-properties"/><Relationship Id="rId1" Target="ppt/presentation.xml" Type="http://schemas.openxmlformats.org/officeDocument/2006/relationships/officeDocument"/><Relationship Id="rId4"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325" r:id="rId2"/>
    <p:sldId id="326" r:id="rId3"/>
    <p:sldId id="327" r:id="rId4"/>
    <p:sldId id="328" r:id="rId5"/>
    <p:sldId id="329" r:id="rId6"/>
    <p:sldId id="359" r:id="rId7"/>
    <p:sldId id="309" r:id="rId8"/>
    <p:sldId id="338" r:id="rId9"/>
    <p:sldId id="358" r:id="rId10"/>
    <p:sldId id="332" r:id="rId11"/>
    <p:sldId id="349" r:id="rId12"/>
    <p:sldId id="350" r:id="rId13"/>
    <p:sldId id="340" r:id="rId14"/>
    <p:sldId id="357" r:id="rId15"/>
    <p:sldId id="348" r:id="rId16"/>
    <p:sldId id="333" r:id="rId17"/>
    <p:sldId id="354" r:id="rId18"/>
    <p:sldId id="334" r:id="rId19"/>
    <p:sldId id="355" r:id="rId20"/>
    <p:sldId id="356" r:id="rId21"/>
    <p:sldId id="335" r:id="rId22"/>
    <p:sldId id="269" r:id="rId23"/>
    <p:sldId id="265" r:id="rId24"/>
    <p:sldId id="320" r:id="rId25"/>
    <p:sldId id="259" r:id="rId26"/>
    <p:sldId id="302" r:id="rId27"/>
    <p:sldId id="266" r:id="rId28"/>
    <p:sldId id="322" r:id="rId29"/>
    <p:sldId id="336" r:id="rId30"/>
    <p:sldId id="337" r:id="rId31"/>
    <p:sldId id="263" r:id="rId32"/>
    <p:sldId id="260" r:id="rId33"/>
  </p:sldIdLst>
  <p:sldSz cx="12192000" cy="6858000"/>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8F8F8"/>
    <a:srgbClr val="FCFCFC"/>
    <a:srgbClr val="FCE1D6"/>
    <a:srgbClr val="379B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06" autoAdjust="0"/>
    <p:restoredTop sz="91384" autoAdjust="0"/>
  </p:normalViewPr>
  <p:slideViewPr>
    <p:cSldViewPr snapToGrid="0">
      <p:cViewPr varScale="1">
        <p:scale>
          <a:sx n="53" d="100"/>
          <a:sy n="53" d="100"/>
        </p:scale>
        <p:origin x="60" y="4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C:\Users\dolly.li\Desktop\&#26356;&#26032;&#34920;&#21934;\&#33891;&#20107;&#26371;&#31777;&#22577;\115Q1\2026Q1&#37096;&#38272;&#25613;&#30410;&amp;&#21512;&#20341;&#29151;&#25910;.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C:\Users\dolly.li\Desktop\&#26356;&#26032;&#34920;&#21934;\&#33891;&#20107;&#26371;&#31777;&#22577;\115Q2\2026Q2&#37096;&#38272;&#25613;&#30410;&amp;&#21512;&#20341;&#29151;&#25910;.xlsx" TargetMode="Externa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C:\Users\dolly.li\Desktop\&#26356;&#26032;&#34920;&#21934;\&#33891;&#20107;&#26371;&#31777;&#22577;\115Q1\2026Q1&#37096;&#38272;&#25613;&#30410;&amp;&#21512;&#20341;&#29151;&#25910;.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oleObject" Target="file:///C:\Users\dolly.li\Desktop\&#26356;&#26032;&#34920;&#21934;\&#33891;&#20107;&#26371;&#31777;&#22577;\115Q2\2026Q2&#37096;&#38272;&#25613;&#30410;&amp;&#21512;&#20341;&#29151;&#25910;.xlsx" TargetMode="External"/></Relationships>
</file>

<file path=ppt/charts/_rels/chart5.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oleObject" Target="file:///\\TP_Files\y.t.tseng\04.BOD%20&amp;%20&#27861;&#35498;&#26371;&#31777;&#22577;\&#27861;&#35498;&#26371;\2026\1150930\&#22294;&#34920;FOR&#27861;&#35498;&#26371;-202609.xlsx" TargetMode="External"/></Relationships>
</file>

<file path=ppt/charts/_rels/chart6.xml.rels><?xml version="1.0" encoding="UTF-8" standalone="yes" ?><Relationships xmlns="http://schemas.openxmlformats.org/package/2006/relationships"><Relationship Id="rId1" Target="NULL" TargetMode="External" Type="http://schemas.openxmlformats.org/officeDocument/2006/relationships/oleObject"/></Relationships>
</file>

<file path=ppt/charts/_rels/chart7.xml.rels><?xml version="1.0" encoding="UTF-8" standalone="yes" ?><Relationships xmlns="http://schemas.openxmlformats.org/package/2006/relationships"><Relationship Id="rId3" Target="../theme/themeOverride6.xml" Type="http://schemas.openxmlformats.org/officeDocument/2006/relationships/themeOverride"/><Relationship Id="rId2" Target="colors6.xml" Type="http://schemas.microsoft.com/office/2011/relationships/chartColorStyle"/><Relationship Id="rId1" Target="style6.xml" Type="http://schemas.microsoft.com/office/2011/relationships/chartStyle"/><Relationship Id="rId4" Target="NULL" TargetMode="External" Type="http://schemas.openxmlformats.org/officeDocument/2006/relationships/oleObject"/></Relationships>
</file>

<file path=ppt/charts/_rels/chart8.xml.rels><?xml version="1.0" encoding="UTF-8" standalone="yes" ?><Relationships xmlns="http://schemas.openxmlformats.org/package/2006/relationships"><Relationship Id="rId1" Target="NULL" TargetMode="External" Type="http://schemas.openxmlformats.org/officeDocument/2006/relationships/oleObject"/></Relationships>
</file>

<file path=ppt/charts/_rels/chart9.xml.rels><?xml version="1.0" encoding="UTF-8" standalone="yes" ?><Relationships xmlns="http://schemas.openxmlformats.org/package/2006/relationships"><Relationship Id="rId1" Target="NULL" TargetMode="External" Type="http://schemas.openxmlformats.org/officeDocument/2006/relationships/oleObject"/></Relationships>
</file>

<file path=ppt/charts/_rels/chart10.xml.rels><?xml version="1.0" encoding="UTF-8" standalone="yes" ?><Relationships xmlns="http://schemas.openxmlformats.org/package/2006/relationships"><Relationship Id="rId3" Target="../theme/themeOverride7.xml" Type="http://schemas.openxmlformats.org/officeDocument/2006/relationships/themeOverride"/><Relationship Id="rId2" Target="colors7.xml" Type="http://schemas.microsoft.com/office/2011/relationships/chartColorStyle"/><Relationship Id="rId1" Target="style7.xml" Type="http://schemas.microsoft.com/office/2011/relationships/chartStyle"/><Relationship Id="rId4" Target="NULL" TargetMode="External" Type="http://schemas.openxmlformats.org/officeDocument/2006/relationships/oleObject"/></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3.9276878092667569E-2"/>
          <c:w val="1"/>
          <c:h val="0.69915007872244717"/>
        </c:manualLayout>
      </c:layout>
      <c:pie3DChart>
        <c:varyColors val="1"/>
        <c:dLbls>
          <c:dLblPos val="inEnd"/>
          <c:showLegendKey val="0"/>
          <c:showVal val="1"/>
          <c:showCatName val="0"/>
          <c:showSerName val="0"/>
          <c:showPercent val="0"/>
          <c:showBubbleSize val="0"/>
          <c:showLeaderLines val="1"/>
        </c:dLbls>
        <c:extLst xmlns:c16r2="http://schemas.microsoft.com/office/drawing/2015/06/chart">
          <c:ext xmlns:c15="http://schemas.microsoft.com/office/drawing/2012/chart" uri="{02D57815-91ED-43cb-92C2-25804820EDAC}">
            <c15:filteredPieSeries>
              <c15:ser>
                <c:idx val="0"/>
                <c:order val="0"/>
                <c:dPt>
                  <c:idx val="0"/>
                  <c:bubble3D val="0"/>
                  <c:spPr>
                    <a:solidFill>
                      <a:schemeClr val="accent1"/>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E-5BDF-41D4-ABB8-3CF4B3CD9DDC}"/>
                    </c:ext>
                  </c:extLst>
                </c:dPt>
                <c:dPt>
                  <c:idx val="1"/>
                  <c:bubble3D val="0"/>
                  <c:spPr>
                    <a:solidFill>
                      <a:schemeClr val="accent2"/>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0-5BDF-41D4-ABB8-3CF4B3CD9DDC}"/>
                    </c:ext>
                  </c:extLst>
                </c:dPt>
                <c:dPt>
                  <c:idx val="2"/>
                  <c:bubble3D val="0"/>
                  <c:spPr>
                    <a:solidFill>
                      <a:schemeClr val="accent3"/>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2-5BDF-41D4-ABB8-3CF4B3CD9DDC}"/>
                    </c:ext>
                  </c:extLst>
                </c:dPt>
                <c:dPt>
                  <c:idx val="3"/>
                  <c:bubble3D val="0"/>
                  <c:spPr>
                    <a:solidFill>
                      <a:schemeClr val="accent4"/>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4-5BDF-41D4-ABB8-3CF4B3CD9DDC}"/>
                    </c:ext>
                  </c:extLst>
                </c:dPt>
                <c:dPt>
                  <c:idx val="4"/>
                  <c:bubble3D val="0"/>
                  <c:spPr>
                    <a:solidFill>
                      <a:schemeClr val="accent5"/>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6-5BDF-41D4-ABB8-3CF4B3CD9DDC}"/>
                    </c:ext>
                  </c:extLst>
                </c:dPt>
                <c:dPt>
                  <c:idx val="5"/>
                  <c:bubble3D val="0"/>
                  <c:spPr>
                    <a:solidFill>
                      <a:schemeClr val="accent6"/>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8-5BDF-41D4-ABB8-3CF4B3CD9DDC}"/>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uri="{CE6537A1-D6FC-4f65-9D91-7224C49458BB}"/>
                  </c:extLst>
                </c:dLbls>
                <c:cat>
                  <c:strRef>
                    <c:extLst xmlns:c16r2="http://schemas.microsoft.com/office/drawing/2015/06/chart">
                      <c:ext uri="{02D57815-91ED-43cb-92C2-25804820EDAC}">
                        <c15:formulaRef>
                          <c15:sqref>合併營收2026Q1!$S$21:$S$26</c15:sqref>
                        </c15:formulaRef>
                      </c:ext>
                    </c:extLst>
                    <c:strCache>
                      <c:ptCount val="6"/>
                      <c:pt idx="0">
                        <c:v>租賃事業 (台灣大陸)</c:v>
                      </c:pt>
                      <c:pt idx="1">
                        <c:v>麵粉事業</c:v>
                      </c:pt>
                      <c:pt idx="2">
                        <c:v>股利收入(神通)</c:v>
                      </c:pt>
                      <c:pt idx="3">
                        <c:v>食品通路</c:v>
                      </c:pt>
                      <c:pt idx="4">
                        <c:v>資訊整合</c:v>
                      </c:pt>
                      <c:pt idx="5">
                        <c:v>新能源</c:v>
                      </c:pt>
                    </c:strCache>
                  </c:strRef>
                </c:cat>
                <c:val>
                  <c:numRef>
                    <c:extLst xmlns:c16r2="http://schemas.microsoft.com/office/drawing/2015/06/chart">
                      <c:ext uri="{02D57815-91ED-43cb-92C2-25804820EDAC}">
                        <c15:formulaRef>
                          <c15:sqref>合併營收2026Q1!$T$21:$T$26</c15:sqref>
                        </c15:formulaRef>
                      </c:ext>
                    </c:extLst>
                    <c:numCache>
                      <c:formatCode>#,##0_);[Red]\(#,##0\)</c:formatCode>
                      <c:ptCount val="6"/>
                      <c:pt idx="0">
                        <c:v>97</c:v>
                      </c:pt>
                      <c:pt idx="1">
                        <c:v>1272</c:v>
                      </c:pt>
                      <c:pt idx="2">
                        <c:v>7</c:v>
                      </c:pt>
                      <c:pt idx="3">
                        <c:v>2</c:v>
                      </c:pt>
                      <c:pt idx="4">
                        <c:v>1043</c:v>
                      </c:pt>
                      <c:pt idx="5">
                        <c:v>6</c:v>
                      </c:pt>
                    </c:numCache>
                  </c:numRef>
                </c:val>
                <c:extLst xmlns:c16r2="http://schemas.microsoft.com/office/drawing/2015/06/chart">
                  <c:ext xmlns:c16="http://schemas.microsoft.com/office/drawing/2014/chart" uri="{C3380CC4-5D6E-409C-BE32-E72D297353CC}">
                    <c16:uniqueId val="{00000019-5BDF-41D4-ABB8-3CF4B3CD9DDC}"/>
                  </c:ext>
                </c:extLst>
              </c15:ser>
            </c15:filteredPieSeries>
          </c:ext>
        </c:extLst>
      </c:pie3DChart>
      <c:spPr>
        <a:noFill/>
        <a:ln>
          <a:noFill/>
        </a:ln>
        <a:effectLst/>
      </c:spPr>
    </c:plotArea>
    <c:legend>
      <c:legendPos val="b"/>
      <c:layout>
        <c:manualLayout>
          <c:xMode val="edge"/>
          <c:yMode val="edge"/>
          <c:x val="0"/>
          <c:y val="0.77921474358974363"/>
          <c:w val="1"/>
          <c:h val="0.2197160368870894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0.10661716474693674"/>
          <c:w val="0.92484524711996907"/>
          <c:h val="0.64869011402381005"/>
        </c:manualLayout>
      </c:layout>
      <c:pie3DChart>
        <c:varyColors val="1"/>
        <c:ser>
          <c:idx val="1"/>
          <c:order val="1"/>
          <c:dPt>
            <c:idx val="0"/>
            <c:bubble3D val="0"/>
            <c:spPr>
              <a:solidFill>
                <a:schemeClr val="accent1"/>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1-401E-4652-A613-A316C230D358}"/>
              </c:ext>
            </c:extLst>
          </c:dPt>
          <c:dPt>
            <c:idx val="1"/>
            <c:bubble3D val="0"/>
            <c:spPr>
              <a:solidFill>
                <a:schemeClr val="accent2"/>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3-401E-4652-A613-A316C230D358}"/>
              </c:ext>
            </c:extLst>
          </c:dPt>
          <c:dPt>
            <c:idx val="2"/>
            <c:bubble3D val="0"/>
            <c:spPr>
              <a:solidFill>
                <a:schemeClr val="accent3"/>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5-401E-4652-A613-A316C230D358}"/>
              </c:ext>
            </c:extLst>
          </c:dPt>
          <c:dPt>
            <c:idx val="3"/>
            <c:bubble3D val="0"/>
            <c:spPr>
              <a:solidFill>
                <a:schemeClr val="accent4"/>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7-401E-4652-A613-A316C230D358}"/>
              </c:ext>
            </c:extLst>
          </c:dPt>
          <c:dPt>
            <c:idx val="4"/>
            <c:bubble3D val="0"/>
            <c:spPr>
              <a:solidFill>
                <a:schemeClr val="accent5"/>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9-401E-4652-A613-A316C230D358}"/>
              </c:ext>
            </c:extLst>
          </c:dPt>
          <c:dPt>
            <c:idx val="5"/>
            <c:bubble3D val="0"/>
            <c:spPr>
              <a:solidFill>
                <a:schemeClr val="accent6"/>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B-401E-4652-A613-A316C230D358}"/>
              </c:ext>
            </c:extLst>
          </c:dPt>
          <c:dLbls>
            <c:dLbl>
              <c:idx val="0"/>
              <c:layout>
                <c:manualLayout>
                  <c:x val="-2.0877056698836598E-2"/>
                  <c:y val="8.043439302376898E-2"/>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401E-4652-A613-A316C230D358}"/>
                </c:ext>
                <c:ext xmlns:c15="http://schemas.microsoft.com/office/drawing/2012/chart" uri="{CE6537A1-D6FC-4f65-9D91-7224C49458BB}"/>
              </c:extLst>
            </c:dLbl>
            <c:dLbl>
              <c:idx val="1"/>
              <c:layout>
                <c:manualLayout>
                  <c:x val="-0.18120059863157387"/>
                  <c:y val="3.1908966670770998E-2"/>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401E-4652-A613-A316C230D358}"/>
                </c:ext>
                <c:ext xmlns:c15="http://schemas.microsoft.com/office/drawing/2012/chart" uri="{CE6537A1-D6FC-4f65-9D91-7224C49458BB}"/>
              </c:extLst>
            </c:dLbl>
            <c:dLbl>
              <c:idx val="2"/>
              <c:layout>
                <c:manualLayout>
                  <c:x val="-8.6712339388406862E-3"/>
                  <c:y val="-0.3326444553080628"/>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401E-4652-A613-A316C230D358}"/>
                </c:ext>
                <c:ext xmlns:c15="http://schemas.microsoft.com/office/drawing/2012/chart" uri="{CE6537A1-D6FC-4f65-9D91-7224C49458BB}"/>
              </c:extLst>
            </c:dLbl>
            <c:dLbl>
              <c:idx val="3"/>
              <c:delete val="1"/>
              <c:extLst xmlns:c16r2="http://schemas.microsoft.com/office/drawing/2015/06/chart">
                <c:ext xmlns:c16="http://schemas.microsoft.com/office/drawing/2014/chart" uri="{C3380CC4-5D6E-409C-BE32-E72D297353CC}">
                  <c16:uniqueId val="{00000007-401E-4652-A613-A316C230D358}"/>
                </c:ext>
                <c:ext xmlns:c15="http://schemas.microsoft.com/office/drawing/2012/chart" uri="{CE6537A1-D6FC-4f65-9D91-7224C49458BB}"/>
              </c:extLst>
            </c:dLbl>
            <c:dLbl>
              <c:idx val="4"/>
              <c:layout>
                <c:manualLayout>
                  <c:x val="0.19172280666336045"/>
                  <c:y val="3.3172939187171069E-2"/>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9-401E-4652-A613-A316C230D358}"/>
                </c:ext>
                <c:ext xmlns:c15="http://schemas.microsoft.com/office/drawing/2012/chart" uri="{CE6537A1-D6FC-4f65-9D91-7224C49458BB}"/>
              </c:extLst>
            </c:dLbl>
            <c:dLbl>
              <c:idx val="5"/>
              <c:delete val="1"/>
              <c:extLst xmlns:c16r2="http://schemas.microsoft.com/office/drawing/2015/06/chart">
                <c:ext xmlns:c16="http://schemas.microsoft.com/office/drawing/2014/chart" uri="{C3380CC4-5D6E-409C-BE32-E72D297353CC}">
                  <c16:uniqueId val="{0000000B-401E-4652-A613-A316C230D358}"/>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bg1"/>
                    </a:solidFill>
                    <a:latin typeface="+mn-lt"/>
                    <a:ea typeface="微軟正黑體" panose="020B0604030504040204" pitchFamily="34" charset="-120"/>
                    <a:cs typeface="+mn-cs"/>
                  </a:defRPr>
                </a:pPr>
                <a:endParaRPr lang="zh-TW"/>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合併營收2026Q2!$S$21:$S$26</c:f>
              <c:strCache>
                <c:ptCount val="6"/>
                <c:pt idx="0">
                  <c:v>租賃事業 (台灣大陸)</c:v>
                </c:pt>
                <c:pt idx="1">
                  <c:v>麵粉事業</c:v>
                </c:pt>
                <c:pt idx="2">
                  <c:v>股利收入(神通)</c:v>
                </c:pt>
                <c:pt idx="3">
                  <c:v>食品通路</c:v>
                </c:pt>
                <c:pt idx="4">
                  <c:v>資訊整合</c:v>
                </c:pt>
                <c:pt idx="5">
                  <c:v>新能源</c:v>
                </c:pt>
              </c:strCache>
            </c:strRef>
          </c:cat>
          <c:val>
            <c:numRef>
              <c:f>合併營收2026Q2!$U$21:$U$26</c:f>
              <c:numCache>
                <c:formatCode>0%</c:formatCode>
                <c:ptCount val="6"/>
                <c:pt idx="0">
                  <c:v>2.9398254478640331E-2</c:v>
                </c:pt>
                <c:pt idx="1">
                  <c:v>0.38340223549226765</c:v>
                </c:pt>
                <c:pt idx="2">
                  <c:v>0.16613076098606644</c:v>
                </c:pt>
                <c:pt idx="3">
                  <c:v>6.124636349716736E-4</c:v>
                </c:pt>
                <c:pt idx="4">
                  <c:v>0.41953758995559637</c:v>
                </c:pt>
                <c:pt idx="5">
                  <c:v>9.1869545245751034E-4</c:v>
                </c:pt>
              </c:numCache>
            </c:numRef>
          </c:val>
          <c:extLst xmlns:c16r2="http://schemas.microsoft.com/office/drawing/2015/06/chart">
            <c:ext xmlns:c16="http://schemas.microsoft.com/office/drawing/2014/chart" uri="{C3380CC4-5D6E-409C-BE32-E72D297353CC}">
              <c16:uniqueId val="{0000000C-401E-4652-A613-A316C230D358}"/>
            </c:ext>
          </c:extLst>
        </c:ser>
        <c:dLbls>
          <c:dLblPos val="bestFit"/>
          <c:showLegendKey val="0"/>
          <c:showVal val="1"/>
          <c:showCatName val="0"/>
          <c:showSerName val="0"/>
          <c:showPercent val="0"/>
          <c:showBubbleSize val="0"/>
          <c:showLeaderLines val="1"/>
        </c:dLbls>
        <c:extLst xmlns:c16r2="http://schemas.microsoft.com/office/drawing/2015/06/chart">
          <c:ext xmlns:c15="http://schemas.microsoft.com/office/drawing/2012/chart" uri="{02D57815-91ED-43cb-92C2-25804820EDAC}">
            <c15:filteredPieSeries>
              <c15:ser>
                <c:idx val="0"/>
                <c:order val="0"/>
                <c:dPt>
                  <c:idx val="0"/>
                  <c:bubble3D val="0"/>
                  <c:spPr>
                    <a:solidFill>
                      <a:schemeClr val="accent1"/>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E-401E-4652-A613-A316C230D358}"/>
                    </c:ext>
                  </c:extLst>
                </c:dPt>
                <c:dPt>
                  <c:idx val="1"/>
                  <c:bubble3D val="0"/>
                  <c:spPr>
                    <a:solidFill>
                      <a:schemeClr val="accent2"/>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0-401E-4652-A613-A316C230D358}"/>
                    </c:ext>
                  </c:extLst>
                </c:dPt>
                <c:dPt>
                  <c:idx val="2"/>
                  <c:bubble3D val="0"/>
                  <c:spPr>
                    <a:solidFill>
                      <a:schemeClr val="accent3"/>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2-401E-4652-A613-A316C230D358}"/>
                    </c:ext>
                  </c:extLst>
                </c:dPt>
                <c:dPt>
                  <c:idx val="3"/>
                  <c:bubble3D val="0"/>
                  <c:spPr>
                    <a:solidFill>
                      <a:schemeClr val="accent4"/>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4-401E-4652-A613-A316C230D358}"/>
                    </c:ext>
                  </c:extLst>
                </c:dPt>
                <c:dPt>
                  <c:idx val="4"/>
                  <c:bubble3D val="0"/>
                  <c:spPr>
                    <a:solidFill>
                      <a:schemeClr val="accent5"/>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6-401E-4652-A613-A316C230D358}"/>
                    </c:ext>
                  </c:extLst>
                </c:dPt>
                <c:dPt>
                  <c:idx val="5"/>
                  <c:bubble3D val="0"/>
                  <c:spPr>
                    <a:solidFill>
                      <a:schemeClr val="accent6"/>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8-401E-4652-A613-A316C230D358}"/>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bestFit"/>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uri="{CE6537A1-D6FC-4f65-9D91-7224C49458BB}"/>
                  </c:extLst>
                </c:dLbls>
                <c:cat>
                  <c:strRef>
                    <c:extLst xmlns:c16r2="http://schemas.microsoft.com/office/drawing/2015/06/chart">
                      <c:ext uri="{02D57815-91ED-43cb-92C2-25804820EDAC}">
                        <c15:formulaRef>
                          <c15:sqref>合併營收2026Q2!$S$21:$S$26</c15:sqref>
                        </c15:formulaRef>
                      </c:ext>
                    </c:extLst>
                    <c:strCache>
                      <c:ptCount val="6"/>
                      <c:pt idx="0">
                        <c:v>租賃事業 (台灣大陸)</c:v>
                      </c:pt>
                      <c:pt idx="1">
                        <c:v>麵粉事業</c:v>
                      </c:pt>
                      <c:pt idx="2">
                        <c:v>股利收入(神通)</c:v>
                      </c:pt>
                      <c:pt idx="3">
                        <c:v>食品通路</c:v>
                      </c:pt>
                      <c:pt idx="4">
                        <c:v>資訊整合</c:v>
                      </c:pt>
                      <c:pt idx="5">
                        <c:v>新能源</c:v>
                      </c:pt>
                    </c:strCache>
                  </c:strRef>
                </c:cat>
                <c:val>
                  <c:numRef>
                    <c:extLst xmlns:c16r2="http://schemas.microsoft.com/office/drawing/2015/06/chart">
                      <c:ext uri="{02D57815-91ED-43cb-92C2-25804820EDAC}">
                        <c15:formulaRef>
                          <c15:sqref>合併營收2026Q2!$T$21:$T$26</c15:sqref>
                        </c15:formulaRef>
                      </c:ext>
                    </c:extLst>
                    <c:numCache>
                      <c:formatCode>#,##0_);[Red]\(#,##0\)</c:formatCode>
                      <c:ptCount val="6"/>
                      <c:pt idx="0">
                        <c:v>192</c:v>
                      </c:pt>
                      <c:pt idx="1">
                        <c:v>2504</c:v>
                      </c:pt>
                      <c:pt idx="2">
                        <c:v>1085</c:v>
                      </c:pt>
                      <c:pt idx="3">
                        <c:v>4</c:v>
                      </c:pt>
                      <c:pt idx="4">
                        <c:v>2740</c:v>
                      </c:pt>
                      <c:pt idx="5">
                        <c:v>6</c:v>
                      </c:pt>
                    </c:numCache>
                  </c:numRef>
                </c:val>
                <c:extLst xmlns:c16r2="http://schemas.microsoft.com/office/drawing/2015/06/chart">
                  <c:ext xmlns:c16="http://schemas.microsoft.com/office/drawing/2014/chart" uri="{C3380CC4-5D6E-409C-BE32-E72D297353CC}">
                    <c16:uniqueId val="{00000019-401E-4652-A613-A316C230D358}"/>
                  </c:ext>
                </c:extLst>
              </c15:ser>
            </c15:filteredPieSeries>
          </c:ext>
        </c:extLst>
      </c:pie3DChart>
      <c:spPr>
        <a:noFill/>
        <a:ln>
          <a:noFill/>
        </a:ln>
        <a:effectLst/>
      </c:spPr>
    </c:plotArea>
    <c:legend>
      <c:legendPos val="b"/>
      <c:layout>
        <c:manualLayout>
          <c:xMode val="edge"/>
          <c:yMode val="edge"/>
          <c:x val="0"/>
          <c:y val="0.7586988531671256"/>
          <c:w val="0.99035900442106806"/>
          <c:h val="0.24001012145748987"/>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3.9267604366939879E-2"/>
          <c:w val="1"/>
          <c:h val="0.69922111287257849"/>
        </c:manualLayout>
      </c:layout>
      <c:pie3DChart>
        <c:varyColors val="1"/>
        <c:dLbls>
          <c:dLblPos val="inEnd"/>
          <c:showLegendKey val="0"/>
          <c:showVal val="1"/>
          <c:showCatName val="0"/>
          <c:showSerName val="0"/>
          <c:showPercent val="0"/>
          <c:showBubbleSize val="0"/>
          <c:showLeaderLines val="1"/>
        </c:dLbls>
        <c:extLst xmlns:c16r2="http://schemas.microsoft.com/office/drawing/2015/06/chart">
          <c:ext xmlns:c15="http://schemas.microsoft.com/office/drawing/2012/chart" uri="{02D57815-91ED-43cb-92C2-25804820EDAC}">
            <c15:filteredPieSeries>
              <c15:ser>
                <c:idx val="0"/>
                <c:order val="0"/>
                <c:dPt>
                  <c:idx val="0"/>
                  <c:bubble3D val="0"/>
                  <c:spPr>
                    <a:solidFill>
                      <a:schemeClr val="accent1"/>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E-0F7C-44B8-8053-9F18E86CCC27}"/>
                    </c:ext>
                  </c:extLst>
                </c:dPt>
                <c:dPt>
                  <c:idx val="1"/>
                  <c:bubble3D val="0"/>
                  <c:spPr>
                    <a:solidFill>
                      <a:schemeClr val="accent2"/>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0-0F7C-44B8-8053-9F18E86CCC27}"/>
                    </c:ext>
                  </c:extLst>
                </c:dPt>
                <c:dPt>
                  <c:idx val="2"/>
                  <c:bubble3D val="0"/>
                  <c:spPr>
                    <a:solidFill>
                      <a:schemeClr val="accent3"/>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2-0F7C-44B8-8053-9F18E86CCC27}"/>
                    </c:ext>
                  </c:extLst>
                </c:dPt>
                <c:dPt>
                  <c:idx val="3"/>
                  <c:bubble3D val="0"/>
                  <c:spPr>
                    <a:solidFill>
                      <a:schemeClr val="accent4"/>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4-0F7C-44B8-8053-9F18E86CCC27}"/>
                    </c:ext>
                  </c:extLst>
                </c:dPt>
                <c:dPt>
                  <c:idx val="4"/>
                  <c:bubble3D val="0"/>
                  <c:spPr>
                    <a:solidFill>
                      <a:schemeClr val="accent5"/>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6-0F7C-44B8-8053-9F18E86CCC27}"/>
                    </c:ext>
                  </c:extLst>
                </c:dPt>
                <c:dPt>
                  <c:idx val="5"/>
                  <c:bubble3D val="0"/>
                  <c:spPr>
                    <a:solidFill>
                      <a:schemeClr val="accent6"/>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8-0F7C-44B8-8053-9F18E86CCC27}"/>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uri="{CE6537A1-D6FC-4f65-9D91-7224C49458BB}"/>
                  </c:extLst>
                </c:dLbls>
                <c:cat>
                  <c:strRef>
                    <c:extLst xmlns:c16r2="http://schemas.microsoft.com/office/drawing/2015/06/chart">
                      <c:ext uri="{02D57815-91ED-43cb-92C2-25804820EDAC}">
                        <c15:formulaRef>
                          <c15:sqref>合併營收2026Q1!$S$4:$S$9</c15:sqref>
                        </c15:formulaRef>
                      </c:ext>
                    </c:extLst>
                    <c:strCache>
                      <c:ptCount val="6"/>
                      <c:pt idx="0">
                        <c:v>租賃事業 (台灣大陸)</c:v>
                      </c:pt>
                      <c:pt idx="1">
                        <c:v>麵粉事業</c:v>
                      </c:pt>
                      <c:pt idx="2">
                        <c:v>股利收入(神通)</c:v>
                      </c:pt>
                      <c:pt idx="3">
                        <c:v>食品通路</c:v>
                      </c:pt>
                      <c:pt idx="4">
                        <c:v>資訊整合</c:v>
                      </c:pt>
                      <c:pt idx="5">
                        <c:v>新能源</c:v>
                      </c:pt>
                    </c:strCache>
                  </c:strRef>
                </c:cat>
                <c:val>
                  <c:numRef>
                    <c:extLst xmlns:c16r2="http://schemas.microsoft.com/office/drawing/2015/06/chart">
                      <c:ext uri="{02D57815-91ED-43cb-92C2-25804820EDAC}">
                        <c15:formulaRef>
                          <c15:sqref>合併營收2026Q1!$T$4:$T$9</c15:sqref>
                        </c15:formulaRef>
                      </c:ext>
                    </c:extLst>
                    <c:numCache>
                      <c:formatCode>#,##0_);[Red]\(#,##0\)</c:formatCode>
                      <c:ptCount val="6"/>
                      <c:pt idx="0">
                        <c:v>99</c:v>
                      </c:pt>
                      <c:pt idx="1">
                        <c:v>1223</c:v>
                      </c:pt>
                      <c:pt idx="2">
                        <c:v>41</c:v>
                      </c:pt>
                      <c:pt idx="3">
                        <c:v>2</c:v>
                      </c:pt>
                      <c:pt idx="4">
                        <c:v>1155</c:v>
                      </c:pt>
                      <c:pt idx="5">
                        <c:v>3</c:v>
                      </c:pt>
                    </c:numCache>
                  </c:numRef>
                </c:val>
                <c:extLst xmlns:c16r2="http://schemas.microsoft.com/office/drawing/2015/06/chart">
                  <c:ext xmlns:c16="http://schemas.microsoft.com/office/drawing/2014/chart" uri="{C3380CC4-5D6E-409C-BE32-E72D297353CC}">
                    <c16:uniqueId val="{00000019-0F7C-44B8-8053-9F18E86CCC27}"/>
                  </c:ext>
                </c:extLst>
              </c15:ser>
            </c15:filteredPieSeries>
          </c:ext>
        </c:extLst>
      </c:pie3DChart>
      <c:spPr>
        <a:noFill/>
        <a:ln>
          <a:noFill/>
        </a:ln>
        <a:effectLst/>
      </c:spPr>
    </c:plotArea>
    <c:legend>
      <c:legendPos val="b"/>
      <c:layout>
        <c:manualLayout>
          <c:xMode val="edge"/>
          <c:yMode val="edge"/>
          <c:x val="0"/>
          <c:y val="0.7792216188259633"/>
          <c:w val="1"/>
          <c:h val="0.2197032302312768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3.416459017532035E-2"/>
          <c:w val="1"/>
          <c:h val="0.71518690623128389"/>
        </c:manualLayout>
      </c:layout>
      <c:pie3DChart>
        <c:varyColors val="1"/>
        <c:ser>
          <c:idx val="1"/>
          <c:order val="1"/>
          <c:dPt>
            <c:idx val="0"/>
            <c:bubble3D val="0"/>
            <c:spPr>
              <a:solidFill>
                <a:schemeClr val="accent1"/>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1-C6F2-48B7-83D8-B719345E83FE}"/>
              </c:ext>
            </c:extLst>
          </c:dPt>
          <c:dPt>
            <c:idx val="1"/>
            <c:bubble3D val="0"/>
            <c:spPr>
              <a:solidFill>
                <a:schemeClr val="accent2"/>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3-C6F2-48B7-83D8-B719345E83FE}"/>
              </c:ext>
            </c:extLst>
          </c:dPt>
          <c:dPt>
            <c:idx val="2"/>
            <c:bubble3D val="0"/>
            <c:spPr>
              <a:solidFill>
                <a:schemeClr val="accent3"/>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5-C6F2-48B7-83D8-B719345E83FE}"/>
              </c:ext>
            </c:extLst>
          </c:dPt>
          <c:dPt>
            <c:idx val="3"/>
            <c:bubble3D val="0"/>
            <c:spPr>
              <a:solidFill>
                <a:schemeClr val="accent4"/>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7-C6F2-48B7-83D8-B719345E83FE}"/>
              </c:ext>
            </c:extLst>
          </c:dPt>
          <c:dPt>
            <c:idx val="4"/>
            <c:bubble3D val="0"/>
            <c:spPr>
              <a:solidFill>
                <a:schemeClr val="accent5"/>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9-C6F2-48B7-83D8-B719345E83FE}"/>
              </c:ext>
            </c:extLst>
          </c:dPt>
          <c:dPt>
            <c:idx val="5"/>
            <c:bubble3D val="0"/>
            <c:spPr>
              <a:solidFill>
                <a:schemeClr val="accent6"/>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B-C6F2-48B7-83D8-B719345E83FE}"/>
              </c:ext>
            </c:extLst>
          </c:dPt>
          <c:dLbls>
            <c:dLbl>
              <c:idx val="0"/>
              <c:layout>
                <c:manualLayout>
                  <c:x val="-4.1419772476592717E-2"/>
                  <c:y val="7.1195631041012411E-2"/>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1-C6F2-48B7-83D8-B719345E83FE}"/>
                </c:ext>
                <c:ext xmlns:c15="http://schemas.microsoft.com/office/drawing/2012/chart" uri="{CE6537A1-D6FC-4f65-9D91-7224C49458BB}"/>
              </c:extLst>
            </c:dLbl>
            <c:dLbl>
              <c:idx val="1"/>
              <c:layout>
                <c:manualLayout>
                  <c:x val="-0.25486158457286123"/>
                  <c:y val="-0.16470927450013198"/>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C6F2-48B7-83D8-B719345E83FE}"/>
                </c:ext>
                <c:ext xmlns:c15="http://schemas.microsoft.com/office/drawing/2012/chart" uri="{CE6537A1-D6FC-4f65-9D91-7224C49458BB}"/>
              </c:extLst>
            </c:dLbl>
            <c:dLbl>
              <c:idx val="2"/>
              <c:layout>
                <c:manualLayout>
                  <c:x val="6.3634300325662294E-2"/>
                  <c:y val="-0.24828168252169408"/>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5-C6F2-48B7-83D8-B719345E83FE}"/>
                </c:ext>
                <c:ext xmlns:c15="http://schemas.microsoft.com/office/drawing/2012/chart" uri="{CE6537A1-D6FC-4f65-9D91-7224C49458BB}"/>
              </c:extLst>
            </c:dLbl>
            <c:dLbl>
              <c:idx val="3"/>
              <c:delete val="1"/>
              <c:extLst xmlns:c16r2="http://schemas.microsoft.com/office/drawing/2015/06/chart">
                <c:ext xmlns:c16="http://schemas.microsoft.com/office/drawing/2014/chart" uri="{C3380CC4-5D6E-409C-BE32-E72D297353CC}">
                  <c16:uniqueId val="{00000007-C6F2-48B7-83D8-B719345E83FE}"/>
                </c:ext>
                <c:ext xmlns:c15="http://schemas.microsoft.com/office/drawing/2012/chart" uri="{CE6537A1-D6FC-4f65-9D91-7224C49458BB}"/>
              </c:extLst>
            </c:dLbl>
            <c:dLbl>
              <c:idx val="4"/>
              <c:layout>
                <c:manualLayout>
                  <c:x val="0.21335614278694159"/>
                  <c:y val="5.5865585692838081E-2"/>
                </c:manualLayout>
              </c:layout>
              <c:dLblPos val="bestFi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9-C6F2-48B7-83D8-B719345E83FE}"/>
                </c:ext>
                <c:ext xmlns:c15="http://schemas.microsoft.com/office/drawing/2012/chart" uri="{CE6537A1-D6FC-4f65-9D91-7224C49458BB}"/>
              </c:extLst>
            </c:dLbl>
            <c:dLbl>
              <c:idx val="5"/>
              <c:delete val="1"/>
              <c:extLst xmlns:c16r2="http://schemas.microsoft.com/office/drawing/2015/06/chart">
                <c:ext xmlns:c16="http://schemas.microsoft.com/office/drawing/2014/chart" uri="{C3380CC4-5D6E-409C-BE32-E72D297353CC}">
                  <c16:uniqueId val="{0000000B-C6F2-48B7-83D8-B719345E83FE}"/>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2400" b="0" i="0" u="none" strike="noStrike" kern="1200" baseline="0">
                    <a:solidFill>
                      <a:schemeClr val="bg1"/>
                    </a:solidFill>
                    <a:latin typeface="+mn-lt"/>
                    <a:ea typeface="+mn-ea"/>
                    <a:cs typeface="+mn-cs"/>
                  </a:defRPr>
                </a:pPr>
                <a:endParaRPr lang="zh-TW"/>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合併營收2026Q2!$S$4:$S$9</c:f>
              <c:strCache>
                <c:ptCount val="6"/>
                <c:pt idx="0">
                  <c:v>租賃事業 (台灣大陸)</c:v>
                </c:pt>
                <c:pt idx="1">
                  <c:v>麵粉事業</c:v>
                </c:pt>
                <c:pt idx="2">
                  <c:v>股利收入(神通)</c:v>
                </c:pt>
                <c:pt idx="3">
                  <c:v>食品通路</c:v>
                </c:pt>
                <c:pt idx="4">
                  <c:v>資訊整合</c:v>
                </c:pt>
                <c:pt idx="5">
                  <c:v>新能源</c:v>
                </c:pt>
              </c:strCache>
            </c:strRef>
          </c:cat>
          <c:val>
            <c:numRef>
              <c:f>合併營收2026Q2!$U$4:$U$9</c:f>
              <c:numCache>
                <c:formatCode>0%</c:formatCode>
                <c:ptCount val="6"/>
                <c:pt idx="0">
                  <c:v>4.6881207787048074E-2</c:v>
                </c:pt>
                <c:pt idx="1">
                  <c:v>0.47715534366309098</c:v>
                </c:pt>
                <c:pt idx="2">
                  <c:v>1.1720301946762018E-2</c:v>
                </c:pt>
                <c:pt idx="3">
                  <c:v>7.9459674215335717E-4</c:v>
                </c:pt>
                <c:pt idx="4">
                  <c:v>0.46205800556217719</c:v>
                </c:pt>
                <c:pt idx="5">
                  <c:v>1.3905442987683751E-3</c:v>
                </c:pt>
              </c:numCache>
            </c:numRef>
          </c:val>
          <c:extLst xmlns:c16r2="http://schemas.microsoft.com/office/drawing/2015/06/chart">
            <c:ext xmlns:c16="http://schemas.microsoft.com/office/drawing/2014/chart" uri="{C3380CC4-5D6E-409C-BE32-E72D297353CC}">
              <c16:uniqueId val="{0000000C-C6F2-48B7-83D8-B719345E83FE}"/>
            </c:ext>
          </c:extLst>
        </c:ser>
        <c:dLbls>
          <c:dLblPos val="inEnd"/>
          <c:showLegendKey val="0"/>
          <c:showVal val="1"/>
          <c:showCatName val="0"/>
          <c:showSerName val="0"/>
          <c:showPercent val="0"/>
          <c:showBubbleSize val="0"/>
          <c:showLeaderLines val="1"/>
        </c:dLbls>
        <c:extLst xmlns:c16r2="http://schemas.microsoft.com/office/drawing/2015/06/chart">
          <c:ext xmlns:c15="http://schemas.microsoft.com/office/drawing/2012/chart" uri="{02D57815-91ED-43cb-92C2-25804820EDAC}">
            <c15:filteredPieSeries>
              <c15:ser>
                <c:idx val="0"/>
                <c:order val="0"/>
                <c:dPt>
                  <c:idx val="0"/>
                  <c:bubble3D val="0"/>
                  <c:spPr>
                    <a:solidFill>
                      <a:schemeClr val="accent1"/>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0E-C6F2-48B7-83D8-B719345E83FE}"/>
                    </c:ext>
                  </c:extLst>
                </c:dPt>
                <c:dPt>
                  <c:idx val="1"/>
                  <c:bubble3D val="0"/>
                  <c:spPr>
                    <a:solidFill>
                      <a:schemeClr val="accent2"/>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0-C6F2-48B7-83D8-B719345E83FE}"/>
                    </c:ext>
                  </c:extLst>
                </c:dPt>
                <c:dPt>
                  <c:idx val="2"/>
                  <c:bubble3D val="0"/>
                  <c:spPr>
                    <a:solidFill>
                      <a:schemeClr val="accent3"/>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2-C6F2-48B7-83D8-B719345E83FE}"/>
                    </c:ext>
                  </c:extLst>
                </c:dPt>
                <c:dPt>
                  <c:idx val="3"/>
                  <c:bubble3D val="0"/>
                  <c:spPr>
                    <a:solidFill>
                      <a:schemeClr val="accent4"/>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4-C6F2-48B7-83D8-B719345E83FE}"/>
                    </c:ext>
                  </c:extLst>
                </c:dPt>
                <c:dPt>
                  <c:idx val="4"/>
                  <c:bubble3D val="0"/>
                  <c:spPr>
                    <a:solidFill>
                      <a:schemeClr val="accent5"/>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6-C6F2-48B7-83D8-B719345E83FE}"/>
                    </c:ext>
                  </c:extLst>
                </c:dPt>
                <c:dPt>
                  <c:idx val="5"/>
                  <c:bubble3D val="0"/>
                  <c:spPr>
                    <a:solidFill>
                      <a:schemeClr val="accent6"/>
                    </a:solidFill>
                    <a:ln w="25400">
                      <a:solidFill>
                        <a:schemeClr val="lt1"/>
                      </a:solidFill>
                    </a:ln>
                    <a:effectLst/>
                    <a:sp3d contourW="25400">
                      <a:contourClr>
                        <a:schemeClr val="lt1"/>
                      </a:contourClr>
                    </a:sp3d>
                  </c:spPr>
                  <c:extLst xmlns:c16r2="http://schemas.microsoft.com/office/drawing/2015/06/chart">
                    <c:ext xmlns:c16="http://schemas.microsoft.com/office/drawing/2014/chart" uri="{C3380CC4-5D6E-409C-BE32-E72D297353CC}">
                      <c16:uniqueId val="{00000018-C6F2-48B7-83D8-B719345E83FE}"/>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inEnd"/>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uri="{CE6537A1-D6FC-4f65-9D91-7224C49458BB}"/>
                  </c:extLst>
                </c:dLbls>
                <c:cat>
                  <c:strRef>
                    <c:extLst xmlns:c16r2="http://schemas.microsoft.com/office/drawing/2015/06/chart">
                      <c:ext uri="{02D57815-91ED-43cb-92C2-25804820EDAC}">
                        <c15:formulaRef>
                          <c15:sqref>合併營收2026Q2!$S$4:$S$9</c15:sqref>
                        </c15:formulaRef>
                      </c:ext>
                    </c:extLst>
                    <c:strCache>
                      <c:ptCount val="6"/>
                      <c:pt idx="0">
                        <c:v>租賃事業 (台灣大陸)</c:v>
                      </c:pt>
                      <c:pt idx="1">
                        <c:v>麵粉事業</c:v>
                      </c:pt>
                      <c:pt idx="2">
                        <c:v>股利收入(神通)</c:v>
                      </c:pt>
                      <c:pt idx="3">
                        <c:v>食品通路</c:v>
                      </c:pt>
                      <c:pt idx="4">
                        <c:v>資訊整合</c:v>
                      </c:pt>
                      <c:pt idx="5">
                        <c:v>新能源</c:v>
                      </c:pt>
                    </c:strCache>
                  </c:strRef>
                </c:cat>
                <c:val>
                  <c:numRef>
                    <c:extLst xmlns:c16r2="http://schemas.microsoft.com/office/drawing/2015/06/chart">
                      <c:ext uri="{02D57815-91ED-43cb-92C2-25804820EDAC}">
                        <c15:formulaRef>
                          <c15:sqref>合併營收2026Q2!$T$4:$T$9</c15:sqref>
                        </c15:formulaRef>
                      </c:ext>
                    </c:extLst>
                    <c:numCache>
                      <c:formatCode>#,##0_);[Red]\(#,##0\)</c:formatCode>
                      <c:ptCount val="6"/>
                      <c:pt idx="0">
                        <c:v>236</c:v>
                      </c:pt>
                      <c:pt idx="1">
                        <c:v>2402</c:v>
                      </c:pt>
                      <c:pt idx="2">
                        <c:v>59</c:v>
                      </c:pt>
                      <c:pt idx="3">
                        <c:v>4</c:v>
                      </c:pt>
                      <c:pt idx="4">
                        <c:v>2326</c:v>
                      </c:pt>
                      <c:pt idx="5">
                        <c:v>7</c:v>
                      </c:pt>
                    </c:numCache>
                  </c:numRef>
                </c:val>
                <c:extLst xmlns:c16r2="http://schemas.microsoft.com/office/drawing/2015/06/chart">
                  <c:ext xmlns:c16="http://schemas.microsoft.com/office/drawing/2014/chart" uri="{C3380CC4-5D6E-409C-BE32-E72D297353CC}">
                    <c16:uniqueId val="{00000019-C6F2-48B7-83D8-B719345E83FE}"/>
                  </c:ext>
                </c:extLst>
              </c15:ser>
            </c15:filteredPieSeries>
          </c:ext>
        </c:extLst>
      </c:pie3DChart>
      <c:spPr>
        <a:noFill/>
        <a:ln>
          <a:noFill/>
        </a:ln>
        <a:effectLst/>
      </c:spPr>
    </c:plotArea>
    <c:legend>
      <c:legendPos val="b"/>
      <c:layout>
        <c:manualLayout>
          <c:xMode val="edge"/>
          <c:yMode val="edge"/>
          <c:x val="7.3175868383384436E-4"/>
          <c:y val="0.73834536378048388"/>
          <c:w val="0.99370279740208078"/>
          <c:h val="0.2604380994142184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2"/>
          <c:order val="1"/>
          <c:tx>
            <c:strRef>
              <c:f>轉投資收益!$C$6</c:f>
              <c:strCache>
                <c:ptCount val="1"/>
                <c:pt idx="0">
                  <c:v>    聯華林德氣體</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rgbClr val="FFC000"/>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轉投資收益!$K$4:$Q$4</c:f>
              <c:strCache>
                <c:ptCount val="5"/>
                <c:pt idx="0">
                  <c:v>2025Q2</c:v>
                </c:pt>
                <c:pt idx="1">
                  <c:v>2025Q3</c:v>
                </c:pt>
                <c:pt idx="2">
                  <c:v>2025Q4</c:v>
                </c:pt>
                <c:pt idx="3">
                  <c:v>2026Q1</c:v>
                </c:pt>
                <c:pt idx="4">
                  <c:v>2026Q2</c:v>
                </c:pt>
              </c:strCache>
              <c:extLst xmlns:c16r2="http://schemas.microsoft.com/office/drawing/2015/06/chart"/>
            </c:strRef>
          </c:cat>
          <c:val>
            <c:numRef>
              <c:f>轉投資收益!$K$6:$Q$6</c:f>
              <c:numCache>
                <c:formatCode>_-* #,##0_-;\-* #,##0_-;_-* "-"??_-;_-@_-</c:formatCode>
                <c:ptCount val="5"/>
                <c:pt idx="0">
                  <c:v>785</c:v>
                </c:pt>
                <c:pt idx="1">
                  <c:v>980</c:v>
                </c:pt>
                <c:pt idx="2">
                  <c:v>1052</c:v>
                </c:pt>
                <c:pt idx="3">
                  <c:v>762</c:v>
                </c:pt>
                <c:pt idx="4">
                  <c:v>1100.9960000000001</c:v>
                </c:pt>
              </c:numCache>
              <c:extLst xmlns:c16r2="http://schemas.microsoft.com/office/drawing/2015/06/chart"/>
            </c:numRef>
          </c:val>
          <c:extLst xmlns:c16r2="http://schemas.microsoft.com/office/drawing/2015/06/chart">
            <c:ext xmlns:c16="http://schemas.microsoft.com/office/drawing/2014/chart" uri="{C3380CC4-5D6E-409C-BE32-E72D297353CC}">
              <c16:uniqueId val="{00000000-C361-433C-9C87-5E607614DC87}"/>
            </c:ext>
          </c:extLst>
        </c:ser>
        <c:ser>
          <c:idx val="3"/>
          <c:order val="2"/>
          <c:tx>
            <c:strRef>
              <c:f>轉投資收益!$C$7</c:f>
              <c:strCache>
                <c:ptCount val="1"/>
                <c:pt idx="0">
                  <c:v>    聯成化科</c:v>
                </c:pt>
              </c:strCache>
            </c:strRef>
          </c:tx>
          <c:spPr>
            <a:solidFill>
              <a:schemeClr val="accent3">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轉投資收益!$K$4:$Q$4</c:f>
              <c:strCache>
                <c:ptCount val="5"/>
                <c:pt idx="0">
                  <c:v>2025Q2</c:v>
                </c:pt>
                <c:pt idx="1">
                  <c:v>2025Q3</c:v>
                </c:pt>
                <c:pt idx="2">
                  <c:v>2025Q4</c:v>
                </c:pt>
                <c:pt idx="3">
                  <c:v>2026Q1</c:v>
                </c:pt>
                <c:pt idx="4">
                  <c:v>2026Q2</c:v>
                </c:pt>
              </c:strCache>
              <c:extLst xmlns:c16r2="http://schemas.microsoft.com/office/drawing/2015/06/chart"/>
            </c:strRef>
          </c:cat>
          <c:val>
            <c:numRef>
              <c:f>轉投資收益!$K$7:$Q$7</c:f>
              <c:numCache>
                <c:formatCode>_-* #,##0_-;\-* #,##0_-;_-* "-"??_-;_-@_-</c:formatCode>
                <c:ptCount val="5"/>
                <c:pt idx="0">
                  <c:v>-47</c:v>
                </c:pt>
                <c:pt idx="1">
                  <c:v>-107</c:v>
                </c:pt>
                <c:pt idx="2">
                  <c:v>-262</c:v>
                </c:pt>
                <c:pt idx="3">
                  <c:v>33</c:v>
                </c:pt>
                <c:pt idx="4">
                  <c:v>100.929</c:v>
                </c:pt>
              </c:numCache>
              <c:extLst xmlns:c16r2="http://schemas.microsoft.com/office/drawing/2015/06/chart"/>
            </c:numRef>
          </c:val>
          <c:extLst xmlns:c16r2="http://schemas.microsoft.com/office/drawing/2015/06/chart">
            <c:ext xmlns:c16="http://schemas.microsoft.com/office/drawing/2014/chart" uri="{C3380CC4-5D6E-409C-BE32-E72D297353CC}">
              <c16:uniqueId val="{00000001-C361-433C-9C87-5E607614DC87}"/>
            </c:ext>
          </c:extLst>
        </c:ser>
        <c:ser>
          <c:idx val="4"/>
          <c:order val="3"/>
          <c:tx>
            <c:strRef>
              <c:f>轉投資收益!$C$8</c:f>
              <c:strCache>
                <c:ptCount val="1"/>
                <c:pt idx="0">
                  <c:v>    其他轉投資</c:v>
                </c:pt>
              </c:strCache>
            </c:strRef>
          </c:tx>
          <c:spPr>
            <a:solidFill>
              <a:schemeClr val="accent5">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f>轉投資收益!$K$4:$Q$4</c:f>
              <c:strCache>
                <c:ptCount val="5"/>
                <c:pt idx="0">
                  <c:v>2025Q2</c:v>
                </c:pt>
                <c:pt idx="1">
                  <c:v>2025Q3</c:v>
                </c:pt>
                <c:pt idx="2">
                  <c:v>2025Q4</c:v>
                </c:pt>
                <c:pt idx="3">
                  <c:v>2026Q1</c:v>
                </c:pt>
                <c:pt idx="4">
                  <c:v>2026Q2</c:v>
                </c:pt>
              </c:strCache>
              <c:extLst xmlns:c16r2="http://schemas.microsoft.com/office/drawing/2015/06/chart"/>
            </c:strRef>
          </c:cat>
          <c:val>
            <c:numRef>
              <c:f>轉投資收益!$K$8:$Q$8</c:f>
              <c:numCache>
                <c:formatCode>_-* #,##0_-;\-* #,##0_-;_-* "-"??_-;_-@_-</c:formatCode>
                <c:ptCount val="5"/>
                <c:pt idx="0">
                  <c:v>17</c:v>
                </c:pt>
                <c:pt idx="1">
                  <c:v>1</c:v>
                </c:pt>
                <c:pt idx="2">
                  <c:v>2</c:v>
                </c:pt>
                <c:pt idx="3">
                  <c:v>10</c:v>
                </c:pt>
                <c:pt idx="4">
                  <c:v>1.776</c:v>
                </c:pt>
              </c:numCache>
              <c:extLst xmlns:c16r2="http://schemas.microsoft.com/office/drawing/2015/06/chart"/>
            </c:numRef>
          </c:val>
          <c:extLst xmlns:c16r2="http://schemas.microsoft.com/office/drawing/2015/06/chart">
            <c:ext xmlns:c16="http://schemas.microsoft.com/office/drawing/2014/chart" uri="{C3380CC4-5D6E-409C-BE32-E72D297353CC}">
              <c16:uniqueId val="{00000002-C361-433C-9C87-5E607614DC87}"/>
            </c:ext>
          </c:extLst>
        </c:ser>
        <c:dLbls>
          <c:dLblPos val="ctr"/>
          <c:showLegendKey val="0"/>
          <c:showVal val="1"/>
          <c:showCatName val="0"/>
          <c:showSerName val="0"/>
          <c:showPercent val="0"/>
          <c:showBubbleSize val="0"/>
        </c:dLbls>
        <c:gapWidth val="150"/>
        <c:overlap val="100"/>
        <c:axId val="-21585664"/>
        <c:axId val="-21581856"/>
        <c:extLst xmlns:c16r2="http://schemas.microsoft.com/office/drawing/2015/06/chart">
          <c:ext xmlns:c15="http://schemas.microsoft.com/office/drawing/2012/chart" uri="{02D57815-91ED-43cb-92C2-25804820EDAC}">
            <c15:filteredBarSeries>
              <c15:ser>
                <c:idx val="1"/>
                <c:order val="0"/>
                <c:tx>
                  <c:strRef>
                    <c:extLst xmlns:c16r2="http://schemas.microsoft.com/office/drawing/2015/06/chart">
                      <c:ext uri="{02D57815-91ED-43cb-92C2-25804820EDAC}">
                        <c15:formulaRef>
                          <c15:sqref>轉投資收益!$C$5</c15:sqref>
                        </c15:formulaRef>
                      </c:ext>
                    </c:extLst>
                    <c:strCache>
                      <c:ptCount val="1"/>
                      <c:pt idx="0">
                        <c:v>採用權益法認列之關聯企業損益之份額</c:v>
                      </c:pt>
                    </c:strCache>
                  </c:strRef>
                </c:tx>
                <c:spPr>
                  <a:solidFill>
                    <a:schemeClr val="tx2">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1"/>
                  <c:showCatName val="0"/>
                  <c:showSerName val="0"/>
                  <c:showPercent val="0"/>
                  <c:showBubbleSize val="0"/>
                  <c:showLeaderLines val="0"/>
                  <c:extLst xmlns:c16r2="http://schemas.microsoft.com/office/drawing/2015/06/chart">
                    <c:ext uri="{CE6537A1-D6FC-4f65-9D91-7224C49458BB}">
                      <c15:showLeaderLines val="1"/>
                      <c15:leaderLines>
                        <c:spPr>
                          <a:ln w="9525" cap="flat" cmpd="sng" algn="ctr">
                            <a:solidFill>
                              <a:schemeClr val="tx1">
                                <a:shade val="95000"/>
                                <a:satMod val="105000"/>
                              </a:schemeClr>
                            </a:solidFill>
                            <a:prstDash val="solid"/>
                            <a:round/>
                          </a:ln>
                          <a:effectLst/>
                        </c:spPr>
                      </c15:leaderLines>
                    </c:ext>
                  </c:extLst>
                </c:dLbls>
                <c:cat>
                  <c:strRef>
                    <c:extLst xmlns:c16r2="http://schemas.microsoft.com/office/drawing/2015/06/chart">
                      <c:ext uri="{02D57815-91ED-43cb-92C2-25804820EDAC}">
                        <c15:formulaRef>
                          <c15:sqref>轉投資收益!$K$4:$Q$4</c15:sqref>
                        </c15:formulaRef>
                      </c:ext>
                    </c:extLst>
                    <c:strCache>
                      <c:ptCount val="5"/>
                      <c:pt idx="0">
                        <c:v>2025Q2</c:v>
                      </c:pt>
                      <c:pt idx="1">
                        <c:v>2025Q3</c:v>
                      </c:pt>
                      <c:pt idx="2">
                        <c:v>2025Q4</c:v>
                      </c:pt>
                      <c:pt idx="3">
                        <c:v>2026Q1</c:v>
                      </c:pt>
                      <c:pt idx="4">
                        <c:v>2026Q2</c:v>
                      </c:pt>
                    </c:strCache>
                  </c:strRef>
                </c:cat>
                <c:val>
                  <c:numRef>
                    <c:extLst xmlns:c16r2="http://schemas.microsoft.com/office/drawing/2015/06/chart">
                      <c:ext uri="{02D57815-91ED-43cb-92C2-25804820EDAC}">
                        <c15:formulaRef>
                          <c15:sqref>轉投資收益!$K$5:$Q$5</c15:sqref>
                        </c15:formulaRef>
                      </c:ext>
                    </c:extLst>
                    <c:numCache>
                      <c:formatCode>0</c:formatCode>
                      <c:ptCount val="5"/>
                      <c:pt idx="0">
                        <c:v>755</c:v>
                      </c:pt>
                      <c:pt idx="1">
                        <c:v>874</c:v>
                      </c:pt>
                      <c:pt idx="2">
                        <c:v>791</c:v>
                      </c:pt>
                      <c:pt idx="3">
                        <c:v>805</c:v>
                      </c:pt>
                      <c:pt idx="4">
                        <c:v>1202.7010000000002</c:v>
                      </c:pt>
                    </c:numCache>
                  </c:numRef>
                </c:val>
                <c:extLst xmlns:c16r2="http://schemas.microsoft.com/office/drawing/2015/06/chart">
                  <c:ext xmlns:c16="http://schemas.microsoft.com/office/drawing/2014/chart" uri="{C3380CC4-5D6E-409C-BE32-E72D297353CC}">
                    <c16:uniqueId val="{00000003-C361-433C-9C87-5E607614DC87}"/>
                  </c:ext>
                </c:extLst>
              </c15:ser>
            </c15:filteredBarSeries>
          </c:ext>
        </c:extLst>
      </c:barChart>
      <c:catAx>
        <c:axId val="-21585664"/>
        <c:scaling>
          <c:orientation val="minMax"/>
        </c:scaling>
        <c:delete val="0"/>
        <c:axPos val="b"/>
        <c:numFmt formatCode="General" sourceLinked="1"/>
        <c:majorTickMark val="out"/>
        <c:minorTickMark val="none"/>
        <c:tickLblPos val="low"/>
        <c:spPr>
          <a:noFill/>
          <a:ln w="9525" cap="flat" cmpd="sng" algn="ctr">
            <a:solidFill>
              <a:schemeClr val="tx1"/>
            </a:solidFill>
            <a:prstDash val="solid"/>
            <a:round/>
          </a:ln>
          <a:effectLst/>
        </c:spPr>
        <c:txPr>
          <a:bodyPr rot="-60000000" spcFirstLastPara="1" vertOverflow="ellipsis" vert="horz" wrap="square" anchor="ctr" anchorCtr="1"/>
          <a:lstStyle/>
          <a:p>
            <a:pPr>
              <a:defRPr sz="1400" b="1" i="0" u="none" strike="noStrike" kern="1200" baseline="0">
                <a:ln w="12700">
                  <a:noFill/>
                </a:ln>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crossAx val="-21581856"/>
        <c:crosses val="autoZero"/>
        <c:auto val="1"/>
        <c:lblAlgn val="ctr"/>
        <c:lblOffset val="100"/>
        <c:noMultiLvlLbl val="0"/>
      </c:catAx>
      <c:valAx>
        <c:axId val="-21581856"/>
        <c:scaling>
          <c:orientation val="minMax"/>
          <c:max val="1300"/>
          <c:min val="-300"/>
        </c:scaling>
        <c:delete val="0"/>
        <c:axPos val="l"/>
        <c:majorGridlines>
          <c:spPr>
            <a:ln w="9525" cap="flat" cmpd="sng" algn="ctr">
              <a:solidFill>
                <a:schemeClr val="bg1">
                  <a:lumMod val="85000"/>
                </a:schemeClr>
              </a:solidFill>
              <a:prstDash val="solid"/>
              <a:round/>
            </a:ln>
            <a:effectLst/>
          </c:spPr>
        </c:majorGridlines>
        <c:numFmt formatCode="_-* #,##0_-;\-* #,##0_-;_-* &quot;-&quot;??_-;_-@_-" sourceLinked="1"/>
        <c:majorTickMark val="out"/>
        <c:minorTickMark val="none"/>
        <c:tickLblPos val="nextTo"/>
        <c:spPr>
          <a:noFill/>
          <a:ln w="9525" cap="flat" cmpd="sng" algn="ctr">
            <a:solidFill>
              <a:schemeClr val="tx1">
                <a:tint val="75000"/>
                <a:shade val="95000"/>
                <a:satMod val="105000"/>
              </a:schemeClr>
            </a:solidFill>
            <a:prstDash val="solid"/>
            <a:round/>
          </a:ln>
          <a:effectLst/>
        </c:spPr>
        <c:txPr>
          <a:bodyPr rot="-60000000" spcFirstLastPara="1" vertOverflow="ellipsis" vert="horz" wrap="square" anchor="ctr" anchorCtr="1"/>
          <a:lstStyle/>
          <a:p>
            <a:pPr>
              <a:defRPr sz="14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crossAx val="-21585664"/>
        <c:crosses val="autoZero"/>
        <c:crossBetween val="between"/>
        <c:majorUnit val="300"/>
        <c:minorUnit val="100"/>
      </c:valAx>
      <c:spPr>
        <a:solidFill>
          <a:schemeClr val="bg1"/>
        </a:solidFill>
        <a:ln w="6350">
          <a:noFill/>
        </a:ln>
        <a:effectLst/>
      </c:spPr>
    </c:plotArea>
    <c:plotVisOnly val="1"/>
    <c:dispBlanksAs val="gap"/>
    <c:showDLblsOverMax val="0"/>
  </c:chart>
  <c:spPr>
    <a:noFill/>
    <a:ln w="9525" cap="flat" cmpd="sng" algn="ctr">
      <a:solidFill>
        <a:sysClr val="windowText" lastClr="000000"/>
      </a:solidFill>
      <a:prstDash val="solid"/>
    </a:ln>
    <a:effectLst/>
  </c:spPr>
  <c:txPr>
    <a:bodyPr/>
    <a:lstStyle/>
    <a:p>
      <a:pPr>
        <a:defRPr sz="1400">
          <a:latin typeface="微軟正黑體" panose="020B0604030504040204" pitchFamily="34" charset="-120"/>
          <a:ea typeface="微軟正黑體" panose="020B0604030504040204" pitchFamily="34" charset="-120"/>
        </a:defRPr>
      </a:pPr>
      <a:endParaRPr lang="zh-TW"/>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3021232162868969E-2"/>
          <c:y val="0.13856799867122629"/>
          <c:w val="0.82827705248359706"/>
          <c:h val="0.75044310248167279"/>
        </c:manualLayout>
      </c:layout>
      <c:barChart>
        <c:barDir val="col"/>
        <c:grouping val="clustered"/>
        <c:varyColors val="0"/>
        <c:ser>
          <c:idx val="0"/>
          <c:order val="0"/>
          <c:tx>
            <c:strRef>
              <c:f>'財務報表(歷年-)'!$AZ$32</c:f>
              <c:strCache>
                <c:ptCount val="1"/>
                <c:pt idx="0">
                  <c:v>稅後淨利</c:v>
                </c:pt>
              </c:strCache>
            </c:strRef>
          </c:tx>
          <c:invertIfNegative val="0"/>
          <c:dLbls>
            <c:dLbl>
              <c:idx val="2"/>
              <c:spPr>
                <a:noFill/>
                <a:ln w="25400">
                  <a:noFill/>
                </a:ln>
              </c:spPr>
              <c:txPr>
                <a:bodyPr/>
                <a:lstStyle/>
                <a:p>
                  <a:pPr>
                    <a:defRPr sz="1400" b="1">
                      <a:solidFill>
                        <a:schemeClr val="accent4">
                          <a:lumMod val="40000"/>
                          <a:lumOff val="60000"/>
                        </a:schemeClr>
                      </a:solidFill>
                    </a:defRPr>
                  </a:pPr>
                  <a:endParaRPr lang="zh-TW"/>
                </a:p>
              </c:txPr>
              <c:dLblPos val="ctr"/>
              <c:showLegendKey val="0"/>
              <c:showVal val="1"/>
              <c:showCatName val="0"/>
              <c:showSerName val="0"/>
              <c:showPercent val="0"/>
              <c:showBubbleSize val="0"/>
            </c:dLbl>
            <c:dLbl>
              <c:idx val="3"/>
              <c:spPr>
                <a:noFill/>
                <a:ln w="25400">
                  <a:noFill/>
                </a:ln>
              </c:spPr>
              <c:txPr>
                <a:bodyPr/>
                <a:lstStyle/>
                <a:p>
                  <a:pPr>
                    <a:defRPr sz="1400" b="1">
                      <a:solidFill>
                        <a:schemeClr val="accent4">
                          <a:lumMod val="40000"/>
                          <a:lumOff val="60000"/>
                        </a:schemeClr>
                      </a:solidFill>
                    </a:defRPr>
                  </a:pPr>
                  <a:endParaRPr lang="zh-TW"/>
                </a:p>
              </c:txPr>
              <c:dLblPos val="ctr"/>
              <c:showLegendKey val="0"/>
              <c:showVal val="1"/>
              <c:showCatName val="0"/>
              <c:showSerName val="0"/>
              <c:showPercent val="0"/>
              <c:showBubbleSize val="0"/>
            </c:dLbl>
            <c:spPr>
              <a:noFill/>
              <a:ln w="25400">
                <a:noFill/>
              </a:ln>
            </c:spPr>
            <c:txPr>
              <a:bodyPr wrap="square" lIns="38100" tIns="19050" rIns="38100" bIns="19050" anchor="ctr">
                <a:spAutoFit/>
              </a:bodyPr>
              <a:lstStyle/>
              <a:p>
                <a:pPr>
                  <a:defRPr sz="1400" b="1">
                    <a:solidFill>
                      <a:schemeClr val="accent4">
                        <a:lumMod val="40000"/>
                        <a:lumOff val="60000"/>
                      </a:schemeClr>
                    </a:solidFill>
                  </a:defRPr>
                </a:pPr>
                <a:endParaRPr lang="zh-TW"/>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'財務報表(歷年-)'!$AD$24:$AI$24</c:f>
              <c:strCache>
                <c:ptCount val="5"/>
                <c:pt idx="0">
                  <c:v> 2025Q2 </c:v>
                </c:pt>
                <c:pt idx="1">
                  <c:v> 2025Q3 </c:v>
                </c:pt>
                <c:pt idx="2">
                  <c:v> 2025Q4 </c:v>
                </c:pt>
                <c:pt idx="3">
                  <c:v> 2026Q1 </c:v>
                </c:pt>
                <c:pt idx="4">
                  <c:v> 2026Q2 </c:v>
                </c:pt>
              </c:strCache>
            </c:strRef>
          </c:cat>
          <c:val>
            <c:numRef>
              <c:f>'財務報表(歷年-)'!$AD$32:$AI$32</c:f>
              <c:numCache>
                <c:formatCode>_-* #,##0_-;\-* #,##0_-;_-* "-"??_-;_-@_-</c:formatCode>
                <c:ptCount val="5"/>
                <c:pt idx="0">
                  <c:v>2055.0059999999999</c:v>
                </c:pt>
                <c:pt idx="1">
                  <c:v>1395.21</c:v>
                </c:pt>
                <c:pt idx="2">
                  <c:v>1199.1320000000001</c:v>
                </c:pt>
                <c:pt idx="3">
                  <c:v>1050.373</c:v>
                </c:pt>
                <c:pt idx="4">
                  <c:v>1200.2729999999999</c:v>
                </c:pt>
              </c:numCache>
            </c:numRef>
          </c:val>
          <c:extLst xmlns:c16r2="http://schemas.microsoft.com/office/drawing/2015/06/chart">
            <c:ext xmlns:c16="http://schemas.microsoft.com/office/drawing/2014/chart" uri="{C3380CC4-5D6E-409C-BE32-E72D297353CC}">
              <c16:uniqueId val="{00000002-B541-4E05-982D-1E3CBF3331B2}"/>
            </c:ext>
          </c:extLst>
        </c:ser>
        <c:dLbls>
          <c:showLegendKey val="0"/>
          <c:showVal val="0"/>
          <c:showCatName val="0"/>
          <c:showSerName val="0"/>
          <c:showPercent val="0"/>
          <c:showBubbleSize val="0"/>
        </c:dLbls>
        <c:gapWidth val="150"/>
        <c:axId val="-2005882752"/>
        <c:axId val="-2005884928"/>
      </c:barChart>
      <c:lineChart>
        <c:grouping val="standard"/>
        <c:varyColors val="0"/>
        <c:ser>
          <c:idx val="1"/>
          <c:order val="1"/>
          <c:tx>
            <c:strRef>
              <c:f>'財務報表(歷年-)'!$AZ$33</c:f>
              <c:strCache>
                <c:ptCount val="1"/>
                <c:pt idx="0">
                  <c:v>每股盈餘</c:v>
                </c:pt>
              </c:strCache>
            </c:strRef>
          </c:tx>
          <c:spPr>
            <a:ln>
              <a:solidFill>
                <a:schemeClr val="accent6">
                  <a:lumMod val="75000"/>
                </a:schemeClr>
              </a:solidFill>
            </a:ln>
          </c:spPr>
          <c:marker>
            <c:spPr>
              <a:solidFill>
                <a:schemeClr val="accent6">
                  <a:lumMod val="75000"/>
                </a:schemeClr>
              </a:solidFill>
              <a:ln>
                <a:solidFill>
                  <a:schemeClr val="accent6">
                    <a:lumMod val="75000"/>
                  </a:schemeClr>
                </a:solidFill>
              </a:ln>
            </c:spPr>
          </c:marker>
          <c:dLbls>
            <c:dLbl>
              <c:idx val="3"/>
              <c:layout>
                <c:manualLayout>
                  <c:x val="-3.6604877956936312E-3"/>
                  <c:y val="-5.6525401909215553E-2"/>
                </c:manualLayout>
              </c:layout>
              <c:spPr>
                <a:noFill/>
                <a:ln w="25400">
                  <a:noFill/>
                </a:ln>
              </c:spPr>
              <c:txPr>
                <a:bodyPr/>
                <a:lstStyle/>
                <a:p>
                  <a:pPr>
                    <a:defRPr b="1"/>
                  </a:pPr>
                  <a:endParaRPr lang="zh-TW"/>
                </a:p>
              </c:txPr>
              <c:dLblPos val="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3-B541-4E05-982D-1E3CBF3331B2}"/>
                </c:ext>
                <c:ext xmlns:c15="http://schemas.microsoft.com/office/drawing/2012/chart" uri="{CE6537A1-D6FC-4f65-9D91-7224C49458BB}"/>
              </c:extLst>
            </c:dLbl>
            <c:spPr>
              <a:noFill/>
              <a:ln w="25400">
                <a:noFill/>
              </a:ln>
            </c:spPr>
            <c:txPr>
              <a:bodyPr wrap="square" lIns="38100" tIns="19050" rIns="38100" bIns="19050" anchor="ctr">
                <a:spAutoFit/>
              </a:bodyPr>
              <a:lstStyle/>
              <a:p>
                <a:pPr>
                  <a:defRPr b="1"/>
                </a:pPr>
                <a:endParaRPr lang="zh-TW"/>
              </a:p>
            </c:txPr>
            <c:dLblPos val="t"/>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'財務報表(歷年-)'!$AD$24:$AI$24</c:f>
              <c:strCache>
                <c:ptCount val="5"/>
                <c:pt idx="0">
                  <c:v> 2025Q2 </c:v>
                </c:pt>
                <c:pt idx="1">
                  <c:v> 2025Q3 </c:v>
                </c:pt>
                <c:pt idx="2">
                  <c:v> 2025Q4 </c:v>
                </c:pt>
                <c:pt idx="3">
                  <c:v> 2026Q1 </c:v>
                </c:pt>
                <c:pt idx="4">
                  <c:v> 2026Q2 </c:v>
                </c:pt>
              </c:strCache>
            </c:strRef>
          </c:cat>
          <c:val>
            <c:numRef>
              <c:f>'財務報表(歷年-)'!$AD$33:$AI$33</c:f>
              <c:numCache>
                <c:formatCode>_(* #,##0.00_);_(* \(#,##0.00\);_(* "-"??_);_(@_)</c:formatCode>
                <c:ptCount val="5"/>
                <c:pt idx="0">
                  <c:v>0.75</c:v>
                </c:pt>
                <c:pt idx="1">
                  <c:v>0.71</c:v>
                </c:pt>
                <c:pt idx="2">
                  <c:v>0.58999999999999986</c:v>
                </c:pt>
                <c:pt idx="3">
                  <c:v>0.53999999999999992</c:v>
                </c:pt>
                <c:pt idx="4">
                  <c:v>0.65</c:v>
                </c:pt>
              </c:numCache>
            </c:numRef>
          </c:val>
          <c:smooth val="0"/>
          <c:extLst xmlns:c16r2="http://schemas.microsoft.com/office/drawing/2015/06/chart">
            <c:ext xmlns:c16="http://schemas.microsoft.com/office/drawing/2014/chart" uri="{C3380CC4-5D6E-409C-BE32-E72D297353CC}">
              <c16:uniqueId val="{00000004-B541-4E05-982D-1E3CBF3331B2}"/>
            </c:ext>
          </c:extLst>
        </c:ser>
        <c:dLbls>
          <c:showLegendKey val="0"/>
          <c:showVal val="0"/>
          <c:showCatName val="0"/>
          <c:showSerName val="0"/>
          <c:showPercent val="0"/>
          <c:showBubbleSize val="0"/>
        </c:dLbls>
        <c:marker val="1"/>
        <c:smooth val="0"/>
        <c:axId val="-2005880032"/>
        <c:axId val="-2005882208"/>
      </c:lineChart>
      <c:catAx>
        <c:axId val="-2005882752"/>
        <c:scaling>
          <c:orientation val="minMax"/>
        </c:scaling>
        <c:delete val="0"/>
        <c:axPos val="b"/>
        <c:numFmt formatCode="General" sourceLinked="1"/>
        <c:majorTickMark val="out"/>
        <c:minorTickMark val="none"/>
        <c:tickLblPos val="nextTo"/>
        <c:spPr>
          <a:ln>
            <a:solidFill>
              <a:schemeClr val="tx1">
                <a:alpha val="10000"/>
              </a:schemeClr>
            </a:solidFill>
          </a:ln>
        </c:spPr>
        <c:crossAx val="-2005884928"/>
        <c:crosses val="autoZero"/>
        <c:auto val="1"/>
        <c:lblAlgn val="ctr"/>
        <c:lblOffset val="100"/>
        <c:noMultiLvlLbl val="0"/>
      </c:catAx>
      <c:valAx>
        <c:axId val="-2005884928"/>
        <c:scaling>
          <c:orientation val="minMax"/>
        </c:scaling>
        <c:delete val="0"/>
        <c:axPos val="l"/>
        <c:majorGridlines>
          <c:spPr>
            <a:ln>
              <a:solidFill>
                <a:schemeClr val="tx1">
                  <a:alpha val="10000"/>
                </a:schemeClr>
              </a:solidFill>
            </a:ln>
          </c:spPr>
        </c:majorGridlines>
        <c:numFmt formatCode="_-* #,##0_-;\-* #,##0_-;_-* &quot;-&quot;??_-;_-@_-" sourceLinked="1"/>
        <c:majorTickMark val="out"/>
        <c:minorTickMark val="none"/>
        <c:tickLblPos val="nextTo"/>
        <c:spPr>
          <a:ln>
            <a:solidFill>
              <a:schemeClr val="tx1">
                <a:alpha val="10000"/>
              </a:schemeClr>
            </a:solidFill>
          </a:ln>
        </c:spPr>
        <c:crossAx val="-2005882752"/>
        <c:crosses val="autoZero"/>
        <c:crossBetween val="between"/>
        <c:majorUnit val="500"/>
      </c:valAx>
      <c:catAx>
        <c:axId val="-2005880032"/>
        <c:scaling>
          <c:orientation val="minMax"/>
        </c:scaling>
        <c:delete val="1"/>
        <c:axPos val="b"/>
        <c:numFmt formatCode="General" sourceLinked="1"/>
        <c:majorTickMark val="out"/>
        <c:minorTickMark val="none"/>
        <c:tickLblPos val="nextTo"/>
        <c:crossAx val="-2005882208"/>
        <c:crosses val="autoZero"/>
        <c:auto val="1"/>
        <c:lblAlgn val="ctr"/>
        <c:lblOffset val="100"/>
        <c:noMultiLvlLbl val="0"/>
      </c:catAx>
      <c:valAx>
        <c:axId val="-2005882208"/>
        <c:scaling>
          <c:orientation val="minMax"/>
          <c:max val="0.8"/>
        </c:scaling>
        <c:delete val="0"/>
        <c:axPos val="r"/>
        <c:numFmt formatCode="_(* #,##0.00_);_(* \(#,##0.00\);_(* &quot;-&quot;??_);_(@_)" sourceLinked="1"/>
        <c:majorTickMark val="out"/>
        <c:minorTickMark val="none"/>
        <c:tickLblPos val="nextTo"/>
        <c:spPr>
          <a:ln>
            <a:solidFill>
              <a:schemeClr val="tx1">
                <a:alpha val="10000"/>
              </a:schemeClr>
            </a:solidFill>
          </a:ln>
        </c:spPr>
        <c:crossAx val="-2005880032"/>
        <c:crosses val="max"/>
        <c:crossBetween val="between"/>
      </c:valAx>
      <c:spPr>
        <a:ln>
          <a:solidFill>
            <a:schemeClr val="tx1">
              <a:alpha val="10000"/>
            </a:schemeClr>
          </a:solidFill>
        </a:ln>
      </c:spPr>
    </c:plotArea>
    <c:legend>
      <c:legendPos val="r"/>
      <c:layout>
        <c:manualLayout>
          <c:xMode val="edge"/>
          <c:yMode val="edge"/>
          <c:x val="0.30262731106065521"/>
          <c:y val="3.5908596300326445E-2"/>
          <c:w val="0.42523516055789817"/>
          <c:h val="7.181719260065289E-2"/>
        </c:manualLayout>
      </c:layout>
      <c:overlay val="0"/>
    </c:legend>
    <c:plotVisOnly val="1"/>
    <c:dispBlanksAs val="gap"/>
    <c:showDLblsOverMax val="0"/>
  </c:chart>
  <c:spPr>
    <a:ln>
      <a:solidFill>
        <a:srgbClr val="002060"/>
      </a:solidFill>
    </a:ln>
  </c:spPr>
  <c:txPr>
    <a:bodyPr/>
    <a:lstStyle/>
    <a:p>
      <a:pPr>
        <a:defRPr sz="1200">
          <a:latin typeface="微軟正黑體" panose="020B0604030504040204" pitchFamily="34" charset="-120"/>
          <a:ea typeface="微軟正黑體" panose="020B0604030504040204" pitchFamily="34" charset="-120"/>
        </a:defRPr>
      </a:pPr>
      <a:endParaRPr lang="zh-TW"/>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6.1177673883969601E-2"/>
          <c:y val="6.0604794200683522E-2"/>
          <c:w val="0.87123388670092095"/>
          <c:h val="0.77330543703609356"/>
        </c:manualLayout>
      </c:layout>
      <c:barChart>
        <c:barDir val="col"/>
        <c:grouping val="clustered"/>
        <c:varyColors val="0"/>
        <c:ser>
          <c:idx val="0"/>
          <c:order val="0"/>
          <c:tx>
            <c:strRef>
              <c:f>每股淨值!$F$24</c:f>
              <c:strCache>
                <c:ptCount val="1"/>
                <c:pt idx="0">
                  <c:v>每股淨值</c:v>
                </c:pt>
              </c:strCache>
            </c:strRef>
          </c:tx>
          <c:spPr>
            <a:solidFill>
              <a:schemeClr val="accent1"/>
            </a:solidFill>
            <a:ln w="12700">
              <a:solidFill>
                <a:srgbClr val="4472C4"/>
              </a:solidFill>
            </a:ln>
            <a:effectLst/>
          </c:spPr>
          <c:invertIfNegative val="0"/>
          <c:dLbls>
            <c:spPr>
              <a:noFill/>
              <a:ln>
                <a:noFill/>
              </a:ln>
              <a:effectLst/>
            </c:spPr>
            <c:txPr>
              <a:bodyPr rot="0" spcFirstLastPara="1" vertOverflow="ellipsis" vert="horz" wrap="square" anchor="ctr" anchorCtr="1"/>
              <a:lstStyle/>
              <a:p>
                <a:pPr>
                  <a:defRPr sz="1400" b="1" i="0" u="none" strike="noStrike" kern="1200" baseline="0">
                    <a:solidFill>
                      <a:schemeClr val="accent4">
                        <a:lumMod val="60000"/>
                        <a:lumOff val="40000"/>
                      </a:schemeClr>
                    </a:solidFill>
                    <a:latin typeface="微軟正黑體" panose="020B0604030504040204" pitchFamily="34" charset="-120"/>
                    <a:ea typeface="微軟正黑體" panose="020B0604030504040204" pitchFamily="34" charset="-120"/>
                    <a:cs typeface="Calibri" panose="020F0502020204030204" pitchFamily="34" charset="0"/>
                  </a:defRPr>
                </a:pPr>
                <a:endParaRPr lang="zh-TW"/>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每股淨值!$G$23:$L$23</c:f>
              <c:strCache>
                <c:ptCount val="6"/>
                <c:pt idx="0">
                  <c:v>2021</c:v>
                </c:pt>
                <c:pt idx="1">
                  <c:v>2022</c:v>
                </c:pt>
                <c:pt idx="2">
                  <c:v>2023</c:v>
                </c:pt>
                <c:pt idx="3">
                  <c:v>2024</c:v>
                </c:pt>
                <c:pt idx="4">
                  <c:v>2025</c:v>
                </c:pt>
                <c:pt idx="5">
                  <c:v>2026Q2</c:v>
                </c:pt>
              </c:strCache>
            </c:strRef>
          </c:cat>
          <c:val>
            <c:numRef>
              <c:f>每股淨值!$G$24:$L$24</c:f>
              <c:numCache>
                <c:formatCode>General</c:formatCode>
                <c:ptCount val="6"/>
                <c:pt idx="0">
                  <c:v>28.19</c:v>
                </c:pt>
                <c:pt idx="1">
                  <c:v>25.32</c:v>
                </c:pt>
                <c:pt idx="2">
                  <c:v>28.91</c:v>
                </c:pt>
                <c:pt idx="3">
                  <c:v>30.75</c:v>
                </c:pt>
                <c:pt idx="4">
                  <c:v>31.98</c:v>
                </c:pt>
                <c:pt idx="5">
                  <c:v>35.130000000000003</c:v>
                </c:pt>
              </c:numCache>
            </c:numRef>
          </c:val>
        </c:ser>
        <c:dLbls>
          <c:showLegendKey val="0"/>
          <c:showVal val="0"/>
          <c:showCatName val="0"/>
          <c:showSerName val="0"/>
          <c:showPercent val="0"/>
          <c:showBubbleSize val="0"/>
        </c:dLbls>
        <c:gapWidth val="150"/>
        <c:overlap val="9"/>
        <c:axId val="-2005893632"/>
        <c:axId val="-2005888192"/>
      </c:barChart>
      <c:lineChart>
        <c:grouping val="standard"/>
        <c:varyColors val="0"/>
        <c:ser>
          <c:idx val="2"/>
          <c:order val="2"/>
          <c:tx>
            <c:strRef>
              <c:f>每股淨值!$F$25</c:f>
              <c:strCache>
                <c:ptCount val="1"/>
                <c:pt idx="0">
                  <c:v>實收股本</c:v>
                </c:pt>
              </c:strCache>
            </c:strRef>
          </c:tx>
          <c:spPr>
            <a:ln w="34925" cap="rnd">
              <a:solidFill>
                <a:srgbClr val="C00000"/>
              </a:solidFill>
              <a:round/>
            </a:ln>
            <a:effectLst/>
          </c:spPr>
          <c:marker>
            <c:symbol val="circle"/>
            <c:size val="5"/>
            <c:spPr>
              <a:solidFill>
                <a:srgbClr val="C00000"/>
              </a:solidFill>
              <a:ln w="38100">
                <a:solidFill>
                  <a:srgbClr val="C00000"/>
                </a:solidFill>
              </a:ln>
              <a:effectLst/>
            </c:spPr>
          </c:marker>
          <c:dPt>
            <c:idx val="5"/>
            <c:marker>
              <c:symbol val="circle"/>
              <c:size val="5"/>
              <c:spPr>
                <a:solidFill>
                  <a:srgbClr val="C00000"/>
                </a:solidFill>
                <a:ln w="38100">
                  <a:solidFill>
                    <a:srgbClr val="C00000"/>
                  </a:solidFill>
                </a:ln>
                <a:effectLst/>
              </c:spPr>
            </c:marker>
            <c:bubble3D val="0"/>
            <c:spPr>
              <a:ln w="41275" cap="rnd">
                <a:solidFill>
                  <a:srgbClr val="C00000"/>
                </a:solidFill>
                <a:round/>
              </a:ln>
              <a:effectLst/>
            </c:spPr>
          </c:dPt>
          <c:cat>
            <c:multiLvlStrRef>
              <c:f>每股淨值!$G$22:$L$23</c:f>
              <c:multiLvlStrCache>
                <c:ptCount val="6"/>
                <c:lvl>
                  <c:pt idx="0">
                    <c:v>2021</c:v>
                  </c:pt>
                  <c:pt idx="1">
                    <c:v>2022</c:v>
                  </c:pt>
                  <c:pt idx="2">
                    <c:v>2023</c:v>
                  </c:pt>
                  <c:pt idx="3">
                    <c:v>2024</c:v>
                  </c:pt>
                  <c:pt idx="4">
                    <c:v>2025</c:v>
                  </c:pt>
                  <c:pt idx="5">
                    <c:v>2026Q2</c:v>
                  </c:pt>
                </c:lvl>
                <c:lvl>
                  <c:pt idx="0">
                    <c:v> -   </c:v>
                  </c:pt>
                  <c:pt idx="1">
                    <c:v> -   </c:v>
                  </c:pt>
                  <c:pt idx="2">
                    <c:v> -   </c:v>
                  </c:pt>
                  <c:pt idx="3">
                    <c:v> -   </c:v>
                  </c:pt>
                  <c:pt idx="4">
                    <c:v> -   </c:v>
                  </c:pt>
                  <c:pt idx="5">
                    <c:v> -   </c:v>
                  </c:pt>
                </c:lvl>
              </c:multiLvlStrCache>
            </c:multiLvlStrRef>
          </c:cat>
          <c:val>
            <c:numRef>
              <c:f>每股淨值!$G$25:$L$25</c:f>
              <c:numCache>
                <c:formatCode>_-* #,##0_-;\-* #,##0_-;_-* "-"??_-;_-@_-</c:formatCode>
                <c:ptCount val="6"/>
                <c:pt idx="0">
                  <c:v>140.96481</c:v>
                </c:pt>
                <c:pt idx="1">
                  <c:v>148.01304999999999</c:v>
                </c:pt>
                <c:pt idx="2">
                  <c:v>158.37396000000001</c:v>
                </c:pt>
                <c:pt idx="3">
                  <c:v>171.04388</c:v>
                </c:pt>
                <c:pt idx="4">
                  <c:v>179.59607</c:v>
                </c:pt>
                <c:pt idx="5">
                  <c:v>183.18798810000001</c:v>
                </c:pt>
              </c:numCache>
            </c:numRef>
          </c:val>
          <c:smooth val="0"/>
        </c:ser>
        <c:dLbls>
          <c:showLegendKey val="0"/>
          <c:showVal val="0"/>
          <c:showCatName val="0"/>
          <c:showSerName val="0"/>
          <c:showPercent val="0"/>
          <c:showBubbleSize val="0"/>
        </c:dLbls>
        <c:marker val="1"/>
        <c:smooth val="0"/>
        <c:axId val="-2005879488"/>
        <c:axId val="-2005891456"/>
        <c:extLst>
          <c:ext xmlns:c15="http://schemas.microsoft.com/office/drawing/2012/chart" uri="{02D57815-91ED-43cb-92C2-25804820EDAC}">
            <c15:filteredLineSeries>
              <c15:ser>
                <c:idx val="1"/>
                <c:order val="1"/>
                <c:tx>
                  <c:strRef>
                    <c:extLst>
                      <c:ext uri="{02D57815-91ED-43cb-92C2-25804820EDAC}">
                        <c15:formulaRef>
                          <c15:sqref>每股淨值!$F$27</c15:sqref>
                        </c15:formulaRef>
                      </c:ext>
                    </c:extLst>
                    <c:strCache>
                      <c:ptCount val="1"/>
                      <c:pt idx="0">
                        <c:v>股價淨值比</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multiLvlStrRef>
                    <c:extLst>
                      <c:ext uri="{02D57815-91ED-43cb-92C2-25804820EDAC}">
                        <c15:formulaRef>
                          <c15:sqref>每股淨值!$G$22:$L$23</c15:sqref>
                        </c15:formulaRef>
                      </c:ext>
                    </c:extLst>
                    <c:multiLvlStrCache>
                      <c:ptCount val="6"/>
                      <c:lvl>
                        <c:pt idx="0">
                          <c:v>2021</c:v>
                        </c:pt>
                        <c:pt idx="1">
                          <c:v>2022</c:v>
                        </c:pt>
                        <c:pt idx="2">
                          <c:v>2023</c:v>
                        </c:pt>
                        <c:pt idx="3">
                          <c:v>2024</c:v>
                        </c:pt>
                        <c:pt idx="4">
                          <c:v>2025</c:v>
                        </c:pt>
                        <c:pt idx="5">
                          <c:v>2026Q2</c:v>
                        </c:pt>
                      </c:lvl>
                      <c:lvl>
                        <c:pt idx="0">
                          <c:v> -   </c:v>
                        </c:pt>
                        <c:pt idx="1">
                          <c:v> -   </c:v>
                        </c:pt>
                        <c:pt idx="2">
                          <c:v> -   </c:v>
                        </c:pt>
                        <c:pt idx="3">
                          <c:v> -   </c:v>
                        </c:pt>
                        <c:pt idx="4">
                          <c:v> -   </c:v>
                        </c:pt>
                        <c:pt idx="5">
                          <c:v> -   </c:v>
                        </c:pt>
                      </c:lvl>
                    </c:multiLvlStrCache>
                  </c:multiLvlStrRef>
                </c:cat>
                <c:val>
                  <c:numRef>
                    <c:extLst>
                      <c:ext uri="{02D57815-91ED-43cb-92C2-25804820EDAC}">
                        <c15:formulaRef>
                          <c15:sqref>每股淨值!$G$27:$L$27</c15:sqref>
                        </c15:formulaRef>
                      </c:ext>
                    </c:extLst>
                    <c:numCache>
                      <c:formatCode>0.00</c:formatCode>
                      <c:ptCount val="6"/>
                      <c:pt idx="0">
                        <c:v>1.798864845689961</c:v>
                      </c:pt>
                      <c:pt idx="1">
                        <c:v>2.2393364928909953</c:v>
                      </c:pt>
                      <c:pt idx="2">
                        <c:v>2.1193358699411968</c:v>
                      </c:pt>
                      <c:pt idx="3">
                        <c:v>2.071219512195122</c:v>
                      </c:pt>
                      <c:pt idx="4">
                        <c:v>1.4921826141338337</c:v>
                      </c:pt>
                      <c:pt idx="5">
                        <c:v>1.2226017648733276</c:v>
                      </c:pt>
                    </c:numCache>
                  </c:numRef>
                </c:val>
                <c:smooth val="0"/>
              </c15:ser>
            </c15:filteredLineSeries>
          </c:ext>
        </c:extLst>
      </c:lineChart>
      <c:catAx>
        <c:axId val="-2005893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Calibri" panose="020F0502020204030204" pitchFamily="34" charset="0"/>
              </a:defRPr>
            </a:pPr>
            <a:endParaRPr lang="zh-TW"/>
          </a:p>
        </c:txPr>
        <c:crossAx val="-2005888192"/>
        <c:crosses val="autoZero"/>
        <c:auto val="1"/>
        <c:lblAlgn val="ctr"/>
        <c:lblOffset val="100"/>
        <c:noMultiLvlLbl val="0"/>
      </c:catAx>
      <c:valAx>
        <c:axId val="-2005888192"/>
        <c:scaling>
          <c:orientation val="minMax"/>
          <c:max val="35"/>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Calibri" panose="020F0502020204030204" pitchFamily="34" charset="0"/>
              </a:defRPr>
            </a:pPr>
            <a:endParaRPr lang="zh-TW"/>
          </a:p>
        </c:txPr>
        <c:crossAx val="-2005893632"/>
        <c:crosses val="autoZero"/>
        <c:crossBetween val="between"/>
        <c:majorUnit val="5"/>
        <c:minorUnit val="5"/>
      </c:valAx>
      <c:valAx>
        <c:axId val="-2005891456"/>
        <c:scaling>
          <c:orientation val="minMax"/>
          <c:max val="185"/>
          <c:min val="0"/>
        </c:scaling>
        <c:delete val="0"/>
        <c:axPos val="r"/>
        <c:numFmt formatCode="_-* #,##0_-;\-* #,##0_-;_-* &quot;-&quot;??_-;_-@_-"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Calibri" panose="020F0502020204030204" pitchFamily="34" charset="0"/>
              </a:defRPr>
            </a:pPr>
            <a:endParaRPr lang="zh-TW"/>
          </a:p>
        </c:txPr>
        <c:crossAx val="-2005879488"/>
        <c:crosses val="max"/>
        <c:crossBetween val="between"/>
        <c:minorUnit val="30"/>
      </c:valAx>
      <c:catAx>
        <c:axId val="-2005879488"/>
        <c:scaling>
          <c:orientation val="minMax"/>
        </c:scaling>
        <c:delete val="1"/>
        <c:axPos val="b"/>
        <c:numFmt formatCode="General" sourceLinked="1"/>
        <c:majorTickMark val="out"/>
        <c:minorTickMark val="none"/>
        <c:tickLblPos val="nextTo"/>
        <c:crossAx val="-200589145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Calibri" panose="020F0502020204030204" pitchFamily="34" charset="0"/>
            </a:defRPr>
          </a:pPr>
          <a:endParaRPr lang="zh-TW"/>
        </a:p>
      </c:txPr>
    </c:legend>
    <c:plotVisOnly val="1"/>
    <c:dispBlanksAs val="gap"/>
    <c:showDLblsOverMax val="0"/>
  </c:chart>
  <c:spPr>
    <a:noFill/>
    <a:ln>
      <a:solidFill>
        <a:sysClr val="windowText" lastClr="000000"/>
      </a:solidFill>
    </a:ln>
    <a:effectLst/>
  </c:spPr>
  <c:txPr>
    <a:bodyPr/>
    <a:lstStyle/>
    <a:p>
      <a:pPr>
        <a:defRPr sz="1200">
          <a:latin typeface="微軟正黑體" panose="020B0604030504040204" pitchFamily="34" charset="-120"/>
          <a:ea typeface="微軟正黑體" panose="020B0604030504040204" pitchFamily="34" charset="-120"/>
          <a:cs typeface="Calibri" panose="020F0502020204030204" pitchFamily="34" charset="0"/>
        </a:defRPr>
      </a:pPr>
      <a:endParaRPr lang="zh-TW"/>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zh-TW"/>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v>持股占比</c:v>
          </c:tx>
          <c:dPt>
            <c:idx val="0"/>
            <c:bubble3D val="0"/>
            <c:spPr>
              <a:solidFill>
                <a:srgbClr val="154A8A"/>
              </a:solidFill>
            </c:spPr>
            <c:extLst xmlns:c16r2="http://schemas.microsoft.com/office/drawing/2015/06/chart">
              <c:ext xmlns:c16="http://schemas.microsoft.com/office/drawing/2014/chart" uri="{C3380CC4-5D6E-409C-BE32-E72D297353CC}">
                <c16:uniqueId val="{00000001-8163-4A4C-B228-1ACC4DC1052B}"/>
              </c:ext>
            </c:extLst>
          </c:dPt>
          <c:dPt>
            <c:idx val="1"/>
            <c:bubble3D val="0"/>
            <c:spPr>
              <a:solidFill>
                <a:srgbClr val="F28E2B"/>
              </a:solidFill>
            </c:spPr>
            <c:extLst xmlns:c16r2="http://schemas.microsoft.com/office/drawing/2015/06/chart">
              <c:ext xmlns:c16="http://schemas.microsoft.com/office/drawing/2014/chart" uri="{C3380CC4-5D6E-409C-BE32-E72D297353CC}">
                <c16:uniqueId val="{00000003-8163-4A4C-B228-1ACC4DC1052B}"/>
              </c:ext>
            </c:extLst>
          </c:dPt>
          <c:dPt>
            <c:idx val="2"/>
            <c:bubble3D val="0"/>
            <c:spPr>
              <a:solidFill>
                <a:srgbClr val="2E9D57"/>
              </a:solidFill>
            </c:spPr>
            <c:extLst xmlns:c16r2="http://schemas.microsoft.com/office/drawing/2015/06/chart">
              <c:ext xmlns:c16="http://schemas.microsoft.com/office/drawing/2014/chart" uri="{C3380CC4-5D6E-409C-BE32-E72D297353CC}">
                <c16:uniqueId val="{00000005-8163-4A4C-B228-1ACC4DC1052B}"/>
              </c:ext>
            </c:extLst>
          </c:dPt>
          <c:dPt>
            <c:idx val="3"/>
            <c:bubble3D val="0"/>
            <c:spPr>
              <a:solidFill>
                <a:srgbClr val="7B4AB5"/>
              </a:solidFill>
            </c:spPr>
            <c:extLst xmlns:c16r2="http://schemas.microsoft.com/office/drawing/2015/06/chart">
              <c:ext xmlns:c16="http://schemas.microsoft.com/office/drawing/2014/chart" uri="{C3380CC4-5D6E-409C-BE32-E72D297353CC}">
                <c16:uniqueId val="{00000007-8163-4A4C-B228-1ACC4DC1052B}"/>
              </c:ext>
            </c:extLst>
          </c:dPt>
          <c:dLbls>
            <c:dLbl>
              <c:idx val="0"/>
              <c:tx>
                <c:rich>
                  <a:bodyPr/>
                  <a:lstStyle/>
                  <a:p>
                    <a:r>
                      <a:rPr lang="en-US" altLang="zh-TW" sz="1275" b="1">
                        <a:solidFill>
                          <a:srgbClr val="FFFFFF"/>
                        </a:solidFill>
                        <a:latin typeface="Microsoft JhengHei"/>
                        <a:ea typeface="Microsoft JhengHei"/>
                        <a:cs typeface="Microsoft JhengHei"/>
                      </a:rPr>
                      <a:t>34.41%</a:t>
                    </a:r>
                  </a:p>
                </c:rich>
              </c:tx>
              <c:sp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1-8163-4A4C-B228-1ACC4DC1052B}"/>
                </c:ext>
                <c:ext xmlns:c15="http://schemas.microsoft.com/office/drawing/2012/chart" uri="{CE6537A1-D6FC-4f65-9D91-7224C49458BB}"/>
              </c:extLst>
            </c:dLbl>
            <c:dLbl>
              <c:idx val="1"/>
              <c:tx>
                <c:rich>
                  <a:bodyPr/>
                  <a:lstStyle/>
                  <a:p>
                    <a:r>
                      <a:rPr lang="en-US" altLang="zh-TW" sz="1275" b="1">
                        <a:solidFill>
                          <a:srgbClr val="FFFFFF"/>
                        </a:solidFill>
                        <a:latin typeface="Microsoft JhengHei"/>
                        <a:ea typeface="Microsoft JhengHei"/>
                        <a:cs typeface="Microsoft JhengHei"/>
                      </a:rPr>
                      <a:t>50.37%</a:t>
                    </a:r>
                  </a:p>
                </c:rich>
              </c:tx>
              <c:sp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3-8163-4A4C-B228-1ACC4DC1052B}"/>
                </c:ext>
                <c:ext xmlns:c15="http://schemas.microsoft.com/office/drawing/2012/chart" uri="{CE6537A1-D6FC-4f65-9D91-7224C49458BB}"/>
              </c:extLst>
            </c:dLbl>
            <c:dLbl>
              <c:idx val="2"/>
              <c:tx>
                <c:rich>
                  <a:bodyPr/>
                  <a:lstStyle/>
                  <a:p>
                    <a:endParaRPr lang="en-US" altLang="zh-TW"/>
                  </a:p>
                </c:rich>
              </c:tx>
              <c:sp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5-8163-4A4C-B228-1ACC4DC1052B}"/>
                </c:ext>
                <c:ext xmlns:c15="http://schemas.microsoft.com/office/drawing/2012/chart" uri="{CE6537A1-D6FC-4f65-9D91-7224C49458BB}"/>
              </c:extLst>
            </c:dLbl>
            <c:dLbl>
              <c:idx val="3"/>
              <c:tx>
                <c:rich>
                  <a:bodyPr/>
                  <a:lstStyle/>
                  <a:p>
                    <a:r>
                      <a:rPr lang="en-US" altLang="zh-TW" sz="1275" b="1">
                        <a:solidFill>
                          <a:srgbClr val="FFFFFF"/>
                        </a:solidFill>
                        <a:latin typeface="Microsoft JhengHei"/>
                        <a:ea typeface="Microsoft JhengHei"/>
                        <a:cs typeface="Microsoft JhengHei"/>
                      </a:rPr>
                      <a:t>10.39%</a:t>
                    </a:r>
                  </a:p>
                </c:rich>
              </c:tx>
              <c:sp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7-8163-4A4C-B228-1ACC4DC1052B}"/>
                </c:ext>
                <c:ext xmlns:c15="http://schemas.microsoft.com/office/drawing/2012/chart" uri="{CE6537A1-D6FC-4f65-9D91-7224C49458BB}"/>
              </c:extLst>
            </c:dLbl>
            <c:spPr>
              <a:noFill/>
              <a:ln>
                <a:noFill/>
              </a:ln>
              <a:effectLst/>
            </c:spPr>
            <c:showLegendKey val="1"/>
            <c:showVal val="1"/>
            <c:showCatName val="1"/>
            <c:showSerName val="1"/>
            <c:showPercent val="1"/>
            <c:showBubbleSize val="1"/>
            <c:showLeaderLines val="1"/>
            <c:extLst xmlns:c16r2="http://schemas.microsoft.com/office/drawing/2015/06/chart">
              <c:ext xmlns:c15="http://schemas.microsoft.com/office/drawing/2012/chart" uri="{CE6537A1-D6FC-4f65-9D91-7224C49458BB}"/>
            </c:extLst>
          </c:dLbls>
          <c:cat>
            <c:strRef>
              <c:f>'Chart Data'!$A$2:$A$5</c:f>
              <c:strCache>
                <c:ptCount val="4"/>
                <c:pt idx="0">
                  <c:v>神達控股(股)公司</c:v>
                </c:pt>
                <c:pt idx="1">
                  <c:v>聯強國際(股)公司</c:v>
                </c:pt>
                <c:pt idx="2">
                  <c:v>Kelington Group Berhad</c:v>
                </c:pt>
                <c:pt idx="3">
                  <c:v>其他</c:v>
                </c:pt>
              </c:strCache>
            </c:strRef>
          </c:cat>
          <c:val>
            <c:numRef>
              <c:f>'Chart Data'!$B$2:$B$5</c:f>
              <c:numCache>
                <c:formatCode>General</c:formatCode>
                <c:ptCount val="4"/>
                <c:pt idx="0">
                  <c:v>19947</c:v>
                </c:pt>
                <c:pt idx="1">
                  <c:v>29198</c:v>
                </c:pt>
                <c:pt idx="2">
                  <c:v>2801</c:v>
                </c:pt>
                <c:pt idx="3">
                  <c:v>6021</c:v>
                </c:pt>
              </c:numCache>
            </c:numRef>
          </c:val>
          <c:extLst xmlns:c16r2="http://schemas.microsoft.com/office/drawing/2015/06/chart">
            <c:ext xmlns:c16="http://schemas.microsoft.com/office/drawing/2014/chart" uri="{C3380CC4-5D6E-409C-BE32-E72D297353CC}">
              <c16:uniqueId val="{00000008-8163-4A4C-B228-1ACC4DC1052B}"/>
            </c:ext>
          </c:extLst>
        </c:ser>
        <c:dLbls>
          <c:showLegendKey val="0"/>
          <c:showVal val="0"/>
          <c:showCatName val="0"/>
          <c:showSerName val="0"/>
          <c:showPercent val="0"/>
          <c:showBubbleSize val="0"/>
          <c:showLeaderLines val="1"/>
        </c:dLbls>
        <c:firstSliceAng val="270"/>
      </c:pieChart>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lang val="zh-TW"/>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v>持股占比</c:v>
          </c:tx>
          <c:dPt>
            <c:idx val="0"/>
            <c:bubble3D val="0"/>
            <c:spPr>
              <a:solidFill>
                <a:srgbClr val="154A8A"/>
              </a:solidFill>
            </c:spPr>
            <c:extLst xmlns:c16r2="http://schemas.microsoft.com/office/drawing/2015/06/chart">
              <c:ext xmlns:c16="http://schemas.microsoft.com/office/drawing/2014/chart" uri="{C3380CC4-5D6E-409C-BE32-E72D297353CC}">
                <c16:uniqueId val="{00000001-A187-47BC-A733-A7697BC5E955}"/>
              </c:ext>
            </c:extLst>
          </c:dPt>
          <c:dPt>
            <c:idx val="1"/>
            <c:bubble3D val="0"/>
            <c:spPr>
              <a:solidFill>
                <a:srgbClr val="F28E2B"/>
              </a:solidFill>
            </c:spPr>
            <c:extLst xmlns:c16r2="http://schemas.microsoft.com/office/drawing/2015/06/chart">
              <c:ext xmlns:c16="http://schemas.microsoft.com/office/drawing/2014/chart" uri="{C3380CC4-5D6E-409C-BE32-E72D297353CC}">
                <c16:uniqueId val="{00000003-A187-47BC-A733-A7697BC5E955}"/>
              </c:ext>
            </c:extLst>
          </c:dPt>
          <c:dPt>
            <c:idx val="2"/>
            <c:bubble3D val="0"/>
            <c:spPr>
              <a:solidFill>
                <a:srgbClr val="2E9D57"/>
              </a:solidFill>
            </c:spPr>
            <c:extLst xmlns:c16r2="http://schemas.microsoft.com/office/drawing/2015/06/chart">
              <c:ext xmlns:c16="http://schemas.microsoft.com/office/drawing/2014/chart" uri="{C3380CC4-5D6E-409C-BE32-E72D297353CC}">
                <c16:uniqueId val="{00000005-A187-47BC-A733-A7697BC5E955}"/>
              </c:ext>
            </c:extLst>
          </c:dPt>
          <c:dPt>
            <c:idx val="3"/>
            <c:bubble3D val="0"/>
            <c:spPr>
              <a:solidFill>
                <a:srgbClr val="7B4AB5"/>
              </a:solidFill>
            </c:spPr>
            <c:extLst xmlns:c16r2="http://schemas.microsoft.com/office/drawing/2015/06/chart">
              <c:ext xmlns:c16="http://schemas.microsoft.com/office/drawing/2014/chart" uri="{C3380CC4-5D6E-409C-BE32-E72D297353CC}">
                <c16:uniqueId val="{00000007-A187-47BC-A733-A7697BC5E955}"/>
              </c:ext>
            </c:extLst>
          </c:dPt>
          <c:dLbls>
            <c:dLbl>
              <c:idx val="0"/>
              <c:tx>
                <c:rich>
                  <a:bodyPr/>
                  <a:lstStyle/>
                  <a:p>
                    <a:r>
                      <a:rPr lang="en-US" altLang="zh-TW" sz="1275" b="1">
                        <a:solidFill>
                          <a:srgbClr val="FFFFFF"/>
                        </a:solidFill>
                        <a:latin typeface="Microsoft JhengHei"/>
                        <a:ea typeface="Microsoft JhengHei"/>
                        <a:cs typeface="Microsoft JhengHei"/>
                      </a:rPr>
                      <a:t>43.27%</a:t>
                    </a:r>
                  </a:p>
                </c:rich>
              </c:tx>
              <c:sp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1-A187-47BC-A733-A7697BC5E955}"/>
                </c:ext>
                <c:ext xmlns:c15="http://schemas.microsoft.com/office/drawing/2012/chart" uri="{CE6537A1-D6FC-4f65-9D91-7224C49458BB}"/>
              </c:extLst>
            </c:dLbl>
            <c:dLbl>
              <c:idx val="1"/>
              <c:tx>
                <c:rich>
                  <a:bodyPr/>
                  <a:lstStyle/>
                  <a:p>
                    <a:r>
                      <a:rPr lang="en-US" altLang="zh-TW" sz="1275" b="1">
                        <a:solidFill>
                          <a:srgbClr val="FFFFFF"/>
                        </a:solidFill>
                        <a:latin typeface="Microsoft JhengHei"/>
                        <a:ea typeface="Microsoft JhengHei"/>
                        <a:cs typeface="Microsoft JhengHei"/>
                      </a:rPr>
                      <a:t>40.74%</a:t>
                    </a:r>
                  </a:p>
                </c:rich>
              </c:tx>
              <c:sp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3-A187-47BC-A733-A7697BC5E955}"/>
                </c:ext>
                <c:ext xmlns:c15="http://schemas.microsoft.com/office/drawing/2012/chart" uri="{CE6537A1-D6FC-4f65-9D91-7224C49458BB}"/>
              </c:extLst>
            </c:dLbl>
            <c:dLbl>
              <c:idx val="2"/>
              <c:tx>
                <c:rich>
                  <a:bodyPr/>
                  <a:lstStyle/>
                  <a:p>
                    <a:endParaRPr lang="en-US" altLang="zh-TW"/>
                  </a:p>
                </c:rich>
              </c:tx>
              <c:sp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5-A187-47BC-A733-A7697BC5E955}"/>
                </c:ext>
                <c:ext xmlns:c15="http://schemas.microsoft.com/office/drawing/2012/chart" uri="{CE6537A1-D6FC-4f65-9D91-7224C49458BB}"/>
              </c:extLst>
            </c:dLbl>
            <c:dLbl>
              <c:idx val="3"/>
              <c:tx>
                <c:rich>
                  <a:bodyPr/>
                  <a:lstStyle/>
                  <a:p>
                    <a:r>
                      <a:rPr lang="en-US" altLang="zh-TW" sz="1275" b="1">
                        <a:solidFill>
                          <a:srgbClr val="FFFFFF"/>
                        </a:solidFill>
                        <a:latin typeface="Microsoft JhengHei"/>
                        <a:ea typeface="Microsoft JhengHei"/>
                        <a:cs typeface="Microsoft JhengHei"/>
                      </a:rPr>
                      <a:t>12.03%</a:t>
                    </a:r>
                  </a:p>
                </c:rich>
              </c:tx>
              <c:sp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7-A187-47BC-A733-A7697BC5E955}"/>
                </c:ext>
                <c:ext xmlns:c15="http://schemas.microsoft.com/office/drawing/2012/chart" uri="{CE6537A1-D6FC-4f65-9D91-7224C49458BB}"/>
              </c:extLst>
            </c:dLbl>
            <c:spPr>
              <a:noFill/>
              <a:ln>
                <a:noFill/>
              </a:ln>
              <a:effectLst/>
            </c:spPr>
            <c:showLegendKey val="1"/>
            <c:showVal val="1"/>
            <c:showCatName val="1"/>
            <c:showSerName val="1"/>
            <c:showPercent val="1"/>
            <c:showBubbleSize val="1"/>
            <c:showLeaderLines val="1"/>
            <c:extLst xmlns:c16r2="http://schemas.microsoft.com/office/drawing/2015/06/chart">
              <c:ext xmlns:c15="http://schemas.microsoft.com/office/drawing/2012/chart" uri="{CE6537A1-D6FC-4f65-9D91-7224C49458BB}"/>
            </c:extLst>
          </c:dLbls>
          <c:cat>
            <c:strRef>
              <c:f>'Chart Data'!$A$2:$A$5</c:f>
              <c:strCache>
                <c:ptCount val="4"/>
                <c:pt idx="0">
                  <c:v>神達控股(股)公司</c:v>
                </c:pt>
                <c:pt idx="1">
                  <c:v>聯強國際(股)公司</c:v>
                </c:pt>
                <c:pt idx="2">
                  <c:v>Kelington Group Berhad</c:v>
                </c:pt>
                <c:pt idx="3">
                  <c:v>其他</c:v>
                </c:pt>
              </c:strCache>
            </c:strRef>
          </c:cat>
          <c:val>
            <c:numRef>
              <c:f>'Chart Data'!$B$2:$B$5</c:f>
              <c:numCache>
                <c:formatCode>General</c:formatCode>
                <c:ptCount val="4"/>
                <c:pt idx="0">
                  <c:v>19709</c:v>
                </c:pt>
                <c:pt idx="1">
                  <c:v>18557</c:v>
                </c:pt>
                <c:pt idx="2">
                  <c:v>1803</c:v>
                </c:pt>
                <c:pt idx="3">
                  <c:v>5480</c:v>
                </c:pt>
              </c:numCache>
            </c:numRef>
          </c:val>
          <c:extLst xmlns:c16r2="http://schemas.microsoft.com/office/drawing/2015/06/chart">
            <c:ext xmlns:c16="http://schemas.microsoft.com/office/drawing/2014/chart" uri="{C3380CC4-5D6E-409C-BE32-E72D297353CC}">
              <c16:uniqueId val="{00000008-A187-47BC-A733-A7697BC5E955}"/>
            </c:ext>
          </c:extLst>
        </c:ser>
        <c:dLbls>
          <c:showLegendKey val="0"/>
          <c:showVal val="0"/>
          <c:showCatName val="0"/>
          <c:showSerName val="0"/>
          <c:showPercent val="0"/>
          <c:showBubbleSize val="0"/>
          <c:showLeaderLines val="1"/>
        </c:dLbls>
        <c:firstSliceAng val="270"/>
      </c:pieChart>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7.7098657706780968E-2"/>
          <c:y val="5.4138463824097462E-2"/>
          <c:w val="0.89776068698483358"/>
          <c:h val="0.7670344673896895"/>
        </c:manualLayout>
      </c:layout>
      <c:barChart>
        <c:barDir val="col"/>
        <c:grouping val="stacked"/>
        <c:varyColors val="0"/>
        <c:ser>
          <c:idx val="0"/>
          <c:order val="0"/>
          <c:tx>
            <c:strRef>
              <c:f>revenue!$C$1</c:f>
              <c:strCache>
                <c:ptCount val="1"/>
                <c:pt idx="0">
                  <c:v>麵食事業(台灣大陸)</c:v>
                </c:pt>
              </c:strCache>
            </c:strRef>
          </c:tx>
          <c:spPr>
            <a:solidFill>
              <a:srgbClr val="C0504D"/>
            </a:solidFill>
            <a:ln>
              <a:noFill/>
            </a:ln>
            <a:effectLst/>
          </c:spPr>
          <c:invertIfNegative val="0"/>
          <c:dLbls>
            <c:dLbl>
              <c:idx val="0"/>
              <c:tx>
                <c:rich>
                  <a:bodyPr/>
                  <a:lstStyle/>
                  <a:p>
                    <a:fld id="{1EC3DF00-72DA-44A8-8418-78C7B5E6CB75}"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1"/>
              <c:tx>
                <c:rich>
                  <a:bodyPr/>
                  <a:lstStyle/>
                  <a:p>
                    <a:fld id="{56785C88-3D59-4216-8243-2C3ECFFBE95C}"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2"/>
              <c:tx>
                <c:rich>
                  <a:bodyPr/>
                  <a:lstStyle/>
                  <a:p>
                    <a:fld id="{D98A01A1-977D-4160-8D17-8F8395EAF59B}"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3"/>
              <c:tx>
                <c:rich>
                  <a:bodyPr/>
                  <a:lstStyle/>
                  <a:p>
                    <a:fld id="{4CE2B9B3-D459-44E3-9302-C377A505DB7F}"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4"/>
              <c:tx>
                <c:rich>
                  <a:bodyPr/>
                  <a:lstStyle/>
                  <a:p>
                    <a:fld id="{A65E4F7A-E5EF-4F87-A2D9-7A0FFE406F6D}"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5"/>
              <c:tx>
                <c:rich>
                  <a:bodyPr/>
                  <a:lstStyle/>
                  <a:p>
                    <a:fld id="{F017DEB7-E0EB-41ED-A2BD-8716B021ADC0}"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C000"/>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0"/>
            <c:showCatName val="0"/>
            <c:showSerName val="0"/>
            <c:showPercent val="0"/>
            <c:showBubbleSize val="0"/>
            <c:showLeaderLines val="0"/>
            <c:extLst xmlns:c16r2="http://schemas.microsoft.com/office/drawing/2015/06/chart">
              <c:ext xmlns:c15="http://schemas.microsoft.com/office/drawing/2012/chart" uri="{CE6537A1-D6FC-4f65-9D91-7224C49458BB}">
                <c15:showDataLabelsRange val="1"/>
                <c15:showLeaderLines val="0"/>
              </c:ext>
            </c:extLst>
          </c:dLbls>
          <c:cat>
            <c:strRef>
              <c:f>revenue!$B$4:$B$11</c:f>
              <c:strCache>
                <c:ptCount val="6"/>
                <c:pt idx="0">
                  <c:v>110年實績</c:v>
                </c:pt>
                <c:pt idx="1">
                  <c:v>111年實績</c:v>
                </c:pt>
                <c:pt idx="2">
                  <c:v>112年實績</c:v>
                </c:pt>
                <c:pt idx="3">
                  <c:v>113年實績</c:v>
                </c:pt>
                <c:pt idx="4">
                  <c:v>114年實績</c:v>
                </c:pt>
                <c:pt idx="5">
                  <c:v>115Q2實績</c:v>
                </c:pt>
              </c:strCache>
            </c:strRef>
          </c:cat>
          <c:val>
            <c:numRef>
              <c:f>revenue!$C$4:$C$11</c:f>
              <c:numCache>
                <c:formatCode>_-* #,##0_-;\-* #,##0_-;_-* "-"??_-;_-@_-</c:formatCode>
                <c:ptCount val="6"/>
                <c:pt idx="0">
                  <c:v>4761</c:v>
                </c:pt>
                <c:pt idx="1">
                  <c:v>5816</c:v>
                </c:pt>
                <c:pt idx="2">
                  <c:v>5875</c:v>
                </c:pt>
                <c:pt idx="3">
                  <c:v>5548.9579999999996</c:v>
                </c:pt>
                <c:pt idx="4">
                  <c:v>5021</c:v>
                </c:pt>
                <c:pt idx="5">
                  <c:v>2402</c:v>
                </c:pt>
              </c:numCache>
            </c:numRef>
          </c:val>
          <c:extLst xmlns:c16r2="http://schemas.microsoft.com/office/drawing/2015/06/chart">
            <c:ext xmlns:c16="http://schemas.microsoft.com/office/drawing/2014/chart" uri="{C3380CC4-5D6E-409C-BE32-E72D297353CC}">
              <c16:uniqueId val="{00000006-CE18-462F-8A8E-565CC7240C4F}"/>
            </c:ext>
            <c:ext xmlns:c15="http://schemas.microsoft.com/office/drawing/2012/chart" uri="{02D57815-91ED-43cb-92C2-25804820EDAC}">
              <c15:datalabelsRange>
                <c15:f>revenue!$D$4:$D$11</c15:f>
                <c15:dlblRangeCache>
                  <c:ptCount val="8"/>
                  <c:pt idx="0">
                    <c:v>42%</c:v>
                  </c:pt>
                  <c:pt idx="1">
                    <c:v>47%</c:v>
                  </c:pt>
                  <c:pt idx="2">
                    <c:v>43%</c:v>
                  </c:pt>
                  <c:pt idx="3">
                    <c:v>43%</c:v>
                  </c:pt>
                  <c:pt idx="4">
                    <c:v>37%</c:v>
                  </c:pt>
                  <c:pt idx="5">
                    <c:v>52%</c:v>
                  </c:pt>
                  <c:pt idx="6">
                    <c:v>48%</c:v>
                  </c:pt>
                  <c:pt idx="7">
                    <c:v>48%</c:v>
                  </c:pt>
                </c15:dlblRangeCache>
              </c15:datalabelsRange>
            </c:ext>
          </c:extLst>
        </c:ser>
        <c:ser>
          <c:idx val="1"/>
          <c:order val="1"/>
          <c:tx>
            <c:strRef>
              <c:f>revenue!$E$1</c:f>
              <c:strCache>
                <c:ptCount val="1"/>
                <c:pt idx="0">
                  <c:v>資訊整合</c:v>
                </c:pt>
              </c:strCache>
            </c:strRef>
          </c:tx>
          <c:spPr>
            <a:solidFill>
              <a:srgbClr val="4F81BD"/>
            </a:solidFill>
            <a:ln>
              <a:noFill/>
            </a:ln>
            <a:effectLst/>
          </c:spPr>
          <c:invertIfNegative val="0"/>
          <c:dLbls>
            <c:dLbl>
              <c:idx val="0"/>
              <c:tx>
                <c:rich>
                  <a:bodyPr/>
                  <a:lstStyle/>
                  <a:p>
                    <a:fld id="{52DFE42E-71E0-4832-8C2F-FF8BCC4B0626}" type="CELLRANGE">
                      <a:rPr lang="en-US" altLang="zh-TW"/>
                      <a:pPr/>
                      <a:t>[CELLRANGE]</a:t>
                    </a:fld>
                    <a:endParaRPr lang="zh-TW" altLang="en-US"/>
                  </a:p>
                </c:rich>
              </c:tx>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07-CE18-462F-8A8E-565CC7240C4F}"/>
                </c:ext>
                <c:ext xmlns:c15="http://schemas.microsoft.com/office/drawing/2012/chart" uri="{CE6537A1-D6FC-4f65-9D91-7224C49458BB}">
                  <c15:dlblFieldTable/>
                  <c15:showDataLabelsRange val="1"/>
                </c:ext>
              </c:extLst>
            </c:dLbl>
            <c:dLbl>
              <c:idx val="1"/>
              <c:tx>
                <c:rich>
                  <a:bodyPr/>
                  <a:lstStyle/>
                  <a:p>
                    <a:fld id="{3D2A5459-EBA7-448F-A978-09AE4B9EE43B}"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2"/>
              <c:tx>
                <c:rich>
                  <a:bodyPr/>
                  <a:lstStyle/>
                  <a:p>
                    <a:fld id="{98289353-0D48-4C31-8D0E-9A3A10BCB946}"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3"/>
              <c:tx>
                <c:rich>
                  <a:bodyPr/>
                  <a:lstStyle/>
                  <a:p>
                    <a:fld id="{76EA8076-B976-4FAE-AE92-CF7CD5E77C3A}"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4"/>
              <c:tx>
                <c:rich>
                  <a:bodyPr/>
                  <a:lstStyle/>
                  <a:p>
                    <a:fld id="{10EA4A54-78BE-4BF9-BB27-EDBC9859DFC0}"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5"/>
              <c:tx>
                <c:rich>
                  <a:bodyPr/>
                  <a:lstStyle/>
                  <a:p>
                    <a:fld id="{214A74CA-430D-4015-B14F-31A9AF1FF7F0}"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bg1">
                        <a:lumMod val="95000"/>
                      </a:schemeClr>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0"/>
            <c:showCatName val="0"/>
            <c:showSerName val="0"/>
            <c:showPercent val="0"/>
            <c:showBubbleSize val="0"/>
            <c:showLeaderLines val="0"/>
            <c:extLst xmlns:c16r2="http://schemas.microsoft.com/office/drawing/2015/06/chart">
              <c:ext xmlns:c15="http://schemas.microsoft.com/office/drawing/2012/chart" uri="{CE6537A1-D6FC-4f65-9D91-7224C49458BB}">
                <c15:showDataLabelsRange val="1"/>
                <c15:showLeaderLines val="0"/>
              </c:ext>
            </c:extLst>
          </c:dLbls>
          <c:cat>
            <c:strRef>
              <c:f>revenue!$B$4:$B$11</c:f>
              <c:strCache>
                <c:ptCount val="6"/>
                <c:pt idx="0">
                  <c:v>110年實績</c:v>
                </c:pt>
                <c:pt idx="1">
                  <c:v>111年實績</c:v>
                </c:pt>
                <c:pt idx="2">
                  <c:v>112年實績</c:v>
                </c:pt>
                <c:pt idx="3">
                  <c:v>113年實績</c:v>
                </c:pt>
                <c:pt idx="4">
                  <c:v>114年實績</c:v>
                </c:pt>
                <c:pt idx="5">
                  <c:v>115Q2實績</c:v>
                </c:pt>
              </c:strCache>
            </c:strRef>
          </c:cat>
          <c:val>
            <c:numRef>
              <c:f>revenue!$E$4:$E$11</c:f>
              <c:numCache>
                <c:formatCode>_-* #,##0_-;\-* #,##0_-;_-* "-"??_-;_-@_-</c:formatCode>
                <c:ptCount val="6"/>
                <c:pt idx="0">
                  <c:v>4779</c:v>
                </c:pt>
                <c:pt idx="1">
                  <c:v>4218</c:v>
                </c:pt>
                <c:pt idx="2">
                  <c:v>5954</c:v>
                </c:pt>
                <c:pt idx="3">
                  <c:v>5711.799</c:v>
                </c:pt>
                <c:pt idx="4">
                  <c:v>6657</c:v>
                </c:pt>
                <c:pt idx="5">
                  <c:v>2326</c:v>
                </c:pt>
              </c:numCache>
            </c:numRef>
          </c:val>
          <c:extLst xmlns:c16r2="http://schemas.microsoft.com/office/drawing/2015/06/chart">
            <c:ext xmlns:c16="http://schemas.microsoft.com/office/drawing/2014/chart" uri="{C3380CC4-5D6E-409C-BE32-E72D297353CC}">
              <c16:uniqueId val="{0000000D-CE18-462F-8A8E-565CC7240C4F}"/>
            </c:ext>
            <c:ext xmlns:c15="http://schemas.microsoft.com/office/drawing/2012/chart" uri="{02D57815-91ED-43cb-92C2-25804820EDAC}">
              <c15:datalabelsRange>
                <c15:f>revenue!$F$4:$F$11</c15:f>
                <c15:dlblRangeCache>
                  <c:ptCount val="8"/>
                  <c:pt idx="0">
                    <c:v>42%</c:v>
                  </c:pt>
                  <c:pt idx="1">
                    <c:v>34%</c:v>
                  </c:pt>
                  <c:pt idx="2">
                    <c:v>44%</c:v>
                  </c:pt>
                  <c:pt idx="3">
                    <c:v>44%</c:v>
                  </c:pt>
                  <c:pt idx="4">
                    <c:v>49%</c:v>
                  </c:pt>
                  <c:pt idx="5">
                    <c:v>43%</c:v>
                  </c:pt>
                  <c:pt idx="6">
                    <c:v>46%</c:v>
                  </c:pt>
                  <c:pt idx="7">
                    <c:v>46%</c:v>
                  </c:pt>
                </c15:dlblRangeCache>
              </c15:datalabelsRange>
            </c:ext>
          </c:extLst>
        </c:ser>
        <c:ser>
          <c:idx val="2"/>
          <c:order val="2"/>
          <c:tx>
            <c:strRef>
              <c:f>revenue!$G$1</c:f>
              <c:strCache>
                <c:ptCount val="1"/>
                <c:pt idx="0">
                  <c:v>股利收入(神通)</c:v>
                </c:pt>
              </c:strCache>
            </c:strRef>
          </c:tx>
          <c:spPr>
            <a:solidFill>
              <a:schemeClr val="accent3"/>
            </a:solidFill>
            <a:ln>
              <a:noFill/>
            </a:ln>
            <a:effectLst/>
          </c:spPr>
          <c:invertIfNegative val="0"/>
          <c:dLbls>
            <c:dLbl>
              <c:idx val="0"/>
              <c:tx>
                <c:rich>
                  <a:bodyPr/>
                  <a:lstStyle/>
                  <a:p>
                    <a:fld id="{E0D43BDB-6807-4691-9942-0BE3FA05C668}"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1"/>
              <c:tx>
                <c:rich>
                  <a:bodyPr/>
                  <a:lstStyle/>
                  <a:p>
                    <a:fld id="{0F01A879-EA27-4627-AB85-DDD610657D5B}"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2"/>
              <c:tx>
                <c:rich>
                  <a:bodyPr/>
                  <a:lstStyle/>
                  <a:p>
                    <a:fld id="{830667DA-985C-44F7-8A12-36EFDD623566}"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3"/>
              <c:tx>
                <c:rich>
                  <a:bodyPr/>
                  <a:lstStyle/>
                  <a:p>
                    <a:fld id="{08869B55-D818-4451-889D-6A8913BE0E19}"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4"/>
              <c:tx>
                <c:rich>
                  <a:bodyPr/>
                  <a:lstStyle/>
                  <a:p>
                    <a:fld id="{1B0DCC14-A387-4F24-A5EB-44A5B38C6C57}"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5"/>
              <c:layout>
                <c:manualLayout>
                  <c:x val="-1.0185739771833163E-2"/>
                  <c:y val="0"/>
                </c:manualLayout>
              </c:layout>
              <c:tx>
                <c:rich>
                  <a:bodyPr/>
                  <a:lstStyle/>
                  <a:p>
                    <a:fld id="{603D255B-2AC5-4019-8BF9-826D50A67C4F}" type="CELLRANGE">
                      <a:rPr lang="en-US" altLang="zh-TW"/>
                      <a:pPr/>
                      <a:t>[CELLRANGE]</a:t>
                    </a:fld>
                    <a:endParaRPr lang="zh-TW" altLang="en-US"/>
                  </a:p>
                </c:rich>
              </c:tx>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13-CE18-462F-8A8E-565CC7240C4F}"/>
                </c:ext>
                <c:ext xmlns:c15="http://schemas.microsoft.com/office/drawing/2012/chart" uri="{CE6537A1-D6FC-4f65-9D91-7224C49458BB}">
                  <c15:dlblFieldTable/>
                  <c15:showDataLabelsRange val="1"/>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0"/>
            <c:showCatName val="0"/>
            <c:showSerName val="0"/>
            <c:showPercent val="0"/>
            <c:showBubbleSize val="0"/>
            <c:showLeaderLines val="0"/>
            <c:extLst xmlns:c16r2="http://schemas.microsoft.com/office/drawing/2015/06/char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revenue!$B$4:$B$11</c:f>
              <c:strCache>
                <c:ptCount val="6"/>
                <c:pt idx="0">
                  <c:v>110年實績</c:v>
                </c:pt>
                <c:pt idx="1">
                  <c:v>111年實績</c:v>
                </c:pt>
                <c:pt idx="2">
                  <c:v>112年實績</c:v>
                </c:pt>
                <c:pt idx="3">
                  <c:v>113年實績</c:v>
                </c:pt>
                <c:pt idx="4">
                  <c:v>114年實績</c:v>
                </c:pt>
                <c:pt idx="5">
                  <c:v>115Q2實績</c:v>
                </c:pt>
              </c:strCache>
            </c:strRef>
          </c:cat>
          <c:val>
            <c:numRef>
              <c:f>revenue!$G$4:$G$11</c:f>
              <c:numCache>
                <c:formatCode>_-* #,##0_-;\-* #,##0_-;_-* "-"??_-;_-@_-</c:formatCode>
                <c:ptCount val="6"/>
                <c:pt idx="0">
                  <c:v>1047</c:v>
                </c:pt>
                <c:pt idx="1">
                  <c:v>1614</c:v>
                </c:pt>
                <c:pt idx="2">
                  <c:v>1145</c:v>
                </c:pt>
                <c:pt idx="3">
                  <c:v>1073.7070000000001</c:v>
                </c:pt>
                <c:pt idx="4">
                  <c:v>1444</c:v>
                </c:pt>
                <c:pt idx="5">
                  <c:v>59</c:v>
                </c:pt>
              </c:numCache>
            </c:numRef>
          </c:val>
          <c:extLst xmlns:c16r2="http://schemas.microsoft.com/office/drawing/2015/06/chart">
            <c:ext xmlns:c16="http://schemas.microsoft.com/office/drawing/2014/chart" uri="{C3380CC4-5D6E-409C-BE32-E72D297353CC}">
              <c16:uniqueId val="{00000014-CE18-462F-8A8E-565CC7240C4F}"/>
            </c:ext>
            <c:ext xmlns:c15="http://schemas.microsoft.com/office/drawing/2012/chart" uri="{02D57815-91ED-43cb-92C2-25804820EDAC}">
              <c15:datalabelsRange>
                <c15:f>revenue!$H$4:$H$11</c15:f>
                <c15:dlblRangeCache>
                  <c:ptCount val="8"/>
                  <c:pt idx="0">
                    <c:v>9%</c:v>
                  </c:pt>
                  <c:pt idx="1">
                    <c:v>13%</c:v>
                  </c:pt>
                  <c:pt idx="2">
                    <c:v>8%</c:v>
                  </c:pt>
                  <c:pt idx="3">
                    <c:v>8%</c:v>
                  </c:pt>
                  <c:pt idx="4">
                    <c:v>11%</c:v>
                  </c:pt>
                  <c:pt idx="5">
                    <c:v>0%</c:v>
                  </c:pt>
                  <c:pt idx="6">
                    <c:v>2%</c:v>
                  </c:pt>
                  <c:pt idx="7">
                    <c:v>1%</c:v>
                  </c:pt>
                </c15:dlblRangeCache>
              </c15:datalabelsRange>
            </c:ext>
          </c:extLst>
        </c:ser>
        <c:ser>
          <c:idx val="3"/>
          <c:order val="3"/>
          <c:tx>
            <c:strRef>
              <c:f>revenue!$I$1</c:f>
              <c:strCache>
                <c:ptCount val="1"/>
                <c:pt idx="0">
                  <c:v>租賃事業(台灣大陸)</c:v>
                </c:pt>
              </c:strCache>
            </c:strRef>
          </c:tx>
          <c:spPr>
            <a:solidFill>
              <a:srgbClr val="F79646">
                <a:lumMod val="50000"/>
              </a:srgbClr>
            </a:solidFill>
            <a:ln>
              <a:noFill/>
            </a:ln>
            <a:effectLst/>
          </c:spPr>
          <c:invertIfNegative val="0"/>
          <c:dLbls>
            <c:dLbl>
              <c:idx val="0"/>
              <c:tx>
                <c:rich>
                  <a:bodyPr/>
                  <a:lstStyle/>
                  <a:p>
                    <a:fld id="{8A2AC64D-8358-40D1-BAC9-3BD02E9885AB}"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1"/>
              <c:tx>
                <c:rich>
                  <a:bodyPr/>
                  <a:lstStyle/>
                  <a:p>
                    <a:fld id="{7F251DEA-0645-4173-8455-9F8F89A190C6}"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2"/>
              <c:tx>
                <c:rich>
                  <a:bodyPr/>
                  <a:lstStyle/>
                  <a:p>
                    <a:fld id="{27900A78-B1C2-45C1-ABA8-52075B958AA1}"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3"/>
              <c:tx>
                <c:rich>
                  <a:bodyPr/>
                  <a:lstStyle/>
                  <a:p>
                    <a:fld id="{5F4C65B4-F42B-4AEF-A888-23E4B5AFD3A7}"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4"/>
              <c:tx>
                <c:rich>
                  <a:bodyPr/>
                  <a:lstStyle/>
                  <a:p>
                    <a:fld id="{8497CAE3-DEBC-4B8B-86E7-58CF2C1AA4E7}"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5"/>
              <c:layout>
                <c:manualLayout>
                  <c:x val="7.1300178402831094E-3"/>
                  <c:y val="-1.1695672914574159E-16"/>
                </c:manualLayout>
              </c:layout>
              <c:tx>
                <c:rich>
                  <a:bodyPr rot="0" spcFirstLastPara="1" vertOverflow="ellipsis" vert="horz" wrap="square" lIns="38100" tIns="19050" rIns="38100" bIns="19050" anchor="ctr" anchorCtr="1">
                    <a:noAutofit/>
                  </a:bodyPr>
                  <a:lstStyle/>
                  <a:p>
                    <a:pPr>
                      <a:defRPr sz="9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fld id="{DA6CAF97-D5FA-463A-AFC6-57534BC721F9}" type="CELLRANGE">
                      <a:rPr lang="en-US" altLang="zh-TW"/>
                      <a:pPr>
                        <a:defRPr>
                          <a:solidFill>
                            <a:sysClr val="windowText" lastClr="000000"/>
                          </a:solidFill>
                        </a:defRPr>
                      </a:pPr>
                      <a:t>[CELLRANGE]</a:t>
                    </a:fld>
                    <a:endParaRPr lang="zh-TW" altLang="en-US"/>
                  </a:p>
                </c:rich>
              </c:tx>
              <c:spPr>
                <a:noFill/>
                <a:ln>
                  <a:noFill/>
                </a:ln>
                <a:effectLst/>
              </c:spPr>
              <c:txPr>
                <a:bodyPr rot="0" spcFirstLastPara="1" vertOverflow="ellipsis" vert="horz" wrap="square" lIns="38100" tIns="19050" rIns="38100" bIns="19050" anchor="ctr" anchorCtr="1">
                  <a:noAutofit/>
                </a:bodyPr>
                <a:lstStyle/>
                <a:p>
                  <a:pPr>
                    <a:defRPr sz="9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1A-CE18-462F-8A8E-565CC7240C4F}"/>
                </c:ext>
                <c:ext xmlns:c15="http://schemas.microsoft.com/office/drawing/2012/chart" uri="{CE6537A1-D6FC-4f65-9D91-7224C49458BB}">
                  <c15:layout>
                    <c:manualLayout>
                      <c:w val="2.3916116984263915E-2"/>
                      <c:h val="3.2790792678156273E-2"/>
                    </c:manualLayout>
                  </c15:layout>
                  <c15:dlblFieldTable/>
                  <c15:showDataLabelsRange val="1"/>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0"/>
            <c:showCatName val="0"/>
            <c:showSerName val="0"/>
            <c:showPercent val="0"/>
            <c:showBubbleSize val="0"/>
            <c:showLeaderLines val="0"/>
            <c:extLst xmlns:c16r2="http://schemas.microsoft.com/office/drawing/2015/06/chart">
              <c:ext xmlns:c15="http://schemas.microsoft.com/office/drawing/2012/chart" uri="{CE6537A1-D6FC-4f65-9D91-7224C49458BB}">
                <c15:showDataLabelsRange val="1"/>
                <c15:showLeaderLines val="0"/>
              </c:ext>
            </c:extLst>
          </c:dLbls>
          <c:cat>
            <c:strRef>
              <c:f>revenue!$B$4:$B$11</c:f>
              <c:strCache>
                <c:ptCount val="6"/>
                <c:pt idx="0">
                  <c:v>110年實績</c:v>
                </c:pt>
                <c:pt idx="1">
                  <c:v>111年實績</c:v>
                </c:pt>
                <c:pt idx="2">
                  <c:v>112年實績</c:v>
                </c:pt>
                <c:pt idx="3">
                  <c:v>113年實績</c:v>
                </c:pt>
                <c:pt idx="4">
                  <c:v>114年實績</c:v>
                </c:pt>
                <c:pt idx="5">
                  <c:v>115Q2實績</c:v>
                </c:pt>
              </c:strCache>
            </c:strRef>
          </c:cat>
          <c:val>
            <c:numRef>
              <c:f>revenue!$I$4:$I$11</c:f>
              <c:numCache>
                <c:formatCode>_-* #,##0_-;\-* #,##0_-;_-* "-"??_-;_-@_-</c:formatCode>
                <c:ptCount val="6"/>
                <c:pt idx="0">
                  <c:v>341</c:v>
                </c:pt>
                <c:pt idx="1">
                  <c:v>335</c:v>
                </c:pt>
                <c:pt idx="2">
                  <c:v>346</c:v>
                </c:pt>
                <c:pt idx="3">
                  <c:v>377.017</c:v>
                </c:pt>
                <c:pt idx="4">
                  <c:v>387</c:v>
                </c:pt>
                <c:pt idx="5">
                  <c:v>236</c:v>
                </c:pt>
              </c:numCache>
            </c:numRef>
          </c:val>
          <c:extLst xmlns:c16r2="http://schemas.microsoft.com/office/drawing/2015/06/chart">
            <c:ext xmlns:c16="http://schemas.microsoft.com/office/drawing/2014/chart" uri="{C3380CC4-5D6E-409C-BE32-E72D297353CC}">
              <c16:uniqueId val="{0000001B-CE18-462F-8A8E-565CC7240C4F}"/>
            </c:ext>
            <c:ext xmlns:c15="http://schemas.microsoft.com/office/drawing/2012/chart" uri="{02D57815-91ED-43cb-92C2-25804820EDAC}">
              <c15:datalabelsRange>
                <c15:f>revenue!$J$4:$J$11</c15:f>
                <c15:dlblRangeCache>
                  <c:ptCount val="8"/>
                  <c:pt idx="0">
                    <c:v>3%</c:v>
                  </c:pt>
                  <c:pt idx="1">
                    <c:v>3%</c:v>
                  </c:pt>
                  <c:pt idx="2">
                    <c:v>3%</c:v>
                  </c:pt>
                  <c:pt idx="3">
                    <c:v>3%</c:v>
                  </c:pt>
                  <c:pt idx="4">
                    <c:v>3%</c:v>
                  </c:pt>
                  <c:pt idx="5">
                    <c:v>4%</c:v>
                  </c:pt>
                  <c:pt idx="6">
                    <c:v>4%</c:v>
                  </c:pt>
                  <c:pt idx="7">
                    <c:v>5%</c:v>
                  </c:pt>
                </c15:dlblRangeCache>
              </c15:datalabelsRange>
            </c:ext>
          </c:extLst>
        </c:ser>
        <c:ser>
          <c:idx val="4"/>
          <c:order val="4"/>
          <c:tx>
            <c:strRef>
              <c:f>revenue!$K$1</c:f>
              <c:strCache>
                <c:ptCount val="1"/>
                <c:pt idx="0">
                  <c:v>食品通路</c:v>
                </c:pt>
              </c:strCache>
            </c:strRef>
          </c:tx>
          <c:spPr>
            <a:solidFill>
              <a:sysClr val="window" lastClr="FFFFFF">
                <a:lumMod val="50000"/>
              </a:sysClr>
            </a:solidFill>
            <a:ln>
              <a:noFill/>
            </a:ln>
            <a:effectLst/>
          </c:spPr>
          <c:invertIfNegative val="0"/>
          <c:dLbls>
            <c:dLbl>
              <c:idx val="0"/>
              <c:tx>
                <c:rich>
                  <a:bodyPr/>
                  <a:lstStyle/>
                  <a:p>
                    <a:fld id="{334B1E66-F2D8-486E-A5A7-BE9EAA130706}"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1"/>
              <c:tx>
                <c:rich>
                  <a:bodyPr/>
                  <a:lstStyle/>
                  <a:p>
                    <a:fld id="{EF0A44C1-FFCE-4783-A811-4EE1E1799691}"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2"/>
              <c:tx>
                <c:rich>
                  <a:bodyPr/>
                  <a:lstStyle/>
                  <a:p>
                    <a:fld id="{6BC03CE8-C1C6-458A-9926-CB0421DB7A60}"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3"/>
              <c:tx>
                <c:rich>
                  <a:bodyPr/>
                  <a:lstStyle/>
                  <a:p>
                    <a:fld id="{5CCB02AD-BCD6-4B70-A383-F13E7673736D}" type="CELLRANGE">
                      <a:rPr lang="zh-TW" altLang="en-US"/>
                      <a:pPr/>
                      <a:t>[CELLRANGE]</a:t>
                    </a:fld>
                    <a:endParaRPr lang="zh-TW" altLang="en-US"/>
                  </a:p>
                </c:rich>
              </c:tx>
              <c:dLblPos val="ctr"/>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Lst>
            </c:dLbl>
            <c:dLbl>
              <c:idx val="4"/>
              <c:delete val="1"/>
              <c:extLst xmlns:c16r2="http://schemas.microsoft.com/office/drawing/2015/06/chart" xmlns:c15="http://schemas.microsoft.com/office/drawing/2012/chart">
                <c:ext xmlns:c16="http://schemas.microsoft.com/office/drawing/2014/chart" uri="{C3380CC4-5D6E-409C-BE32-E72D297353CC}">
                  <c16:uniqueId val="{00000020-CE18-462F-8A8E-565CC7240C4F}"/>
                </c:ext>
                <c:ext xmlns:c15="http://schemas.microsoft.com/office/drawing/2012/chart" uri="{CE6537A1-D6FC-4f65-9D91-7224C49458BB}"/>
              </c:extLst>
            </c:dLbl>
            <c:dLbl>
              <c:idx val="5"/>
              <c:layout>
                <c:manualLayout>
                  <c:x val="5.9077290676631325E-2"/>
                  <c:y val="-9.5692974741701173E-3"/>
                </c:manualLayout>
              </c:layout>
              <c:tx>
                <c:rich>
                  <a:bodyPr/>
                  <a:lstStyle/>
                  <a:p>
                    <a:fld id="{496DD507-125B-415D-88FE-997F078BA161}" type="CELLRANGE">
                      <a:rPr lang="en-US" altLang="zh-TW">
                        <a:solidFill>
                          <a:schemeClr val="bg1"/>
                        </a:solidFill>
                      </a:rPr>
                      <a:pPr/>
                      <a:t>[CELLRANGE]</a:t>
                    </a:fld>
                    <a:endParaRPr lang="zh-TW" altLang="en-US"/>
                  </a:p>
                </c:rich>
              </c:tx>
              <c:dLblPos val="ctr"/>
              <c:showLegendKey val="0"/>
              <c:showVal val="0"/>
              <c:showCatName val="0"/>
              <c:showSerName val="0"/>
              <c:showPercent val="0"/>
              <c:showBubbleSize val="0"/>
              <c:extLst xmlns:c16r2="http://schemas.microsoft.com/office/drawing/2015/06/chart">
                <c:ext xmlns:c16="http://schemas.microsoft.com/office/drawing/2014/chart" uri="{C3380CC4-5D6E-409C-BE32-E72D297353CC}">
                  <c16:uniqueId val="{00000021-CE18-462F-8A8E-565CC7240C4F}"/>
                </c:ext>
                <c:ext xmlns:c15="http://schemas.microsoft.com/office/drawing/2012/chart" uri="{CE6537A1-D6FC-4f65-9D91-7224C49458BB}">
                  <c15:dlblFieldTable/>
                  <c15:showDataLabelsRange val="1"/>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0"/>
            <c:showCatName val="0"/>
            <c:showSerName val="0"/>
            <c:showPercent val="0"/>
            <c:showBubbleSize val="0"/>
            <c:showLeaderLines val="0"/>
            <c:extLst xmlns:c16r2="http://schemas.microsoft.com/office/drawing/2015/06/chart">
              <c:ext xmlns:c15="http://schemas.microsoft.com/office/drawing/2012/chart" uri="{CE6537A1-D6FC-4f65-9D91-7224C49458BB}">
                <c15:showDataLabelsRange val="1"/>
                <c15:showLeaderLines val="0"/>
              </c:ext>
            </c:extLst>
          </c:dLbls>
          <c:cat>
            <c:strRef>
              <c:f>revenue!$B$4:$B$11</c:f>
              <c:strCache>
                <c:ptCount val="6"/>
                <c:pt idx="0">
                  <c:v>110年實績</c:v>
                </c:pt>
                <c:pt idx="1">
                  <c:v>111年實績</c:v>
                </c:pt>
                <c:pt idx="2">
                  <c:v>112年實績</c:v>
                </c:pt>
                <c:pt idx="3">
                  <c:v>113年實績</c:v>
                </c:pt>
                <c:pt idx="4">
                  <c:v>114年實績</c:v>
                </c:pt>
                <c:pt idx="5">
                  <c:v>115Q2實績</c:v>
                </c:pt>
              </c:strCache>
            </c:strRef>
          </c:cat>
          <c:val>
            <c:numRef>
              <c:f>revenue!$K$4:$K$11</c:f>
              <c:numCache>
                <c:formatCode>_-* #,##0_-;\-* #,##0_-;_-* "-"??_-;_-@_-</c:formatCode>
                <c:ptCount val="6"/>
                <c:pt idx="0">
                  <c:v>395</c:v>
                </c:pt>
                <c:pt idx="1">
                  <c:v>343</c:v>
                </c:pt>
                <c:pt idx="2">
                  <c:v>278</c:v>
                </c:pt>
                <c:pt idx="3">
                  <c:v>186.51400000000001</c:v>
                </c:pt>
                <c:pt idx="4">
                  <c:v>9</c:v>
                </c:pt>
                <c:pt idx="5">
                  <c:v>4</c:v>
                </c:pt>
              </c:numCache>
            </c:numRef>
          </c:val>
          <c:extLst xmlns:c16r2="http://schemas.microsoft.com/office/drawing/2015/06/chart">
            <c:ext xmlns:c16="http://schemas.microsoft.com/office/drawing/2014/chart" uri="{C3380CC4-5D6E-409C-BE32-E72D297353CC}">
              <c16:uniqueId val="{00000022-CE18-462F-8A8E-565CC7240C4F}"/>
            </c:ext>
            <c:ext xmlns:c15="http://schemas.microsoft.com/office/drawing/2012/chart" uri="{02D57815-91ED-43cb-92C2-25804820EDAC}">
              <c15:datalabelsRange>
                <c15:f>revenue!$L$4:$L$11</c15:f>
                <c15:dlblRangeCache>
                  <c:ptCount val="8"/>
                  <c:pt idx="0">
                    <c:v>4%</c:v>
                  </c:pt>
                  <c:pt idx="1">
                    <c:v>3%</c:v>
                  </c:pt>
                  <c:pt idx="2">
                    <c:v>2%</c:v>
                  </c:pt>
                  <c:pt idx="3">
                    <c:v>2%</c:v>
                  </c:pt>
                  <c:pt idx="4">
                    <c:v>0%</c:v>
                  </c:pt>
                  <c:pt idx="5">
                    <c:v>0%</c:v>
                  </c:pt>
                  <c:pt idx="6">
                    <c:v>0%</c:v>
                  </c:pt>
                  <c:pt idx="7">
                    <c:v>0%</c:v>
                  </c:pt>
                </c15:dlblRangeCache>
              </c15:datalabelsRange>
            </c:ext>
          </c:extLst>
        </c:ser>
        <c:ser>
          <c:idx val="6"/>
          <c:order val="5"/>
          <c:tx>
            <c:strRef>
              <c:f>revenue!$M$1</c:f>
              <c:strCache>
                <c:ptCount val="1"/>
                <c:pt idx="0">
                  <c:v>新能源</c:v>
                </c:pt>
              </c:strCache>
            </c:strRef>
          </c:tx>
          <c:spPr>
            <a:solidFill>
              <a:srgbClr val="4F81BD">
                <a:lumMod val="60000"/>
                <a:lumOff val="40000"/>
              </a:srgbClr>
            </a:solidFill>
            <a:ln>
              <a:noFill/>
            </a:ln>
            <a:effectLst/>
          </c:spPr>
          <c:invertIfNegative val="0"/>
          <c:dLbls>
            <c:dLbl>
              <c:idx val="0"/>
              <c:tx>
                <c:rich>
                  <a:bodyPr/>
                  <a:lstStyle/>
                  <a:p>
                    <a:endParaRPr lang="zh-TW" altLang="en-US"/>
                  </a:p>
                </c:rich>
              </c:tx>
              <c:dLblPos val="ctr"/>
              <c:showLegendKey val="0"/>
              <c:showVal val="0"/>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3-CE18-462F-8A8E-565CC7240C4F}"/>
                </c:ext>
                <c:ext xmlns:c15="http://schemas.microsoft.com/office/drawing/2012/chart" uri="{CE6537A1-D6FC-4f65-9D91-7224C49458BB}"/>
              </c:extLst>
            </c:dLbl>
            <c:dLbl>
              <c:idx val="1"/>
              <c:tx>
                <c:rich>
                  <a:bodyPr/>
                  <a:lstStyle/>
                  <a:p>
                    <a:endParaRPr lang="zh-TW" altLang="en-US"/>
                  </a:p>
                </c:rich>
              </c:tx>
              <c:dLblPos val="ctr"/>
              <c:showLegendKey val="0"/>
              <c:showVal val="0"/>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4-CE18-462F-8A8E-565CC7240C4F}"/>
                </c:ext>
                <c:ext xmlns:c15="http://schemas.microsoft.com/office/drawing/2012/chart" uri="{CE6537A1-D6FC-4f65-9D91-7224C49458BB}"/>
              </c:extLst>
            </c:dLbl>
            <c:dLbl>
              <c:idx val="2"/>
              <c:tx>
                <c:rich>
                  <a:bodyPr/>
                  <a:lstStyle/>
                  <a:p>
                    <a:endParaRPr lang="zh-TW" altLang="en-US"/>
                  </a:p>
                </c:rich>
              </c:tx>
              <c:dLblPos val="ctr"/>
              <c:showLegendKey val="0"/>
              <c:showVal val="0"/>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5-CE18-462F-8A8E-565CC7240C4F}"/>
                </c:ext>
                <c:ext xmlns:c15="http://schemas.microsoft.com/office/drawing/2012/chart" uri="{CE6537A1-D6FC-4f65-9D91-7224C49458BB}"/>
              </c:extLst>
            </c:dLbl>
            <c:dLbl>
              <c:idx val="3"/>
              <c:tx>
                <c:rich>
                  <a:bodyPr/>
                  <a:lstStyle/>
                  <a:p>
                    <a:endParaRPr lang="en-US" altLang="zh-TW"/>
                  </a:p>
                </c:rich>
              </c:tx>
              <c:dLblPos val="ctr"/>
              <c:showLegendKey val="0"/>
              <c:showVal val="0"/>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6-CE18-462F-8A8E-565CC7240C4F}"/>
                </c:ext>
                <c:ext xmlns:c15="http://schemas.microsoft.com/office/drawing/2012/chart" uri="{CE6537A1-D6FC-4f65-9D91-7224C49458BB}"/>
              </c:extLst>
            </c:dLbl>
            <c:dLbl>
              <c:idx val="4"/>
              <c:delete val="1"/>
              <c:extLst xmlns:c16r2="http://schemas.microsoft.com/office/drawing/2015/06/chart" xmlns:c15="http://schemas.microsoft.com/office/drawing/2012/chart">
                <c:ext xmlns:c16="http://schemas.microsoft.com/office/drawing/2014/chart" uri="{C3380CC4-5D6E-409C-BE32-E72D297353CC}">
                  <c16:uniqueId val="{00000027-CE18-462F-8A8E-565CC7240C4F}"/>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0"/>
            <c:showCatName val="0"/>
            <c:showSerName val="0"/>
            <c:showPercent val="0"/>
            <c:showBubbleSize val="0"/>
            <c:showLeaderLines val="0"/>
            <c:extLst xmlns:c16r2="http://schemas.microsoft.com/office/drawing/2015/06/chart">
              <c:ext xmlns:c15="http://schemas.microsoft.com/office/drawing/2012/chart" uri="{CE6537A1-D6FC-4f65-9D91-7224C49458BB}">
                <c15:showDataLabelsRange val="1"/>
                <c15:showLeaderLines val="0"/>
              </c:ext>
            </c:extLst>
          </c:dLbls>
          <c:cat>
            <c:strRef>
              <c:f>revenue!$B$4:$B$11</c:f>
              <c:strCache>
                <c:ptCount val="6"/>
                <c:pt idx="0">
                  <c:v>110年實績</c:v>
                </c:pt>
                <c:pt idx="1">
                  <c:v>111年實績</c:v>
                </c:pt>
                <c:pt idx="2">
                  <c:v>112年實績</c:v>
                </c:pt>
                <c:pt idx="3">
                  <c:v>113年實績</c:v>
                </c:pt>
                <c:pt idx="4">
                  <c:v>114年實績</c:v>
                </c:pt>
                <c:pt idx="5">
                  <c:v>115Q2實績</c:v>
                </c:pt>
              </c:strCache>
            </c:strRef>
          </c:cat>
          <c:val>
            <c:numRef>
              <c:f>revenue!$M$4:$M$11</c:f>
              <c:numCache>
                <c:formatCode>General</c:formatCode>
                <c:ptCount val="6"/>
                <c:pt idx="3" formatCode="_-* #,##0_-;\-* #,##0_-;_-* &quot;-&quot;??_-;_-@_-">
                  <c:v>48.747</c:v>
                </c:pt>
                <c:pt idx="4" formatCode="_-* #,##0_-;\-* #,##0_-;_-* &quot;-&quot;??_-;_-@_-">
                  <c:v>66</c:v>
                </c:pt>
                <c:pt idx="5" formatCode="_-* #,##0_-;\-* #,##0_-;_-* &quot;-&quot;??_-;_-@_-">
                  <c:v>7</c:v>
                </c:pt>
              </c:numCache>
            </c:numRef>
          </c:val>
          <c:extLst xmlns:c16r2="http://schemas.microsoft.com/office/drawing/2015/06/chart">
            <c:ext xmlns:c16="http://schemas.microsoft.com/office/drawing/2014/chart" uri="{C3380CC4-5D6E-409C-BE32-E72D297353CC}">
              <c16:uniqueId val="{00000028-CE18-462F-8A8E-565CC7240C4F}"/>
            </c:ext>
          </c:extLst>
        </c:ser>
        <c:dLbls>
          <c:dLblPos val="ctr"/>
          <c:showLegendKey val="0"/>
          <c:showVal val="1"/>
          <c:showCatName val="0"/>
          <c:showSerName val="0"/>
          <c:showPercent val="0"/>
          <c:showBubbleSize val="0"/>
        </c:dLbls>
        <c:gapWidth val="150"/>
        <c:overlap val="100"/>
        <c:axId val="-2005885472"/>
        <c:axId val="-2005892000"/>
      </c:barChart>
      <c:lineChart>
        <c:grouping val="stacked"/>
        <c:varyColors val="0"/>
        <c:ser>
          <c:idx val="5"/>
          <c:order val="6"/>
          <c:tx>
            <c:strRef>
              <c:f>revenue!$O$1</c:f>
              <c:strCache>
                <c:ptCount val="1"/>
                <c:pt idx="0">
                  <c:v>合併營收</c:v>
                </c:pt>
              </c:strCache>
            </c:strRef>
          </c:tx>
          <c:spPr>
            <a:ln w="28575" cap="rnd">
              <a:noFill/>
              <a:round/>
            </a:ln>
            <a:effectLst/>
          </c:spPr>
          <c:marker>
            <c:symbol val="circle"/>
            <c:size val="5"/>
            <c:spPr>
              <a:solidFill>
                <a:srgbClr val="FFC000"/>
              </a:solidFill>
              <a:ln w="9525">
                <a:solidFill>
                  <a:schemeClr val="accent6"/>
                </a:solidFill>
              </a:ln>
              <a:effectLst/>
            </c:spPr>
          </c:marker>
          <c:dLbls>
            <c:dLbl>
              <c:idx val="0"/>
              <c:layout>
                <c:manualLayout>
                  <c:x val="-3.2006021419414984E-2"/>
                  <c:y val="-3.5876147789551081E-2"/>
                </c:manualLayout>
              </c:layout>
              <c:dLblPos val="r"/>
              <c:showLegendKey val="0"/>
              <c:showVal val="1"/>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9-CE18-462F-8A8E-565CC7240C4F}"/>
                </c:ext>
                <c:ext xmlns:c15="http://schemas.microsoft.com/office/drawing/2012/chart" uri="{CE6537A1-D6FC-4f65-9D91-7224C49458BB}"/>
              </c:extLst>
            </c:dLbl>
            <c:dLbl>
              <c:idx val="1"/>
              <c:layout>
                <c:manualLayout>
                  <c:x val="-3.0911930253183773E-2"/>
                  <c:y val="-3.8438729774518995E-2"/>
                </c:manualLayout>
              </c:layout>
              <c:dLblPos val="r"/>
              <c:showLegendKey val="0"/>
              <c:showVal val="1"/>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A-CE18-462F-8A8E-565CC7240C4F}"/>
                </c:ext>
                <c:ext xmlns:c15="http://schemas.microsoft.com/office/drawing/2012/chart" uri="{CE6537A1-D6FC-4f65-9D91-7224C49458BB}"/>
              </c:extLst>
            </c:dLbl>
            <c:dLbl>
              <c:idx val="2"/>
              <c:layout>
                <c:manualLayout>
                  <c:x val="-2.5561542185745589E-2"/>
                  <c:y val="-3.8438729774519016E-2"/>
                </c:manualLayout>
              </c:layout>
              <c:dLblPos val="r"/>
              <c:showLegendKey val="0"/>
              <c:showVal val="1"/>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B-CE18-462F-8A8E-565CC7240C4F}"/>
                </c:ext>
                <c:ext xmlns:c15="http://schemas.microsoft.com/office/drawing/2012/chart" uri="{CE6537A1-D6FC-4f65-9D91-7224C49458BB}"/>
              </c:extLst>
            </c:dLbl>
            <c:dLbl>
              <c:idx val="3"/>
              <c:layout>
                <c:manualLayout>
                  <c:x val="-2.7496866020721836E-2"/>
                  <c:y val="-5.9748314093454338E-2"/>
                </c:manualLayout>
              </c:layout>
              <c:dLblPos val="r"/>
              <c:showLegendKey val="0"/>
              <c:showVal val="1"/>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C-CE18-462F-8A8E-565CC7240C4F}"/>
                </c:ext>
                <c:ext xmlns:c15="http://schemas.microsoft.com/office/drawing/2012/chart" uri="{CE6537A1-D6FC-4f65-9D91-7224C49458BB}"/>
              </c:extLst>
            </c:dLbl>
            <c:dLbl>
              <c:idx val="4"/>
              <c:layout>
                <c:manualLayout>
                  <c:x val="-4.0778666552906156E-2"/>
                  <c:y val="-4.6788223991492461E-2"/>
                </c:manualLayout>
              </c:layout>
              <c:dLblPos val="r"/>
              <c:showLegendKey val="0"/>
              <c:showVal val="1"/>
              <c:showCatName val="0"/>
              <c:showSerName val="0"/>
              <c:showPercent val="0"/>
              <c:showBubbleSize val="0"/>
              <c:extLst xmlns:c16r2="http://schemas.microsoft.com/office/drawing/2015/06/chart" xmlns:c15="http://schemas.microsoft.com/office/drawing/2012/chart">
                <c:ext xmlns:c16="http://schemas.microsoft.com/office/drawing/2014/chart" uri="{C3380CC4-5D6E-409C-BE32-E72D297353CC}">
                  <c16:uniqueId val="{0000002D-CE18-462F-8A8E-565CC7240C4F}"/>
                </c:ext>
                <c:ext xmlns:c15="http://schemas.microsoft.com/office/drawing/2012/chart" uri="{CE6537A1-D6FC-4f65-9D91-7224C49458BB}"/>
              </c:extLst>
            </c:dLbl>
            <c:dLbl>
              <c:idx val="5"/>
              <c:layout>
                <c:manualLayout>
                  <c:x val="-2.7409504915301162E-2"/>
                  <c:y val="-2.3604015940289592E-2"/>
                </c:manualLayout>
              </c:layout>
              <c:dLblPos val="r"/>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2E-CE18-462F-8A8E-565CC7240C4F}"/>
                </c:ext>
                <c:ext xmlns:c15="http://schemas.microsoft.com/office/drawing/2012/chart" uri="{CE6537A1-D6FC-4f65-9D91-7224C49458BB}"/>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00CC"/>
                    </a:solidFill>
                    <a:latin typeface="微軟正黑體" panose="020B0604030504040204" pitchFamily="34" charset="-120"/>
                    <a:ea typeface="微軟正黑體" panose="020B0604030504040204" pitchFamily="34" charset="-120"/>
                    <a:cs typeface="+mn-cs"/>
                  </a:defRPr>
                </a:pPr>
                <a:endParaRPr lang="zh-TW"/>
              </a:p>
            </c:txPr>
            <c:dLblPos val="ct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revenue!$B$4:$B$8</c:f>
              <c:strCache>
                <c:ptCount val="5"/>
                <c:pt idx="0">
                  <c:v>110年實績</c:v>
                </c:pt>
                <c:pt idx="1">
                  <c:v>111年實績</c:v>
                </c:pt>
                <c:pt idx="2">
                  <c:v>112年實績</c:v>
                </c:pt>
                <c:pt idx="3">
                  <c:v>113年實績</c:v>
                </c:pt>
                <c:pt idx="4">
                  <c:v>114年實績</c:v>
                </c:pt>
              </c:strCache>
            </c:strRef>
          </c:cat>
          <c:val>
            <c:numRef>
              <c:f>revenue!$O$4:$O$11</c:f>
              <c:numCache>
                <c:formatCode>_("$"* #,##0_);_("$"* \(#,##0\);_("$"* "-"_);_(@_)</c:formatCode>
                <c:ptCount val="6"/>
                <c:pt idx="0">
                  <c:v>11323</c:v>
                </c:pt>
                <c:pt idx="1">
                  <c:v>12326</c:v>
                </c:pt>
                <c:pt idx="2">
                  <c:v>13598</c:v>
                </c:pt>
                <c:pt idx="3">
                  <c:v>12946.741999999998</c:v>
                </c:pt>
                <c:pt idx="4">
                  <c:v>13584</c:v>
                </c:pt>
                <c:pt idx="5">
                  <c:v>5034</c:v>
                </c:pt>
              </c:numCache>
            </c:numRef>
          </c:val>
          <c:smooth val="0"/>
          <c:extLst xmlns:c16r2="http://schemas.microsoft.com/office/drawing/2015/06/chart">
            <c:ext xmlns:c16="http://schemas.microsoft.com/office/drawing/2014/chart" uri="{C3380CC4-5D6E-409C-BE32-E72D297353CC}">
              <c16:uniqueId val="{0000002F-CE18-462F-8A8E-565CC7240C4F}"/>
            </c:ext>
          </c:extLst>
        </c:ser>
        <c:dLbls>
          <c:dLblPos val="ctr"/>
          <c:showLegendKey val="0"/>
          <c:showVal val="1"/>
          <c:showCatName val="0"/>
          <c:showSerName val="0"/>
          <c:showPercent val="0"/>
          <c:showBubbleSize val="0"/>
        </c:dLbls>
        <c:marker val="1"/>
        <c:smooth val="0"/>
        <c:axId val="-2005885472"/>
        <c:axId val="-2005892000"/>
      </c:lineChart>
      <c:catAx>
        <c:axId val="-2005885472"/>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r>
                  <a:rPr lang="zh-TW" altLang="en-US"/>
                  <a:t>百萬元</a:t>
                </a:r>
              </a:p>
            </c:rich>
          </c:tx>
          <c:layout>
            <c:manualLayout>
              <c:xMode val="edge"/>
              <c:yMode val="edge"/>
              <c:x val="8.3201429149583964E-3"/>
              <c:y val="1.4765415969337692E-2"/>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crossAx val="-2005892000"/>
        <c:crosses val="autoZero"/>
        <c:auto val="1"/>
        <c:lblAlgn val="ctr"/>
        <c:lblOffset val="100"/>
        <c:noMultiLvlLbl val="0"/>
      </c:catAx>
      <c:valAx>
        <c:axId val="-2005892000"/>
        <c:scaling>
          <c:orientation val="minMax"/>
          <c:max val="15000"/>
          <c:min val="0"/>
        </c:scaling>
        <c:delete val="0"/>
        <c:axPos val="l"/>
        <c:majorGridlines>
          <c:spPr>
            <a:ln w="9525" cap="flat" cmpd="sng" algn="ctr">
              <a:solidFill>
                <a:schemeClr val="tx1">
                  <a:lumMod val="15000"/>
                  <a:lumOff val="85000"/>
                </a:schemeClr>
              </a:solidFill>
              <a:round/>
            </a:ln>
            <a:effectLst/>
          </c:spPr>
        </c:majorGridlines>
        <c:numFmt formatCode="_-* #,##0_-;\-* #,##0_-;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crossAx val="-2005885472"/>
        <c:crosses val="autoZero"/>
        <c:crossBetween val="between"/>
        <c:majorUnit val="2000"/>
        <c:minorUnit val="200"/>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ysClr val="windowText" lastClr="000000"/>
              </a:solidFill>
              <a:latin typeface="微軟正黑體" panose="020B0604030504040204" pitchFamily="34" charset="-120"/>
              <a:ea typeface="微軟正黑體" panose="020B0604030504040204" pitchFamily="34" charset="-120"/>
              <a:cs typeface="+mn-cs"/>
            </a:defRPr>
          </a:pPr>
          <a:endParaRPr lang="zh-TW"/>
        </a:p>
      </c:txPr>
    </c:legend>
    <c:plotVisOnly val="1"/>
    <c:dispBlanksAs val="gap"/>
    <c:showDLblsOverMax val="0"/>
  </c:chart>
  <c:spPr>
    <a:solidFill>
      <a:schemeClr val="bg1"/>
    </a:solidFill>
    <a:ln w="9525" cap="flat" cmpd="sng" algn="ctr">
      <a:solidFill>
        <a:sysClr val="windowText" lastClr="000000">
          <a:alpha val="94000"/>
        </a:sysClr>
      </a:solidFill>
      <a:round/>
    </a:ln>
    <a:effectLst/>
  </c:spPr>
  <c:txPr>
    <a:bodyPr/>
    <a:lstStyle/>
    <a:p>
      <a:pPr>
        <a:defRPr b="1">
          <a:latin typeface="微軟正黑體" panose="020B0604030504040204" pitchFamily="34" charset="-120"/>
          <a:ea typeface="微軟正黑體" panose="020B0604030504040204" pitchFamily="34" charset="-120"/>
        </a:defRPr>
      </a:pPr>
      <a:endParaRPr lang="zh-TW"/>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5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1" y="0"/>
            <a:ext cx="3076363" cy="513508"/>
          </a:xfrm>
          <a:prstGeom prst="rect">
            <a:avLst/>
          </a:prstGeom>
        </p:spPr>
        <p:txBody>
          <a:bodyPr vert="horz" lIns="99075" tIns="49538" rIns="99075" bIns="49538" rtlCol="0"/>
          <a:lstStyle>
            <a:lvl1pPr algn="l">
              <a:defRPr sz="1300"/>
            </a:lvl1pPr>
          </a:lstStyle>
          <a:p>
            <a:endParaRPr lang="zh-TW" altLang="en-US"/>
          </a:p>
        </p:txBody>
      </p:sp>
      <p:sp>
        <p:nvSpPr>
          <p:cNvPr id="3" name="日期版面配置區 2"/>
          <p:cNvSpPr>
            <a:spLocks noGrp="1"/>
          </p:cNvSpPr>
          <p:nvPr>
            <p:ph type="dt" idx="1"/>
          </p:nvPr>
        </p:nvSpPr>
        <p:spPr>
          <a:xfrm>
            <a:off x="4021295" y="0"/>
            <a:ext cx="3076363" cy="513508"/>
          </a:xfrm>
          <a:prstGeom prst="rect">
            <a:avLst/>
          </a:prstGeom>
        </p:spPr>
        <p:txBody>
          <a:bodyPr vert="horz" lIns="99075" tIns="49538" rIns="99075" bIns="49538" rtlCol="0"/>
          <a:lstStyle>
            <a:lvl1pPr algn="r">
              <a:defRPr sz="1300"/>
            </a:lvl1pPr>
          </a:lstStyle>
          <a:p>
            <a:fld id="{7B68F10D-EBB4-4E97-A0FD-76614B0A1334}" type="datetimeFigureOut">
              <a:rPr lang="zh-TW" altLang="en-US" smtClean="0"/>
              <a:t>2026/9/29</a:t>
            </a:fld>
            <a:endParaRPr lang="zh-TW" altLang="en-US"/>
          </a:p>
        </p:txBody>
      </p:sp>
      <p:sp>
        <p:nvSpPr>
          <p:cNvPr id="4" name="投影片圖像版面配置區 3"/>
          <p:cNvSpPr>
            <a:spLocks noGrp="1" noRot="1" noChangeAspect="1"/>
          </p:cNvSpPr>
          <p:nvPr>
            <p:ph type="sldImg" idx="2"/>
          </p:nvPr>
        </p:nvSpPr>
        <p:spPr>
          <a:xfrm>
            <a:off x="481013" y="1279525"/>
            <a:ext cx="6138862" cy="3454400"/>
          </a:xfrm>
          <a:prstGeom prst="rect">
            <a:avLst/>
          </a:prstGeom>
          <a:noFill/>
          <a:ln w="12700">
            <a:solidFill>
              <a:prstClr val="black"/>
            </a:solidFill>
          </a:ln>
        </p:spPr>
        <p:txBody>
          <a:bodyPr vert="horz" lIns="99075" tIns="49538" rIns="99075" bIns="49538" rtlCol="0" anchor="ctr"/>
          <a:lstStyle/>
          <a:p>
            <a:endParaRPr lang="zh-TW" altLang="en-US"/>
          </a:p>
        </p:txBody>
      </p:sp>
      <p:sp>
        <p:nvSpPr>
          <p:cNvPr id="5" name="備忘稿版面配置區 4"/>
          <p:cNvSpPr>
            <a:spLocks noGrp="1"/>
          </p:cNvSpPr>
          <p:nvPr>
            <p:ph type="body" sz="quarter" idx="3"/>
          </p:nvPr>
        </p:nvSpPr>
        <p:spPr>
          <a:xfrm>
            <a:off x="709930" y="4925408"/>
            <a:ext cx="5679440" cy="4029879"/>
          </a:xfrm>
          <a:prstGeom prst="rect">
            <a:avLst/>
          </a:prstGeom>
        </p:spPr>
        <p:txBody>
          <a:bodyPr vert="horz" lIns="99075" tIns="49538" rIns="99075" bIns="49538"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1" y="9721108"/>
            <a:ext cx="3076363" cy="513507"/>
          </a:xfrm>
          <a:prstGeom prst="rect">
            <a:avLst/>
          </a:prstGeom>
        </p:spPr>
        <p:txBody>
          <a:bodyPr vert="horz" lIns="99075" tIns="49538" rIns="99075" bIns="49538" rtlCol="0" anchor="b"/>
          <a:lstStyle>
            <a:lvl1pPr algn="l">
              <a:defRPr sz="1300"/>
            </a:lvl1pPr>
          </a:lstStyle>
          <a:p>
            <a:endParaRPr lang="zh-TW" altLang="en-US"/>
          </a:p>
        </p:txBody>
      </p:sp>
      <p:sp>
        <p:nvSpPr>
          <p:cNvPr id="7" name="投影片編號版面配置區 6"/>
          <p:cNvSpPr>
            <a:spLocks noGrp="1"/>
          </p:cNvSpPr>
          <p:nvPr>
            <p:ph type="sldNum" sz="quarter" idx="5"/>
          </p:nvPr>
        </p:nvSpPr>
        <p:spPr>
          <a:xfrm>
            <a:off x="4021295" y="9721108"/>
            <a:ext cx="3076363" cy="513507"/>
          </a:xfrm>
          <a:prstGeom prst="rect">
            <a:avLst/>
          </a:prstGeom>
        </p:spPr>
        <p:txBody>
          <a:bodyPr vert="horz" lIns="99075" tIns="49538" rIns="99075" bIns="49538" rtlCol="0" anchor="b"/>
          <a:lstStyle>
            <a:lvl1pPr algn="r">
              <a:defRPr sz="1300"/>
            </a:lvl1pPr>
          </a:lstStyle>
          <a:p>
            <a:fld id="{FB9D65D2-DC87-44FF-9CE2-DCFBEF47D491}" type="slidenum">
              <a:rPr lang="zh-TW" altLang="en-US" smtClean="0"/>
              <a:t>‹#›</a:t>
            </a:fld>
            <a:endParaRPr lang="zh-TW" altLang="en-US"/>
          </a:p>
        </p:txBody>
      </p:sp>
    </p:spTree>
    <p:extLst>
      <p:ext uri="{BB962C8B-B14F-4D97-AF65-F5344CB8AC3E}">
        <p14:creationId xmlns:p14="http://schemas.microsoft.com/office/powerpoint/2010/main" val="22550909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setn.com/klist/7145"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smtClean="0"/>
              <a:t>Lien Hwa Industrial Holdings Corporation </a:t>
            </a:r>
            <a:endParaRPr kumimoji="0" lang="en-US" altLang="zh-TW" sz="1200" b="1" smtClean="0">
              <a:ln w="0"/>
              <a:effectLst>
                <a:outerShdw blurRad="38100" dist="19050" dir="2700000" algn="tl" rotWithShape="0">
                  <a:schemeClr val="dk1">
                    <a:alpha val="40000"/>
                  </a:schemeClr>
                </a:outerShdw>
              </a:effectLst>
              <a:ea typeface="微軟正黑體" panose="020B0604030504040204" pitchFamily="34" charset="-120"/>
            </a:endParaRPr>
          </a:p>
          <a:p>
            <a:endParaRPr lang="zh-TW" altLang="en-US"/>
          </a:p>
        </p:txBody>
      </p:sp>
      <p:sp>
        <p:nvSpPr>
          <p:cNvPr id="4" name="投影片編號版面配置區 3"/>
          <p:cNvSpPr>
            <a:spLocks noGrp="1"/>
          </p:cNvSpPr>
          <p:nvPr>
            <p:ph type="sldNum" sz="quarter" idx="10"/>
          </p:nvPr>
        </p:nvSpPr>
        <p:spPr/>
        <p:txBody>
          <a:bodyPr/>
          <a:lstStyle/>
          <a:p>
            <a:fld id="{E9DA8E91-001D-4F1A-81F1-19ABBC01EF88}" type="slidenum">
              <a:rPr lang="zh-TW" altLang="en-US" smtClean="0"/>
              <a:t>1</a:t>
            </a:fld>
            <a:endParaRPr lang="zh-TW" altLang="en-US"/>
          </a:p>
        </p:txBody>
      </p:sp>
    </p:spTree>
    <p:extLst>
      <p:ext uri="{BB962C8B-B14F-4D97-AF65-F5344CB8AC3E}">
        <p14:creationId xmlns:p14="http://schemas.microsoft.com/office/powerpoint/2010/main" val="1512714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smtClean="0"/>
              <a:t>簡稱為</a:t>
            </a:r>
            <a:r>
              <a:rPr lang="en-US" altLang="zh-TW" dirty="0" smtClean="0"/>
              <a:t>LHIH</a:t>
            </a:r>
            <a:r>
              <a:rPr lang="en-US" altLang="zh-TW" baseline="0" dirty="0" smtClean="0"/>
              <a:t> / </a:t>
            </a:r>
            <a:r>
              <a:rPr lang="zh-TW" altLang="en-US" baseline="0" dirty="0" smtClean="0"/>
              <a:t>神資</a:t>
            </a:r>
            <a:r>
              <a:rPr lang="en-US" altLang="zh-TW" sz="1200" b="1" dirty="0" err="1" smtClean="0">
                <a:solidFill>
                  <a:schemeClr val="accent5">
                    <a:lumMod val="75000"/>
                  </a:schemeClr>
                </a:solidFill>
                <a:latin typeface="微軟正黑體" panose="020B0604030504040204" pitchFamily="34" charset="-120"/>
                <a:ea typeface="微軟正黑體" panose="020B0604030504040204" pitchFamily="34" charset="-120"/>
              </a:rPr>
              <a:t>MiTC</a:t>
            </a:r>
            <a:endParaRPr lang="en-US" altLang="zh-TW" sz="1200" b="1" dirty="0" smtClean="0">
              <a:solidFill>
                <a:schemeClr val="accent5">
                  <a:lumMod val="75000"/>
                </a:schemeClr>
              </a:solidFill>
              <a:latin typeface="微軟正黑體" panose="020B0604030504040204" pitchFamily="34" charset="-120"/>
              <a:ea typeface="微軟正黑體" panose="020B0604030504040204" pitchFamily="34" charset="-120"/>
            </a:endParaRPr>
          </a:p>
          <a:p>
            <a:r>
              <a:rPr lang="zh-TW" altLang="en-US" dirty="0" smtClean="0"/>
              <a:t>將</a:t>
            </a:r>
            <a:r>
              <a:rPr lang="zh-TW" altLang="en-US" dirty="0" smtClean="0"/>
              <a:t>右下角改為</a:t>
            </a:r>
            <a:r>
              <a:rPr lang="en-US" altLang="zh-TW" dirty="0" smtClean="0"/>
              <a:t>other</a:t>
            </a:r>
            <a:r>
              <a:rPr lang="en-US" altLang="zh-TW" baseline="0" dirty="0" smtClean="0"/>
              <a:t> equity investments</a:t>
            </a:r>
            <a:endParaRPr lang="zh-TW" altLang="en-US" dirty="0"/>
          </a:p>
        </p:txBody>
      </p:sp>
      <p:sp>
        <p:nvSpPr>
          <p:cNvPr id="4" name="投影片編號版面配置區 3"/>
          <p:cNvSpPr>
            <a:spLocks noGrp="1"/>
          </p:cNvSpPr>
          <p:nvPr>
            <p:ph type="sldNum" sz="quarter" idx="10"/>
          </p:nvPr>
        </p:nvSpPr>
        <p:spPr/>
        <p:txBody>
          <a:bodyPr/>
          <a:lstStyle/>
          <a:p>
            <a:fld id="{E9DA8E91-001D-4F1A-81F1-19ABBC01EF88}" type="slidenum">
              <a:rPr lang="zh-TW" altLang="en-US" smtClean="0"/>
              <a:t>4</a:t>
            </a:fld>
            <a:endParaRPr lang="zh-TW" altLang="en-US"/>
          </a:p>
        </p:txBody>
      </p:sp>
    </p:spTree>
    <p:extLst>
      <p:ext uri="{BB962C8B-B14F-4D97-AF65-F5344CB8AC3E}">
        <p14:creationId xmlns:p14="http://schemas.microsoft.com/office/powerpoint/2010/main" val="7135246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eaLnBrk="1" hangingPunct="1">
              <a:lnSpc>
                <a:spcPct val="100000"/>
              </a:lnSpc>
              <a:spcBef>
                <a:spcPct val="0"/>
              </a:spcBef>
              <a:buFontTx/>
              <a:buNone/>
            </a:pPr>
            <a:r>
              <a:rPr lang="en-US" altLang="zh-TW" b="0" dirty="0" smtClean="0"/>
              <a:t>0.</a:t>
            </a:r>
            <a:r>
              <a:rPr lang="en-US" altLang="zh-TW" b="0" baseline="0" dirty="0" smtClean="0"/>
              <a:t> </a:t>
            </a:r>
            <a:r>
              <a:rPr lang="en-US" altLang="zh-TW" b="0" baseline="0" dirty="0" err="1" smtClean="0"/>
              <a:t>Lih</a:t>
            </a:r>
            <a:r>
              <a:rPr lang="en-US" altLang="zh-TW" b="0" baseline="0" dirty="0" smtClean="0"/>
              <a:t> </a:t>
            </a:r>
            <a:r>
              <a:rPr lang="zh-TW" altLang="en-US" b="0" baseline="0" dirty="0" smtClean="0"/>
              <a:t>應改正為</a:t>
            </a:r>
            <a:r>
              <a:rPr lang="en-US" altLang="zh-TW" b="0" baseline="0" dirty="0" smtClean="0"/>
              <a:t>Lien </a:t>
            </a:r>
            <a:r>
              <a:rPr lang="zh-TW" altLang="en-US" b="0" baseline="0" dirty="0" smtClean="0"/>
              <a:t>或直接簡寫</a:t>
            </a:r>
            <a:r>
              <a:rPr lang="en-US" altLang="zh-TW" b="0" baseline="0" dirty="0" smtClean="0"/>
              <a:t>LHIHC</a:t>
            </a:r>
            <a:endParaRPr lang="en-US" altLang="zh-TW" b="0" dirty="0" smtClean="0"/>
          </a:p>
          <a:p>
            <a:pPr algn="l" eaLnBrk="1" hangingPunct="1">
              <a:lnSpc>
                <a:spcPct val="100000"/>
              </a:lnSpc>
              <a:spcBef>
                <a:spcPct val="0"/>
              </a:spcBef>
              <a:buFontTx/>
              <a:buNone/>
            </a:pPr>
            <a:r>
              <a:rPr lang="en-US" altLang="zh-TW" b="0" dirty="0" smtClean="0"/>
              <a:t>1. </a:t>
            </a:r>
            <a:r>
              <a:rPr lang="zh-TW" altLang="en-US" b="0" dirty="0" smtClean="0"/>
              <a:t>改正</a:t>
            </a:r>
            <a:r>
              <a:rPr lang="en-US" altLang="zh-TW" b="0" dirty="0" smtClean="0"/>
              <a:t>01 </a:t>
            </a:r>
            <a:r>
              <a:rPr kumimoji="0" lang="zh-TW" altLang="en-US" b="0" dirty="0" smtClean="0">
                <a:latin typeface="微軟正黑體" panose="020B0604030504040204" pitchFamily="34" charset="-120"/>
                <a:ea typeface="微軟正黑體" panose="020B0604030504040204" pitchFamily="34" charset="-120"/>
              </a:rPr>
              <a:t>將 </a:t>
            </a:r>
            <a:r>
              <a:rPr kumimoji="0" lang="en-US" altLang="zh-TW" b="0" dirty="0" smtClean="0">
                <a:latin typeface="微軟正黑體" panose="020B0604030504040204" pitchFamily="34" charset="-120"/>
                <a:ea typeface="微軟正黑體" panose="020B0604030504040204" pitchFamily="34" charset="-120"/>
              </a:rPr>
              <a:t>&amp; food </a:t>
            </a:r>
            <a:r>
              <a:rPr kumimoji="0" lang="zh-TW" altLang="en-US" b="0" dirty="0" smtClean="0">
                <a:latin typeface="微軟正黑體" panose="020B0604030504040204" pitchFamily="34" charset="-120"/>
                <a:ea typeface="微軟正黑體" panose="020B0604030504040204" pitchFamily="34" charset="-120"/>
              </a:rPr>
              <a:t>刪除，應為</a:t>
            </a:r>
            <a:r>
              <a:rPr kumimoji="0" lang="en-US" altLang="zh-TW" b="0" dirty="0" smtClean="0">
                <a:latin typeface="微軟正黑體" panose="020B0604030504040204" pitchFamily="34" charset="-120"/>
                <a:ea typeface="微軟正黑體" panose="020B0604030504040204" pitchFamily="34" charset="-120"/>
              </a:rPr>
              <a:t>Flour Business</a:t>
            </a:r>
            <a:r>
              <a:rPr kumimoji="0" lang="zh-TW" altLang="en-US" b="0" dirty="0" smtClean="0">
                <a:latin typeface="微軟正黑體" panose="020B0604030504040204" pitchFamily="34" charset="-120"/>
                <a:ea typeface="微軟正黑體" panose="020B0604030504040204" pitchFamily="34" charset="-120"/>
              </a:rPr>
              <a:t>，另股東會年報是寫麵食事業，建議將麵粉改回麵食，英文皆為</a:t>
            </a:r>
            <a:r>
              <a:rPr kumimoji="0" lang="en-US" altLang="zh-TW" b="0" dirty="0" smtClean="0">
                <a:latin typeface="微軟正黑體" panose="020B0604030504040204" pitchFamily="34" charset="-120"/>
                <a:ea typeface="微軟正黑體" panose="020B0604030504040204" pitchFamily="34" charset="-120"/>
              </a:rPr>
              <a:t>Flour Business</a:t>
            </a:r>
          </a:p>
          <a:p>
            <a:pPr algn="l" eaLnBrk="1" hangingPunct="1">
              <a:lnSpc>
                <a:spcPct val="100000"/>
              </a:lnSpc>
              <a:spcBef>
                <a:spcPct val="0"/>
              </a:spcBef>
              <a:buFontTx/>
              <a:buNone/>
            </a:pPr>
            <a:r>
              <a:rPr kumimoji="0" lang="en-US" altLang="zh-TW" b="0" dirty="0" smtClean="0">
                <a:latin typeface="微軟正黑體" panose="020B0604030504040204" pitchFamily="34" charset="-120"/>
                <a:ea typeface="微軟正黑體" panose="020B0604030504040204" pitchFamily="34" charset="-120"/>
              </a:rPr>
              <a:t>2. </a:t>
            </a:r>
            <a:r>
              <a:rPr kumimoji="0" lang="zh-TW" altLang="en-US" b="0" dirty="0" smtClean="0">
                <a:latin typeface="微軟正黑體" panose="020B0604030504040204" pitchFamily="34" charset="-120"/>
                <a:ea typeface="微軟正黑體" panose="020B0604030504040204" pitchFamily="34" charset="-120"/>
              </a:rPr>
              <a:t>改正</a:t>
            </a:r>
            <a:r>
              <a:rPr kumimoji="0" lang="en-US" altLang="zh-TW" b="0" dirty="0" smtClean="0">
                <a:latin typeface="微軟正黑體" panose="020B0604030504040204" pitchFamily="34" charset="-120"/>
                <a:ea typeface="微軟正黑體" panose="020B0604030504040204" pitchFamily="34" charset="-120"/>
              </a:rPr>
              <a:t>02 </a:t>
            </a:r>
            <a:r>
              <a:rPr kumimoji="0" lang="zh-TW" altLang="en-US" b="0" dirty="0" smtClean="0">
                <a:latin typeface="微軟正黑體" panose="020B0604030504040204" pitchFamily="34" charset="-120"/>
                <a:ea typeface="微軟正黑體" panose="020B0604030504040204" pitchFamily="34" charset="-120"/>
              </a:rPr>
              <a:t>將 </a:t>
            </a:r>
            <a:r>
              <a:rPr kumimoji="0" lang="en-US" altLang="zh-TW" b="0" dirty="0" smtClean="0">
                <a:latin typeface="微軟正黑體" panose="020B0604030504040204" pitchFamily="34" charset="-120"/>
                <a:ea typeface="微軟正黑體" panose="020B0604030504040204" pitchFamily="34" charset="-120"/>
              </a:rPr>
              <a:t>Leasing</a:t>
            </a:r>
            <a:r>
              <a:rPr kumimoji="0" lang="zh-TW" altLang="en-US" b="0" dirty="0" smtClean="0">
                <a:latin typeface="微軟正黑體" panose="020B0604030504040204" pitchFamily="34" charset="-120"/>
                <a:ea typeface="微軟正黑體" panose="020B0604030504040204" pitchFamily="34" charset="-120"/>
              </a:rPr>
              <a:t> 改正為</a:t>
            </a:r>
            <a:r>
              <a:rPr kumimoji="0" lang="en-US" altLang="zh-TW" b="0" baseline="0" dirty="0" smtClean="0">
                <a:latin typeface="微軟正黑體" panose="020B0604030504040204" pitchFamily="34" charset="-120"/>
                <a:ea typeface="微軟正黑體" panose="020B0604030504040204" pitchFamily="34" charset="-120"/>
              </a:rPr>
              <a:t> Rental</a:t>
            </a:r>
            <a:r>
              <a:rPr kumimoji="0" lang="zh-TW" altLang="en-US" b="0" dirty="0" smtClean="0">
                <a:latin typeface="微軟正黑體" panose="020B0604030504040204" pitchFamily="34" charset="-120"/>
                <a:ea typeface="微軟正黑體" panose="020B0604030504040204" pitchFamily="34" charset="-120"/>
              </a:rPr>
              <a:t> </a:t>
            </a:r>
            <a:endParaRPr kumimoji="0" lang="zh-TW" altLang="en-US" b="0"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10"/>
          </p:nvPr>
        </p:nvSpPr>
        <p:spPr/>
        <p:txBody>
          <a:bodyPr/>
          <a:lstStyle/>
          <a:p>
            <a:fld id="{E9DA8E91-001D-4F1A-81F1-19ABBC01EF88}" type="slidenum">
              <a:rPr lang="zh-TW" altLang="en-US" smtClean="0"/>
              <a:t>5</a:t>
            </a:fld>
            <a:endParaRPr lang="zh-TW" altLang="en-US"/>
          </a:p>
        </p:txBody>
      </p:sp>
    </p:spTree>
    <p:extLst>
      <p:ext uri="{BB962C8B-B14F-4D97-AF65-F5344CB8AC3E}">
        <p14:creationId xmlns:p14="http://schemas.microsoft.com/office/powerpoint/2010/main" val="2564407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smtClean="0">
                <a:solidFill>
                  <a:schemeClr val="tx1"/>
                </a:solidFill>
                <a:effectLst/>
                <a:latin typeface="+mn-lt"/>
                <a:ea typeface="+mn-ea"/>
                <a:cs typeface="+mn-cs"/>
              </a:rPr>
              <a:t>+2026</a:t>
            </a:r>
            <a:r>
              <a:rPr lang="zh-TW" altLang="zh-TW" sz="1200" kern="1200" dirty="0" smtClean="0">
                <a:solidFill>
                  <a:schemeClr val="tx1"/>
                </a:solidFill>
                <a:effectLst/>
                <a:latin typeface="+mn-lt"/>
                <a:ea typeface="+mn-ea"/>
                <a:cs typeface="+mn-cs"/>
              </a:rPr>
              <a:t>上半年大約市占率</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維持</a:t>
            </a:r>
            <a:r>
              <a:rPr lang="en-US" altLang="zh-TW" sz="1200" kern="1200" dirty="0" smtClean="0">
                <a:solidFill>
                  <a:schemeClr val="tx1"/>
                </a:solidFill>
                <a:effectLst/>
                <a:latin typeface="+mn-lt"/>
                <a:ea typeface="+mn-ea"/>
                <a:cs typeface="+mn-cs"/>
              </a:rPr>
              <a:t>10</a:t>
            </a:r>
            <a:r>
              <a:rPr lang="zh-TW" altLang="zh-TW" sz="1200" kern="1200" dirty="0" smtClean="0">
                <a:solidFill>
                  <a:schemeClr val="tx1"/>
                </a:solidFill>
                <a:effectLst/>
                <a:latin typeface="+mn-lt"/>
                <a:ea typeface="+mn-ea"/>
                <a:cs typeface="+mn-cs"/>
              </a:rPr>
              <a:t>年趨勢圖就好。</a:t>
            </a:r>
            <a:endParaRPr lang="en-US" altLang="zh-TW" sz="1200" dirty="0" smtClean="0">
              <a:solidFill>
                <a:schemeClr val="accent5"/>
              </a:solidFill>
            </a:endParaRPr>
          </a:p>
          <a:p>
            <a:r>
              <a:rPr lang="en-US" altLang="zh-TW" sz="1200" dirty="0" smtClean="0">
                <a:solidFill>
                  <a:schemeClr val="accent5"/>
                </a:solidFill>
              </a:rPr>
              <a:t>*2026/9/16 </a:t>
            </a:r>
            <a:r>
              <a:rPr lang="zh-TW" altLang="en-US" sz="1200" dirty="0" smtClean="0">
                <a:solidFill>
                  <a:schemeClr val="accent5"/>
                </a:solidFill>
              </a:rPr>
              <a:t>因中東情勢升溫導致國際油價上漲，</a:t>
            </a:r>
            <a:r>
              <a:rPr lang="zh-TW" altLang="en-US" sz="1200" u="sng" dirty="0" smtClean="0">
                <a:solidFill>
                  <a:schemeClr val="accent5"/>
                </a:solidFill>
              </a:rPr>
              <a:t>關鍵原物料稅負減徵措施延長至</a:t>
            </a:r>
            <a:r>
              <a:rPr lang="en-US" altLang="zh-TW" sz="2400" b="1" u="sng" dirty="0" smtClean="0"/>
              <a:t>2027</a:t>
            </a:r>
            <a:r>
              <a:rPr lang="zh-TW" altLang="en-US" sz="2400" b="1" u="sng" dirty="0" smtClean="0"/>
              <a:t>年</a:t>
            </a:r>
            <a:r>
              <a:rPr lang="en-US" altLang="zh-TW" sz="2400" b="1" u="sng" dirty="0" smtClean="0"/>
              <a:t>3</a:t>
            </a:r>
            <a:r>
              <a:rPr lang="zh-TW" altLang="en-US" sz="2400" b="1" u="sng" dirty="0" smtClean="0"/>
              <a:t>月底</a:t>
            </a:r>
            <a:r>
              <a:rPr lang="zh-TW" altLang="en-US" sz="1200" dirty="0" smtClean="0">
                <a:solidFill>
                  <a:schemeClr val="accent5"/>
                </a:solidFill>
              </a:rPr>
              <a:t>：免徵進口黃豆、小麥、玉米</a:t>
            </a:r>
            <a:r>
              <a:rPr lang="zh-TW" altLang="en-US" sz="1200" dirty="0" smtClean="0">
                <a:solidFill>
                  <a:schemeClr val="accent5"/>
                </a:solidFill>
                <a:hlinkClick r:id="rId3"/>
              </a:rPr>
              <a:t>營業稅</a:t>
            </a:r>
            <a:r>
              <a:rPr lang="zh-TW" altLang="en-US" sz="1200" dirty="0" smtClean="0">
                <a:solidFill>
                  <a:srgbClr val="0070C0"/>
                </a:solidFill>
              </a:rPr>
              <a:t>。</a:t>
            </a:r>
            <a:endParaRPr lang="en-US" altLang="zh-TW" sz="1200" dirty="0" smtClean="0">
              <a:solidFill>
                <a:srgbClr val="0070C0"/>
              </a:solidFill>
            </a:endParaRPr>
          </a:p>
          <a:p>
            <a:pPr defTabSz="990752">
              <a:defRPr/>
            </a:pPr>
            <a:r>
              <a:rPr lang="en-US" altLang="zh-TW" sz="1200" dirty="0" smtClean="0">
                <a:solidFill>
                  <a:srgbClr val="FF0000"/>
                </a:solidFill>
              </a:rPr>
              <a:t>*</a:t>
            </a:r>
            <a:r>
              <a:rPr lang="zh-TW" altLang="en-US" sz="1200" dirty="0" smtClean="0">
                <a:solidFill>
                  <a:srgbClr val="FF0000"/>
                </a:solidFill>
              </a:rPr>
              <a:t>產業主要以內銷為主</a:t>
            </a:r>
            <a:r>
              <a:rPr lang="en-US" altLang="zh-TW" sz="1200" dirty="0" smtClean="0">
                <a:solidFill>
                  <a:srgbClr val="FF0000"/>
                </a:solidFill>
              </a:rPr>
              <a:t>,</a:t>
            </a:r>
            <a:r>
              <a:rPr lang="zh-TW" altLang="en-US" sz="1200" dirty="0" smtClean="0">
                <a:solidFill>
                  <a:srgbClr val="FF0000"/>
                </a:solidFill>
              </a:rPr>
              <a:t>市場有限</a:t>
            </a:r>
            <a:r>
              <a:rPr lang="en-US" altLang="zh-TW" sz="1200" dirty="0" smtClean="0">
                <a:solidFill>
                  <a:srgbClr val="FF0000"/>
                </a:solidFill>
              </a:rPr>
              <a:t>,</a:t>
            </a:r>
            <a:r>
              <a:rPr lang="zh-TW" altLang="en-US" sz="1200" dirty="0" smtClean="0">
                <a:solidFill>
                  <a:srgbClr val="FF0000"/>
                </a:solidFill>
              </a:rPr>
              <a:t>營收要大幅成長不易</a:t>
            </a:r>
            <a:r>
              <a:rPr lang="en-US" altLang="zh-TW" sz="1200" dirty="0" smtClean="0">
                <a:solidFill>
                  <a:srgbClr val="FF0000"/>
                </a:solidFill>
              </a:rPr>
              <a:t>,</a:t>
            </a:r>
            <a:r>
              <a:rPr lang="zh-TW" altLang="en-US" sz="1200" dirty="0" smtClean="0">
                <a:solidFill>
                  <a:srgbClr val="FF0000"/>
                </a:solidFill>
              </a:rPr>
              <a:t>如小麥成本穩定</a:t>
            </a:r>
            <a:r>
              <a:rPr lang="en-US" altLang="zh-TW" sz="1200" dirty="0" smtClean="0">
                <a:solidFill>
                  <a:srgbClr val="FF0000"/>
                </a:solidFill>
              </a:rPr>
              <a:t>,</a:t>
            </a:r>
            <a:r>
              <a:rPr lang="zh-TW" altLang="en-US" sz="1200" dirty="0" smtClean="0">
                <a:solidFill>
                  <a:srgbClr val="FF0000"/>
                </a:solidFill>
              </a:rPr>
              <a:t>每年賺</a:t>
            </a:r>
            <a:r>
              <a:rPr lang="en-US" altLang="zh-TW" sz="1200" dirty="0" smtClean="0">
                <a:solidFill>
                  <a:srgbClr val="FF0000"/>
                </a:solidFill>
              </a:rPr>
              <a:t>2~3</a:t>
            </a:r>
            <a:r>
              <a:rPr lang="zh-TW" altLang="en-US" sz="1200" dirty="0" smtClean="0">
                <a:solidFill>
                  <a:srgbClr val="FF0000"/>
                </a:solidFill>
              </a:rPr>
              <a:t>億</a:t>
            </a:r>
            <a:endParaRPr lang="en-US" altLang="zh-TW" sz="1200" dirty="0" smtClean="0">
              <a:solidFill>
                <a:srgbClr val="FF0000"/>
              </a:solidFill>
            </a:endParaRPr>
          </a:p>
          <a:p>
            <a:pPr defTabSz="990752">
              <a:defRPr/>
            </a:pPr>
            <a:r>
              <a:rPr lang="en-US" altLang="zh-TW" sz="1200" b="1" dirty="0" smtClean="0">
                <a:solidFill>
                  <a:srgbClr val="FF0000"/>
                </a:solidFill>
              </a:rPr>
              <a:t>Data from</a:t>
            </a:r>
            <a:r>
              <a:rPr lang="zh-TW" altLang="en-US" sz="1200" b="1" dirty="0" smtClean="0">
                <a:solidFill>
                  <a:srgbClr val="FF0000"/>
                </a:solidFill>
              </a:rPr>
              <a:t>：</a:t>
            </a:r>
            <a:r>
              <a:rPr lang="en-US" altLang="zh-TW" sz="1200" b="1" dirty="0" smtClean="0">
                <a:solidFill>
                  <a:srgbClr val="FF0000"/>
                </a:solidFill>
              </a:rPr>
              <a:t>\\tp_files\</a:t>
            </a:r>
            <a:r>
              <a:rPr lang="zh-TW" altLang="en-US" sz="1200" b="1" dirty="0" smtClean="0">
                <a:solidFill>
                  <a:srgbClr val="FF0000"/>
                </a:solidFill>
              </a:rPr>
              <a:t>財會主管作業資料庫</a:t>
            </a:r>
            <a:r>
              <a:rPr lang="en-US" altLang="zh-TW" sz="1200" b="1" dirty="0" smtClean="0">
                <a:solidFill>
                  <a:srgbClr val="FF0000"/>
                </a:solidFill>
              </a:rPr>
              <a:t>\</a:t>
            </a:r>
            <a:r>
              <a:rPr lang="zh-TW" altLang="en-US" sz="1200" b="1" dirty="0" smtClean="0">
                <a:solidFill>
                  <a:srgbClr val="FF0000"/>
                </a:solidFill>
              </a:rPr>
              <a:t>各項會議報告</a:t>
            </a:r>
            <a:r>
              <a:rPr lang="en-US" altLang="zh-TW" sz="1200" b="1" dirty="0" smtClean="0">
                <a:solidFill>
                  <a:srgbClr val="FF0000"/>
                </a:solidFill>
              </a:rPr>
              <a:t>\2026</a:t>
            </a:r>
            <a:r>
              <a:rPr lang="zh-TW" altLang="en-US" sz="1200" b="1" dirty="0" smtClean="0">
                <a:solidFill>
                  <a:srgbClr val="FF0000"/>
                </a:solidFill>
              </a:rPr>
              <a:t>會議</a:t>
            </a:r>
            <a:endParaRPr lang="en-US" altLang="zh-TW" sz="1200" b="1" dirty="0" smtClean="0">
              <a:solidFill>
                <a:srgbClr val="FF0000"/>
              </a:solidFill>
            </a:endParaRPr>
          </a:p>
          <a:p>
            <a:pPr defTabSz="990752">
              <a:defRPr/>
            </a:pPr>
            <a:r>
              <a:rPr lang="zh-TW" altLang="en-US" sz="1200" dirty="0" smtClean="0">
                <a:solidFill>
                  <a:srgbClr val="0070C0"/>
                </a:solidFill>
              </a:rPr>
              <a:t>*</a:t>
            </a:r>
            <a:r>
              <a:rPr lang="zh-TW" altLang="en-US" sz="1200" dirty="0" smtClean="0">
                <a:solidFill>
                  <a:srgbClr val="0000FF"/>
                </a:solidFill>
                <a:latin typeface="微軟正黑體" panose="020B0604030504040204" pitchFamily="34" charset="-120"/>
                <a:ea typeface="微軟正黑體" panose="020B0604030504040204" pitchFamily="34" charset="-120"/>
              </a:rPr>
              <a:t>市場需求持續下降</a:t>
            </a:r>
            <a:r>
              <a:rPr lang="en-US" altLang="zh-TW" sz="1200" dirty="0" smtClean="0">
                <a:solidFill>
                  <a:srgbClr val="0000FF"/>
                </a:solidFill>
                <a:latin typeface="微軟正黑體" panose="020B0604030504040204" pitchFamily="34" charset="-120"/>
                <a:ea typeface="微軟正黑體" panose="020B0604030504040204" pitchFamily="34" charset="-120"/>
              </a:rPr>
              <a:t>, </a:t>
            </a:r>
            <a:r>
              <a:rPr lang="zh-TW" altLang="en-US" sz="1200" dirty="0" smtClean="0">
                <a:solidFill>
                  <a:srgbClr val="0000FF"/>
                </a:solidFill>
                <a:latin typeface="微軟正黑體" panose="020B0604030504040204" pitchFamily="34" charset="-120"/>
                <a:ea typeface="微軟正黑體" panose="020B0604030504040204" pitchFamily="34" charset="-120"/>
              </a:rPr>
              <a:t>傳統麵粉產業已由成長市場轉向</a:t>
            </a:r>
            <a:endParaRPr lang="en-US" altLang="zh-TW" sz="1200" dirty="0" smtClean="0">
              <a:solidFill>
                <a:srgbClr val="0000FF"/>
              </a:solidFill>
              <a:latin typeface="微軟正黑體" panose="020B0604030504040204" pitchFamily="34" charset="-120"/>
              <a:ea typeface="微軟正黑體" panose="020B0604030504040204" pitchFamily="34" charset="-120"/>
            </a:endParaRPr>
          </a:p>
          <a:p>
            <a:pPr defTabSz="990752">
              <a:defRPr/>
            </a:pPr>
            <a:r>
              <a:rPr lang="zh-TW" altLang="en-US" sz="1200" dirty="0" smtClean="0"/>
              <a:t>*預估</a:t>
            </a:r>
            <a:r>
              <a:rPr lang="en-US" altLang="zh-TW" sz="1200" dirty="0" smtClean="0"/>
              <a:t>2026</a:t>
            </a:r>
            <a:r>
              <a:rPr lang="zh-TW" altLang="en-US" sz="1200" dirty="0" smtClean="0"/>
              <a:t>年</a:t>
            </a:r>
            <a:r>
              <a:rPr lang="zh-TW" altLang="zh-TW" sz="1200" dirty="0" smtClean="0"/>
              <a:t>聯華仍維持市場第一，但市場規模持續縮小。</a:t>
            </a:r>
            <a:endParaRPr lang="zh-TW" altLang="en-US" sz="1200" dirty="0" smtClean="0"/>
          </a:p>
          <a:p>
            <a:pPr defTabSz="990752" eaLnBrk="0" fontAlgn="base" hangingPunct="0">
              <a:spcBef>
                <a:spcPct val="30000"/>
              </a:spcBef>
              <a:spcAft>
                <a:spcPct val="0"/>
              </a:spcAft>
              <a:defRPr/>
            </a:pPr>
            <a:r>
              <a:rPr lang="en-US" altLang="zh-TW" sz="1200" dirty="0" smtClean="0">
                <a:solidFill>
                  <a:srgbClr val="FF0000"/>
                </a:solidFill>
              </a:rPr>
              <a:t>2026Q2</a:t>
            </a:r>
            <a:r>
              <a:rPr lang="zh-TW" altLang="en-US" sz="1200" u="sng" dirty="0" smtClean="0">
                <a:solidFill>
                  <a:srgbClr val="FF0000"/>
                </a:solidFill>
              </a:rPr>
              <a:t>麵粉</a:t>
            </a:r>
            <a:r>
              <a:rPr lang="zh-TW" altLang="en-US" sz="1200" dirty="0" smtClean="0">
                <a:solidFill>
                  <a:srgbClr val="FF0000"/>
                </a:solidFill>
              </a:rPr>
              <a:t>銷售</a:t>
            </a:r>
            <a:r>
              <a:rPr lang="en-US" altLang="zh-TW" sz="1200" dirty="0" smtClean="0">
                <a:solidFill>
                  <a:srgbClr val="FF0000"/>
                </a:solidFill>
              </a:rPr>
              <a:t>541</a:t>
            </a:r>
            <a:r>
              <a:rPr lang="zh-TW" altLang="en-US" sz="1200" dirty="0" smtClean="0">
                <a:solidFill>
                  <a:srgbClr val="FF0000"/>
                </a:solidFill>
              </a:rPr>
              <a:t>萬包麵粉較去年同期</a:t>
            </a:r>
            <a:r>
              <a:rPr lang="en-US" altLang="zh-TW" sz="1200" dirty="0" smtClean="0">
                <a:solidFill>
                  <a:srgbClr val="FF0000"/>
                </a:solidFill>
              </a:rPr>
              <a:t>558</a:t>
            </a:r>
            <a:r>
              <a:rPr lang="zh-TW" altLang="en-US" sz="1200" dirty="0" smtClean="0">
                <a:solidFill>
                  <a:srgbClr val="FF0000"/>
                </a:solidFill>
              </a:rPr>
              <a:t>萬包減少</a:t>
            </a:r>
            <a:r>
              <a:rPr lang="en-US" altLang="zh-TW" sz="1200" dirty="0" smtClean="0">
                <a:solidFill>
                  <a:srgbClr val="FF0000"/>
                </a:solidFill>
              </a:rPr>
              <a:t>3%</a:t>
            </a:r>
          </a:p>
          <a:p>
            <a:r>
              <a:rPr lang="en-US" altLang="zh-TW" sz="1200" dirty="0" smtClean="0"/>
              <a:t>2026Q2</a:t>
            </a:r>
            <a:r>
              <a:rPr lang="zh-TW" altLang="en-US" sz="1200" u="sng" dirty="0" smtClean="0"/>
              <a:t>義</a:t>
            </a:r>
            <a:r>
              <a:rPr lang="zh-TW" altLang="en-US" sz="1200" dirty="0" smtClean="0"/>
              <a:t>麵銷售</a:t>
            </a:r>
            <a:r>
              <a:rPr lang="en-US" altLang="zh-TW" sz="1200" dirty="0" smtClean="0"/>
              <a:t>2,467</a:t>
            </a:r>
            <a:r>
              <a:rPr lang="zh-TW" altLang="en-US" sz="1200" dirty="0" smtClean="0"/>
              <a:t>公噸較去年同期</a:t>
            </a:r>
            <a:r>
              <a:rPr lang="en-US" altLang="zh-TW" sz="1200" dirty="0" smtClean="0"/>
              <a:t>2,500</a:t>
            </a:r>
            <a:r>
              <a:rPr lang="zh-TW" altLang="en-US" sz="1200" dirty="0" smtClean="0"/>
              <a:t>公噸</a:t>
            </a:r>
            <a:r>
              <a:rPr lang="zh-TW" altLang="en-US" sz="1200" dirty="0" smtClean="0">
                <a:solidFill>
                  <a:srgbClr val="FF0000"/>
                </a:solidFill>
              </a:rPr>
              <a:t>減少</a:t>
            </a:r>
            <a:r>
              <a:rPr lang="en-US" altLang="zh-TW" sz="1200" dirty="0" smtClean="0"/>
              <a:t>1%</a:t>
            </a:r>
          </a:p>
          <a:p>
            <a:pPr defTabSz="990752" eaLnBrk="0" fontAlgn="base" hangingPunct="0">
              <a:spcBef>
                <a:spcPct val="30000"/>
              </a:spcBef>
              <a:spcAft>
                <a:spcPct val="0"/>
              </a:spcAft>
              <a:defRPr/>
            </a:pPr>
            <a:r>
              <a:rPr lang="en-US" altLang="zh-TW" sz="1200" dirty="0" smtClean="0">
                <a:solidFill>
                  <a:srgbClr val="1E293B"/>
                </a:solidFill>
                <a:latin typeface="微軟正黑體" panose="020B0604030504040204" pitchFamily="34" charset="-120"/>
                <a:ea typeface="微軟正黑體" panose="020B0604030504040204" pitchFamily="34" charset="-120"/>
              </a:rPr>
              <a:t>2026 H1</a:t>
            </a:r>
            <a:r>
              <a:rPr lang="zh-TW" altLang="en-US" sz="1200" dirty="0" smtClean="0">
                <a:solidFill>
                  <a:srgbClr val="1E293B"/>
                </a:solidFill>
                <a:latin typeface="微軟正黑體" panose="020B0604030504040204" pitchFamily="34" charset="-120"/>
                <a:ea typeface="微軟正黑體" panose="020B0604030504040204" pitchFamily="34" charset="-120"/>
              </a:rPr>
              <a:t> 營收</a:t>
            </a:r>
            <a:r>
              <a:rPr lang="en-US" altLang="zh-TW" sz="1200" dirty="0" smtClean="0">
                <a:solidFill>
                  <a:srgbClr val="1E293B"/>
                </a:solidFill>
                <a:latin typeface="微軟正黑體" panose="020B0604030504040204" pitchFamily="34" charset="-120"/>
                <a:ea typeface="微軟正黑體" panose="020B0604030504040204" pitchFamily="34" charset="-120"/>
              </a:rPr>
              <a:t>2,427M </a:t>
            </a:r>
            <a:r>
              <a:rPr lang="zh-TW" altLang="en-US" sz="1200" dirty="0" smtClean="0">
                <a:solidFill>
                  <a:srgbClr val="1E293B"/>
                </a:solidFill>
                <a:latin typeface="微軟正黑體" panose="020B0604030504040204" pitchFamily="34" charset="-120"/>
                <a:ea typeface="微軟正黑體" panose="020B0604030504040204" pitchFamily="34" charset="-120"/>
              </a:rPr>
              <a:t>較去年同期 </a:t>
            </a:r>
            <a:r>
              <a:rPr lang="en-US" altLang="zh-TW" sz="1200" dirty="0" smtClean="0">
                <a:solidFill>
                  <a:srgbClr val="1E293B"/>
                </a:solidFill>
                <a:latin typeface="微軟正黑體" panose="020B0604030504040204" pitchFamily="34" charset="-120"/>
                <a:ea typeface="微軟正黑體" panose="020B0604030504040204" pitchFamily="34" charset="-120"/>
              </a:rPr>
              <a:t>2,536M -3%  &gt;&gt; </a:t>
            </a:r>
            <a:r>
              <a:rPr lang="zh-TW" altLang="en-US" sz="1200" dirty="0" smtClean="0">
                <a:solidFill>
                  <a:srgbClr val="1E293B"/>
                </a:solidFill>
                <a:latin typeface="微軟正黑體" panose="020B0604030504040204" pitchFamily="34" charset="-120"/>
                <a:ea typeface="微軟正黑體" panose="020B0604030504040204" pitchFamily="34" charset="-120"/>
              </a:rPr>
              <a:t>售價及銷量皆減少所致</a:t>
            </a:r>
            <a:endParaRPr lang="en-US" altLang="zh-TW" sz="1200" dirty="0" smtClean="0">
              <a:solidFill>
                <a:srgbClr val="1E293B"/>
              </a:solidFill>
              <a:latin typeface="微軟正黑體" panose="020B0604030504040204" pitchFamily="34" charset="-120"/>
              <a:ea typeface="微軟正黑體" panose="020B0604030504040204" pitchFamily="34" charset="-120"/>
            </a:endParaRPr>
          </a:p>
          <a:p>
            <a:pPr defTabSz="990752" eaLnBrk="0" fontAlgn="base" hangingPunct="0">
              <a:spcBef>
                <a:spcPct val="30000"/>
              </a:spcBef>
              <a:spcAft>
                <a:spcPct val="0"/>
              </a:spcAft>
              <a:defRPr/>
            </a:pPr>
            <a:r>
              <a:rPr lang="en-US" altLang="zh-TW" sz="1200" dirty="0" smtClean="0">
                <a:solidFill>
                  <a:srgbClr val="1E293B"/>
                </a:solidFill>
                <a:latin typeface="微軟正黑體" panose="020B0604030504040204" pitchFamily="34" charset="-120"/>
                <a:ea typeface="微軟正黑體" panose="020B0604030504040204" pitchFamily="34" charset="-120"/>
              </a:rPr>
              <a:t>2026 H1</a:t>
            </a:r>
            <a:r>
              <a:rPr lang="zh-TW" altLang="en-US" sz="1200" dirty="0" smtClean="0">
                <a:solidFill>
                  <a:srgbClr val="1E293B"/>
                </a:solidFill>
                <a:latin typeface="微軟正黑體" panose="020B0604030504040204" pitchFamily="34" charset="-120"/>
                <a:ea typeface="微軟正黑體" panose="020B0604030504040204" pitchFamily="34" charset="-120"/>
              </a:rPr>
              <a:t> 稅後淨利</a:t>
            </a:r>
            <a:r>
              <a:rPr lang="en-US" altLang="zh-TW" sz="1200" dirty="0" smtClean="0">
                <a:solidFill>
                  <a:srgbClr val="1E293B"/>
                </a:solidFill>
                <a:latin typeface="微軟正黑體" panose="020B0604030504040204" pitchFamily="34" charset="-120"/>
                <a:ea typeface="微軟正黑體" panose="020B0604030504040204" pitchFamily="34" charset="-120"/>
              </a:rPr>
              <a:t>151M</a:t>
            </a:r>
            <a:r>
              <a:rPr lang="zh-TW" altLang="en-US" sz="1200" dirty="0" smtClean="0">
                <a:solidFill>
                  <a:srgbClr val="1E293B"/>
                </a:solidFill>
                <a:latin typeface="微軟正黑體" panose="020B0604030504040204" pitchFamily="34" charset="-120"/>
                <a:ea typeface="微軟正黑體" panose="020B0604030504040204" pitchFamily="34" charset="-120"/>
              </a:rPr>
              <a:t>較去年同期 </a:t>
            </a:r>
            <a:r>
              <a:rPr lang="en-US" altLang="zh-TW" sz="1200" dirty="0" smtClean="0">
                <a:solidFill>
                  <a:srgbClr val="1E293B"/>
                </a:solidFill>
                <a:latin typeface="微軟正黑體" panose="020B0604030504040204" pitchFamily="34" charset="-120"/>
                <a:ea typeface="微軟正黑體" panose="020B0604030504040204" pitchFamily="34" charset="-120"/>
              </a:rPr>
              <a:t>115M +32%</a:t>
            </a:r>
            <a:r>
              <a:rPr lang="zh-TW" altLang="en-US" sz="1200" dirty="0" smtClean="0">
                <a:solidFill>
                  <a:srgbClr val="1E293B"/>
                </a:solidFill>
                <a:latin typeface="微軟正黑體" panose="020B0604030504040204" pitchFamily="34" charset="-120"/>
                <a:ea typeface="微軟正黑體" panose="020B0604030504040204" pitchFamily="34" charset="-120"/>
              </a:rPr>
              <a:t> </a:t>
            </a:r>
            <a:r>
              <a:rPr lang="en-US" altLang="zh-TW" sz="1200" dirty="0" smtClean="0">
                <a:solidFill>
                  <a:srgbClr val="1E293B"/>
                </a:solidFill>
                <a:latin typeface="微軟正黑體" panose="020B0604030504040204" pitchFamily="34" charset="-120"/>
                <a:ea typeface="微軟正黑體" panose="020B0604030504040204" pitchFamily="34" charset="-120"/>
              </a:rPr>
              <a:t>&gt;&gt;</a:t>
            </a:r>
            <a:r>
              <a:rPr lang="zh-TW" altLang="en-US" sz="1200" dirty="0" smtClean="0">
                <a:solidFill>
                  <a:srgbClr val="1E293B"/>
                </a:solidFill>
                <a:latin typeface="微軟正黑體" panose="020B0604030504040204" pitchFamily="34" charset="-120"/>
                <a:ea typeface="微軟正黑體" panose="020B0604030504040204" pitchFamily="34" charset="-120"/>
              </a:rPr>
              <a:t>銷量減少</a:t>
            </a:r>
            <a:r>
              <a:rPr lang="en-US" altLang="zh-TW" sz="1200" dirty="0" smtClean="0">
                <a:solidFill>
                  <a:srgbClr val="1E293B"/>
                </a:solidFill>
                <a:latin typeface="微軟正黑體" panose="020B0604030504040204" pitchFamily="34" charset="-120"/>
                <a:ea typeface="微軟正黑體" panose="020B0604030504040204" pitchFamily="34" charset="-120"/>
              </a:rPr>
              <a:t>/</a:t>
            </a:r>
            <a:r>
              <a:rPr lang="zh-TW" altLang="en-US" sz="1200" dirty="0" smtClean="0">
                <a:solidFill>
                  <a:srgbClr val="1E293B"/>
                </a:solidFill>
                <a:latin typeface="微軟正黑體" panose="020B0604030504040204" pitchFamily="34" charset="-120"/>
                <a:ea typeface="微軟正黑體" panose="020B0604030504040204" pitchFamily="34" charset="-120"/>
              </a:rPr>
              <a:t>成本減少、小麥耗用價少</a:t>
            </a:r>
            <a:r>
              <a:rPr lang="en-US" altLang="zh-TW" sz="1200" dirty="0" smtClean="0">
                <a:solidFill>
                  <a:srgbClr val="1E293B"/>
                </a:solidFill>
                <a:latin typeface="微軟正黑體" panose="020B0604030504040204" pitchFamily="34" charset="-120"/>
                <a:ea typeface="微軟正黑體" panose="020B0604030504040204" pitchFamily="34" charset="-120"/>
              </a:rPr>
              <a:t>USD 9</a:t>
            </a:r>
            <a:r>
              <a:rPr lang="zh-TW" altLang="en-US" sz="1200" dirty="0" smtClean="0">
                <a:solidFill>
                  <a:srgbClr val="1E293B"/>
                </a:solidFill>
                <a:latin typeface="微軟正黑體" panose="020B0604030504040204" pitchFamily="34" charset="-120"/>
                <a:ea typeface="微軟正黑體" panose="020B0604030504040204" pitchFamily="34" charset="-120"/>
              </a:rPr>
              <a:t>元</a:t>
            </a:r>
            <a:r>
              <a:rPr lang="en-US" altLang="zh-TW" sz="1200" dirty="0" smtClean="0">
                <a:solidFill>
                  <a:srgbClr val="1E293B"/>
                </a:solidFill>
                <a:latin typeface="微軟正黑體" panose="020B0604030504040204" pitchFamily="34" charset="-120"/>
                <a:ea typeface="微軟正黑體" panose="020B0604030504040204" pitchFamily="34" charset="-120"/>
              </a:rPr>
              <a:t>/</a:t>
            </a:r>
            <a:r>
              <a:rPr lang="zh-TW" altLang="en-US" sz="1200" dirty="0" smtClean="0">
                <a:solidFill>
                  <a:srgbClr val="1E293B"/>
                </a:solidFill>
                <a:latin typeface="微軟正黑體" panose="020B0604030504040204" pitchFamily="34" charset="-120"/>
                <a:ea typeface="微軟正黑體" panose="020B0604030504040204" pitchFamily="34" charset="-120"/>
              </a:rPr>
              <a:t>噸，及受惠於小麥匯率 </a:t>
            </a:r>
            <a:r>
              <a:rPr lang="en-US" altLang="zh-TW" sz="1200" dirty="0" smtClean="0">
                <a:solidFill>
                  <a:srgbClr val="1E293B"/>
                </a:solidFill>
                <a:latin typeface="微軟正黑體" panose="020B0604030504040204" pitchFamily="34" charset="-120"/>
                <a:ea typeface="微軟正黑體" panose="020B0604030504040204" pitchFamily="34" charset="-120"/>
              </a:rPr>
              <a:t>31.6</a:t>
            </a:r>
            <a:r>
              <a:rPr lang="zh-TW" altLang="en-US" sz="1200" dirty="0" smtClean="0">
                <a:solidFill>
                  <a:srgbClr val="1E293B"/>
                </a:solidFill>
                <a:latin typeface="微軟正黑體" panose="020B0604030504040204" pitchFamily="34" charset="-120"/>
                <a:ea typeface="微軟正黑體" panose="020B0604030504040204" pitchFamily="34" charset="-120"/>
              </a:rPr>
              <a:t>較去年減少，業外利息支出減少及兌換利益增加</a:t>
            </a:r>
          </a:p>
          <a:p>
            <a:pPr defTabSz="990752" eaLnBrk="0" fontAlgn="base" hangingPunct="0">
              <a:spcBef>
                <a:spcPct val="30000"/>
              </a:spcBef>
              <a:spcAft>
                <a:spcPct val="0"/>
              </a:spcAft>
              <a:defRPr/>
            </a:pPr>
            <a:endParaRPr lang="zh-TW" altLang="en-US" sz="1200" dirty="0" smtClean="0">
              <a:solidFill>
                <a:srgbClr val="0070C0"/>
              </a:solidFill>
            </a:endParaRPr>
          </a:p>
          <a:p>
            <a:pPr defTabSz="990752" eaLnBrk="0" fontAlgn="base" hangingPunct="0">
              <a:spcBef>
                <a:spcPct val="30000"/>
              </a:spcBef>
              <a:spcAft>
                <a:spcPct val="0"/>
              </a:spcAft>
              <a:defRPr/>
            </a:pPr>
            <a:r>
              <a:rPr lang="zh-TW" altLang="en-US" sz="1200" dirty="0" smtClean="0"/>
              <a:t>小麥價格</a:t>
            </a:r>
            <a:r>
              <a:rPr lang="en-US" altLang="zh-TW" sz="1200" dirty="0" smtClean="0"/>
              <a:t>2025 </a:t>
            </a:r>
            <a:r>
              <a:rPr lang="zh-TW" altLang="en-US" sz="1200" dirty="0" smtClean="0"/>
              <a:t>年的低價環境已不復見，預判</a:t>
            </a:r>
            <a:r>
              <a:rPr lang="en-US" altLang="zh-TW" sz="1200" dirty="0" smtClean="0"/>
              <a:t>Q2 </a:t>
            </a:r>
            <a:r>
              <a:rPr lang="zh-TW" altLang="en-US" sz="1200" dirty="0" smtClean="0"/>
              <a:t>季末前漲勢仍有支撐</a:t>
            </a:r>
          </a:p>
          <a:p>
            <a:r>
              <a:rPr lang="en-US" altLang="zh-TW" sz="1200" dirty="0" smtClean="0">
                <a:solidFill>
                  <a:srgbClr val="FF0000"/>
                </a:solidFill>
              </a:rPr>
              <a:t>2025</a:t>
            </a:r>
            <a:r>
              <a:rPr lang="zh-TW" altLang="en-US" sz="1200" dirty="0" smtClean="0">
                <a:solidFill>
                  <a:srgbClr val="FF0000"/>
                </a:solidFill>
              </a:rPr>
              <a:t>市占率下降因</a:t>
            </a:r>
            <a:r>
              <a:rPr lang="zh-TW" altLang="en-US" sz="1200" u="sng" dirty="0" smtClean="0">
                <a:solidFill>
                  <a:srgbClr val="FF0000"/>
                </a:solidFill>
              </a:rPr>
              <a:t>進口麵粉</a:t>
            </a:r>
            <a:r>
              <a:rPr lang="zh-TW" altLang="en-US" sz="1200" dirty="0" smtClean="0">
                <a:solidFill>
                  <a:srgbClr val="FF0000"/>
                </a:solidFill>
              </a:rPr>
              <a:t>影響</a:t>
            </a:r>
            <a:endParaRPr lang="en-US" altLang="zh-TW" sz="1200" dirty="0" smtClean="0"/>
          </a:p>
          <a:p>
            <a:r>
              <a:rPr lang="en-US" altLang="zh-TW" sz="1200" dirty="0" smtClean="0"/>
              <a:t>2025</a:t>
            </a:r>
            <a:r>
              <a:rPr lang="zh-TW" altLang="en-US" sz="1200" dirty="0" smtClean="0"/>
              <a:t>年</a:t>
            </a:r>
            <a:r>
              <a:rPr lang="en-US" altLang="zh-TW" sz="1200" dirty="0" smtClean="0"/>
              <a:t>(</a:t>
            </a:r>
            <a:r>
              <a:rPr lang="zh-TW" altLang="en-US" sz="1200" dirty="0" smtClean="0"/>
              <a:t>實際</a:t>
            </a:r>
            <a:r>
              <a:rPr lang="en-US" altLang="zh-TW" sz="1200" dirty="0" smtClean="0"/>
              <a:t>)1130</a:t>
            </a:r>
            <a:r>
              <a:rPr lang="zh-TW" altLang="en-US" sz="1200" dirty="0" smtClean="0"/>
              <a:t>萬</a:t>
            </a:r>
            <a:r>
              <a:rPr lang="en-US" altLang="zh-TW" sz="1200" dirty="0" smtClean="0"/>
              <a:t>(</a:t>
            </a:r>
            <a:r>
              <a:rPr lang="zh-TW" altLang="en-US" sz="1200" dirty="0" smtClean="0"/>
              <a:t>包</a:t>
            </a:r>
            <a:r>
              <a:rPr lang="en-US" altLang="zh-TW" sz="1200" dirty="0" smtClean="0"/>
              <a:t>)</a:t>
            </a:r>
            <a:r>
              <a:rPr lang="zh-TW" altLang="en-US" sz="1200" dirty="0" smtClean="0"/>
              <a:t> 市占</a:t>
            </a:r>
            <a:r>
              <a:rPr lang="en-US" altLang="zh-TW" sz="1200" dirty="0" smtClean="0"/>
              <a:t>28%</a:t>
            </a:r>
            <a:r>
              <a:rPr lang="zh-TW" altLang="en-US" sz="1200" dirty="0" smtClean="0"/>
              <a:t> </a:t>
            </a:r>
            <a:endParaRPr lang="en-US" altLang="zh-TW" sz="1200" dirty="0" smtClean="0"/>
          </a:p>
          <a:p>
            <a:r>
              <a:rPr lang="en-US" altLang="zh-TW" sz="1200" dirty="0" smtClean="0"/>
              <a:t>(</a:t>
            </a:r>
            <a:r>
              <a:rPr lang="zh-TW" altLang="en-US" sz="1200" dirty="0" smtClean="0"/>
              <a:t>以</a:t>
            </a:r>
            <a:r>
              <a:rPr lang="en-US" altLang="zh-TW" sz="1200" dirty="0" smtClean="0"/>
              <a:t>113</a:t>
            </a:r>
            <a:r>
              <a:rPr lang="zh-TW" altLang="en-US" sz="1200" dirty="0" smtClean="0"/>
              <a:t>糧食年報估算</a:t>
            </a:r>
            <a:r>
              <a:rPr lang="en-US" altLang="zh-TW" sz="1200" dirty="0" smtClean="0"/>
              <a:t>&lt;114/09/30</a:t>
            </a:r>
            <a:r>
              <a:rPr lang="zh-TW" altLang="en-US" sz="1200" dirty="0" smtClean="0"/>
              <a:t>出版</a:t>
            </a:r>
            <a:r>
              <a:rPr lang="en-US" altLang="zh-TW" sz="1200" dirty="0" smtClean="0"/>
              <a:t>&gt;)114</a:t>
            </a:r>
            <a:r>
              <a:rPr lang="zh-TW" altLang="en-US" sz="1200" dirty="0" smtClean="0"/>
              <a:t>年糧食年報需待</a:t>
            </a:r>
            <a:r>
              <a:rPr lang="en-US" altLang="zh-TW" sz="1200" dirty="0" smtClean="0"/>
              <a:t>115/9</a:t>
            </a:r>
            <a:r>
              <a:rPr lang="zh-TW" altLang="en-US" sz="1200" dirty="0" smtClean="0"/>
              <a:t>出版</a:t>
            </a:r>
            <a:endParaRPr lang="en-US" altLang="zh-TW" sz="1200" dirty="0" smtClean="0"/>
          </a:p>
          <a:p>
            <a:r>
              <a:rPr lang="en-US" altLang="zh-TW" sz="1200" dirty="0" smtClean="0"/>
              <a:t>*2021</a:t>
            </a:r>
            <a:r>
              <a:rPr lang="zh-TW" altLang="en-US" sz="1200" dirty="0" smtClean="0"/>
              <a:t>僑泰興入股</a:t>
            </a:r>
            <a:r>
              <a:rPr lang="en-US" altLang="zh-TW" sz="1200" dirty="0" smtClean="0"/>
              <a:t>*</a:t>
            </a:r>
          </a:p>
        </p:txBody>
      </p:sp>
      <p:sp>
        <p:nvSpPr>
          <p:cNvPr id="4" name="投影片編號版面配置區 3"/>
          <p:cNvSpPr>
            <a:spLocks noGrp="1"/>
          </p:cNvSpPr>
          <p:nvPr>
            <p:ph type="sldNum" sz="quarter" idx="10"/>
          </p:nvPr>
        </p:nvSpPr>
        <p:spPr/>
        <p:txBody>
          <a:bodyPr/>
          <a:lstStyle/>
          <a:p>
            <a:fld id="{FB9D65D2-DC87-44FF-9CE2-DCFBEF47D491}" type="slidenum">
              <a:rPr lang="zh-TW" altLang="en-US" smtClean="0"/>
              <a:t>6</a:t>
            </a:fld>
            <a:endParaRPr lang="zh-TW" altLang="en-US"/>
          </a:p>
        </p:txBody>
      </p:sp>
    </p:spTree>
    <p:extLst>
      <p:ext uri="{BB962C8B-B14F-4D97-AF65-F5344CB8AC3E}">
        <p14:creationId xmlns:p14="http://schemas.microsoft.com/office/powerpoint/2010/main" val="3196398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t>瘦瘦針浪潮下的面對市場轉型與佈局</a:t>
            </a:r>
            <a:endParaRPr lang="en-US" altLang="zh-TW"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dirty="0">
                <a:solidFill>
                  <a:srgbClr val="0000FF"/>
                </a:solidFill>
                <a:latin typeface="微軟正黑體" panose="020B0604030504040204" pitchFamily="34" charset="-120"/>
                <a:ea typeface="微軟正黑體" panose="020B0604030504040204" pitchFamily="34" charset="-120"/>
              </a:rPr>
              <a:t>傳統麵粉需求放緩，高蛋白、高纖維與機能性產品看好</a:t>
            </a:r>
            <a:endParaRPr lang="en-US" altLang="zh-TW" sz="1200" b="0" dirty="0">
              <a:solidFill>
                <a:srgbClr val="0000FF"/>
              </a:solidFill>
              <a:latin typeface="微軟正黑體" panose="020B0604030504040204" pitchFamily="34" charset="-120"/>
              <a:ea typeface="微軟正黑體" panose="020B0604030504040204" pitchFamily="34" charset="-120"/>
            </a:endParaRPr>
          </a:p>
          <a:p>
            <a:endParaRPr lang="en-US" altLang="zh-TW" sz="1200" dirty="0"/>
          </a:p>
          <a:p>
            <a:r>
              <a:rPr lang="en-US" altLang="zh-TW" sz="1200" b="1" dirty="0"/>
              <a:t>114 </a:t>
            </a:r>
            <a:r>
              <a:rPr lang="zh-TW" altLang="en-US" sz="1200" b="1" dirty="0"/>
              <a:t>年度營業結果報告</a:t>
            </a:r>
            <a:r>
              <a:rPr lang="en-US" altLang="zh-TW" sz="1200" b="1" dirty="0"/>
              <a:t>(From</a:t>
            </a:r>
            <a:r>
              <a:rPr lang="zh-TW" altLang="en-US" sz="1200" b="1" dirty="0"/>
              <a:t>股東會年報</a:t>
            </a:r>
            <a:r>
              <a:rPr lang="en-US" altLang="zh-TW" sz="1200" b="1" dirty="0"/>
              <a:t>)</a:t>
            </a:r>
          </a:p>
          <a:p>
            <a:pPr defTabSz="990752" eaLnBrk="0" fontAlgn="base" hangingPunct="0">
              <a:spcBef>
                <a:spcPct val="30000"/>
              </a:spcBef>
              <a:spcAft>
                <a:spcPct val="0"/>
              </a:spcAft>
              <a:defRPr/>
            </a:pPr>
            <a:r>
              <a:rPr lang="zh-TW" altLang="en-US" sz="1200" dirty="0"/>
              <a:t>營運成果：聯華製粉食品</a:t>
            </a:r>
            <a:r>
              <a:rPr lang="en-US" altLang="zh-TW" sz="1200" dirty="0"/>
              <a:t>(</a:t>
            </a:r>
            <a:r>
              <a:rPr lang="zh-TW" altLang="en-US" sz="1200" dirty="0"/>
              <a:t>股</a:t>
            </a:r>
            <a:r>
              <a:rPr lang="en-US" altLang="zh-TW" sz="1200" dirty="0"/>
              <a:t>)</a:t>
            </a:r>
            <a:r>
              <a:rPr lang="zh-TW" altLang="en-US" sz="1200" dirty="0"/>
              <a:t>公司</a:t>
            </a:r>
            <a:r>
              <a:rPr lang="en-US" altLang="zh-TW" sz="1200" dirty="0"/>
              <a:t>114 </a:t>
            </a:r>
            <a:r>
              <a:rPr lang="zh-TW" altLang="en-US" sz="1200" dirty="0"/>
              <a:t>年度稅後淨利較上一年度成長</a:t>
            </a:r>
            <a:r>
              <a:rPr lang="en-US" altLang="zh-TW" sz="1200" dirty="0"/>
              <a:t>33%</a:t>
            </a:r>
            <a:r>
              <a:rPr lang="zh-TW" altLang="en-US" sz="1200" dirty="0"/>
              <a:t>。</a:t>
            </a:r>
            <a:endParaRPr lang="en-US" altLang="zh-TW" sz="1200" dirty="0">
              <a:solidFill>
                <a:srgbClr val="FF0000"/>
              </a:solidFill>
            </a:endParaRPr>
          </a:p>
          <a:p>
            <a:pPr defTabSz="990752" eaLnBrk="0" fontAlgn="base" hangingPunct="0">
              <a:spcBef>
                <a:spcPct val="30000"/>
              </a:spcBef>
              <a:spcAft>
                <a:spcPct val="0"/>
              </a:spcAft>
              <a:defRPr/>
            </a:pPr>
            <a:r>
              <a:rPr lang="zh-TW" altLang="zh-TW" sz="1200" dirty="0"/>
              <a:t>研究發展</a:t>
            </a:r>
            <a:r>
              <a:rPr lang="zh-TW" altLang="en-US" sz="1200" dirty="0"/>
              <a:t>：</a:t>
            </a:r>
            <a:r>
              <a:rPr lang="zh-TW" altLang="zh-TW" sz="1200" dirty="0"/>
              <a:t>持續深化數位化與智慧化應用，透過</a:t>
            </a:r>
            <a:r>
              <a:rPr lang="en-US" altLang="zh-TW" sz="1200" dirty="0"/>
              <a:t>AI</a:t>
            </a:r>
            <a:r>
              <a:rPr lang="zh-TW" altLang="zh-TW" sz="1200" dirty="0"/>
              <a:t>與數據分析技術，優化原料運用與製程管理，提升產品品質與研發效率。</a:t>
            </a:r>
            <a:endParaRPr lang="en-US" altLang="zh-TW" sz="1200" dirty="0"/>
          </a:p>
          <a:p>
            <a:pPr defTabSz="990752" eaLnBrk="0" fontAlgn="base" hangingPunct="0">
              <a:spcBef>
                <a:spcPct val="30000"/>
              </a:spcBef>
              <a:spcAft>
                <a:spcPct val="0"/>
              </a:spcAft>
              <a:defRPr/>
            </a:pPr>
            <a:r>
              <a:rPr lang="en-US" altLang="zh-TW" sz="1200" b="1" dirty="0"/>
              <a:t>115</a:t>
            </a:r>
            <a:r>
              <a:rPr lang="zh-TW" altLang="zh-TW" sz="1200" b="1" dirty="0"/>
              <a:t>年度營業計畫及發展策略</a:t>
            </a:r>
            <a:r>
              <a:rPr lang="en-US" altLang="zh-TW" sz="1200" b="1" dirty="0"/>
              <a:t>(From</a:t>
            </a:r>
            <a:r>
              <a:rPr lang="zh-TW" altLang="en-US" sz="1200" b="1" dirty="0"/>
              <a:t>股東會年報</a:t>
            </a:r>
            <a:r>
              <a:rPr lang="en-US" altLang="zh-TW" sz="1200" b="1" dirty="0"/>
              <a:t>)</a:t>
            </a:r>
          </a:p>
          <a:p>
            <a:pPr defTabSz="990752" eaLnBrk="0" fontAlgn="base" hangingPunct="0">
              <a:spcBef>
                <a:spcPct val="30000"/>
              </a:spcBef>
              <a:spcAft>
                <a:spcPct val="0"/>
              </a:spcAft>
              <a:defRPr/>
            </a:pPr>
            <a:r>
              <a:rPr lang="zh-TW" altLang="zh-TW" sz="1200" dirty="0"/>
              <a:t>麵食事業</a:t>
            </a:r>
            <a:r>
              <a:rPr lang="zh-TW" altLang="en-US" sz="1200" dirty="0"/>
              <a:t>：</a:t>
            </a:r>
            <a:r>
              <a:rPr lang="zh-TW" altLang="zh-TW" sz="1200" dirty="0"/>
              <a:t>持續強化食品研發能量，透過專業實驗與製程技術，提供客戶多元且具差異化的產品解決方案。</a:t>
            </a:r>
          </a:p>
          <a:p>
            <a:r>
              <a:rPr lang="en-US" altLang="zh-TW" sz="1200" dirty="0"/>
              <a:t>(</a:t>
            </a:r>
            <a:r>
              <a:rPr lang="zh-TW" altLang="en-US" sz="1200" dirty="0"/>
              <a:t>一</a:t>
            </a:r>
            <a:r>
              <a:rPr lang="en-US" altLang="zh-TW" sz="1200" dirty="0"/>
              <a:t>)</a:t>
            </a:r>
            <a:r>
              <a:rPr lang="zh-TW" altLang="en-US" sz="1200" dirty="0"/>
              <a:t>市場分析</a:t>
            </a:r>
          </a:p>
          <a:p>
            <a:r>
              <a:rPr lang="en-US" altLang="zh-TW" sz="1200" dirty="0"/>
              <a:t>1.</a:t>
            </a:r>
            <a:r>
              <a:rPr lang="zh-TW" altLang="en-US" sz="1200" dirty="0"/>
              <a:t>主要產品銷售地區及市埸佔有率</a:t>
            </a:r>
          </a:p>
          <a:p>
            <a:pPr defTabSz="990752" eaLnBrk="0" fontAlgn="base" hangingPunct="0">
              <a:spcBef>
                <a:spcPct val="30000"/>
              </a:spcBef>
              <a:spcAft>
                <a:spcPct val="0"/>
              </a:spcAft>
              <a:defRPr/>
            </a:pPr>
            <a:r>
              <a:rPr lang="en-US" altLang="zh-TW" sz="1200" dirty="0"/>
              <a:t>(1)</a:t>
            </a:r>
            <a:r>
              <a:rPr lang="zh-TW" altLang="en-US" sz="1200" dirty="0"/>
              <a:t>麵食產品：本公司麵粉產品銷售涵蓋國內與海外市場，整體仍以</a:t>
            </a:r>
            <a:r>
              <a:rPr lang="zh-TW" altLang="en-US" sz="1200" u="sng" dirty="0"/>
              <a:t>國內</a:t>
            </a:r>
            <a:r>
              <a:rPr lang="zh-TW" altLang="en-US" sz="1200" dirty="0"/>
              <a:t>市場為主要銷售重心。佔國內市場約</a:t>
            </a:r>
            <a:r>
              <a:rPr lang="en-US" altLang="zh-TW" sz="1200" dirty="0"/>
              <a:t>30% </a:t>
            </a:r>
            <a:r>
              <a:rPr lang="zh-TW" altLang="en-US" sz="1200" dirty="0"/>
              <a:t>之市場佔有率</a:t>
            </a:r>
            <a:endParaRPr lang="en-US" altLang="zh-TW" sz="1200" dirty="0"/>
          </a:p>
          <a:p>
            <a:pPr defTabSz="990752" eaLnBrk="0" fontAlgn="base" hangingPunct="0">
              <a:spcBef>
                <a:spcPct val="30000"/>
              </a:spcBef>
              <a:spcAft>
                <a:spcPct val="0"/>
              </a:spcAft>
              <a:defRPr/>
            </a:pPr>
            <a:r>
              <a:rPr lang="zh-TW" altLang="en-US" sz="1200" dirty="0"/>
              <a:t>海外市場方面，主要銷售地區包括香港、澳門、新加坡及馬來西亞等地。</a:t>
            </a:r>
          </a:p>
          <a:p>
            <a:pPr defTabSz="990752" eaLnBrk="0" fontAlgn="base" hangingPunct="0">
              <a:spcBef>
                <a:spcPct val="30000"/>
              </a:spcBef>
              <a:spcAft>
                <a:spcPct val="0"/>
              </a:spcAft>
              <a:defRPr/>
            </a:pPr>
            <a:r>
              <a:rPr lang="en-US" altLang="zh-TW" sz="1200" dirty="0"/>
              <a:t>(2)</a:t>
            </a:r>
            <a:r>
              <a:rPr lang="zh-TW" altLang="en-US" sz="1200" dirty="0"/>
              <a:t>二次加工產品：義大利麵產品以</a:t>
            </a:r>
            <a:r>
              <a:rPr lang="zh-TW" altLang="en-US" sz="1200" u="sng" dirty="0"/>
              <a:t>內銷</a:t>
            </a:r>
            <a:r>
              <a:rPr lang="zh-TW" altLang="en-US" sz="1200" dirty="0"/>
              <a:t>為主、外銷為輔。內銷市場主要服務品牌代工客戶、食品加工業者及餐飲通路。外銷市場則以港澳地區為主要銷售地區，維持穩定出貨。</a:t>
            </a:r>
          </a:p>
          <a:p>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FB9D65D2-DC87-44FF-9CE2-DCFBEF47D491}" type="slidenum">
              <a:rPr lang="zh-TW" altLang="en-US" smtClean="0"/>
              <a:t>7</a:t>
            </a:fld>
            <a:endParaRPr lang="zh-TW" altLang="en-US"/>
          </a:p>
        </p:txBody>
      </p:sp>
    </p:spTree>
    <p:extLst>
      <p:ext uri="{BB962C8B-B14F-4D97-AF65-F5344CB8AC3E}">
        <p14:creationId xmlns:p14="http://schemas.microsoft.com/office/powerpoint/2010/main" val="3716723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90752" rtl="0" eaLnBrk="0" fontAlgn="base" latinLnBrk="0" hangingPunct="0">
              <a:lnSpc>
                <a:spcPct val="100000"/>
              </a:lnSpc>
              <a:spcBef>
                <a:spcPct val="30000"/>
              </a:spcBef>
              <a:spcAft>
                <a:spcPct val="0"/>
              </a:spcAft>
              <a:buClrTx/>
              <a:buSzTx/>
              <a:buFontTx/>
              <a:buNone/>
              <a:tabLst/>
              <a:defRPr/>
            </a:pPr>
            <a:r>
              <a:rPr lang="en-US" altLang="zh-TW" sz="1200" b="1" dirty="0" smtClean="0"/>
              <a:t>2026Q2</a:t>
            </a:r>
            <a:r>
              <a:rPr lang="zh-TW" altLang="en-US" sz="1200" b="1" dirty="0" smtClean="0"/>
              <a:t>：</a:t>
            </a:r>
            <a:r>
              <a:rPr lang="en-US" altLang="zh-TW" sz="1200" dirty="0" smtClean="0"/>
              <a:t>2.36</a:t>
            </a:r>
            <a:r>
              <a:rPr lang="zh-TW" altLang="en-US" sz="1200" dirty="0" smtClean="0"/>
              <a:t>億，全年營收大約較去年成長三成</a:t>
            </a:r>
          </a:p>
          <a:p>
            <a:pPr defTabSz="990752" eaLnBrk="0" fontAlgn="base" hangingPunct="0">
              <a:spcBef>
                <a:spcPct val="30000"/>
              </a:spcBef>
              <a:spcAft>
                <a:spcPct val="0"/>
              </a:spcAft>
              <a:defRPr/>
            </a:pPr>
            <a:r>
              <a:rPr lang="zh-TW" altLang="en-US" sz="1200" dirty="0" smtClean="0"/>
              <a:t>４月起將增加</a:t>
            </a:r>
            <a:r>
              <a:rPr lang="zh-TW" altLang="en-US" sz="1200" u="sng" dirty="0" smtClean="0"/>
              <a:t>富岡物流中心</a:t>
            </a:r>
            <a:r>
              <a:rPr lang="zh-TW" altLang="en-US" sz="1200" dirty="0" smtClean="0"/>
              <a:t>之租金收入，</a:t>
            </a:r>
            <a:r>
              <a:rPr lang="en-US" altLang="zh-TW" sz="1200" dirty="0" smtClean="0"/>
              <a:t>1~5</a:t>
            </a:r>
            <a:r>
              <a:rPr lang="zh-TW" altLang="en-US" sz="1200" dirty="0" smtClean="0"/>
              <a:t>年租金：</a:t>
            </a:r>
            <a:r>
              <a:rPr lang="en-US" altLang="zh-TW" sz="1200" dirty="0" smtClean="0"/>
              <a:t>13,435,535 </a:t>
            </a:r>
            <a:r>
              <a:rPr lang="zh-TW" altLang="en-US" sz="1200" dirty="0" smtClean="0"/>
              <a:t>第６、</a:t>
            </a:r>
            <a:r>
              <a:rPr lang="en-US" altLang="zh-TW" sz="1200" dirty="0" smtClean="0"/>
              <a:t>11</a:t>
            </a:r>
            <a:r>
              <a:rPr lang="zh-TW" altLang="en-US" sz="1200" dirty="0" smtClean="0"/>
              <a:t>、</a:t>
            </a:r>
            <a:r>
              <a:rPr lang="en-US" altLang="zh-TW" sz="1200" dirty="0" smtClean="0"/>
              <a:t>16</a:t>
            </a:r>
            <a:r>
              <a:rPr lang="zh-TW" altLang="en-US" sz="1200" dirty="0" smtClean="0"/>
              <a:t>租賃年度起調漲</a:t>
            </a:r>
            <a:r>
              <a:rPr lang="en-US" altLang="zh-TW" sz="1200" dirty="0" smtClean="0"/>
              <a:t>4.5%</a:t>
            </a:r>
          </a:p>
          <a:p>
            <a:pPr defTabSz="990752" eaLnBrk="0" fontAlgn="base" hangingPunct="0">
              <a:spcBef>
                <a:spcPct val="30000"/>
              </a:spcBef>
              <a:spcAft>
                <a:spcPct val="0"/>
              </a:spcAft>
              <a:defRPr/>
            </a:pPr>
            <a:r>
              <a:rPr lang="zh-TW" altLang="en-US" sz="1200" dirty="0" smtClean="0"/>
              <a:t>下半年亦有七堵新廠挹注</a:t>
            </a:r>
            <a:r>
              <a:rPr lang="en-US" altLang="zh-TW" sz="1200" dirty="0" smtClean="0"/>
              <a:t>(</a:t>
            </a:r>
            <a:r>
              <a:rPr lang="zh-TW" altLang="en-US" sz="1200" dirty="0" smtClean="0"/>
              <a:t>神通資科</a:t>
            </a:r>
            <a:r>
              <a:rPr lang="en-US" altLang="zh-TW" sz="1200" dirty="0" smtClean="0"/>
              <a:t>9/1</a:t>
            </a:r>
            <a:r>
              <a:rPr lang="zh-TW" altLang="en-US" sz="1200" dirty="0" smtClean="0"/>
              <a:t>起租並開始算租金</a:t>
            </a:r>
            <a:r>
              <a:rPr lang="en-US" altLang="zh-TW" sz="1200" dirty="0" smtClean="0"/>
              <a:t>)</a:t>
            </a:r>
          </a:p>
          <a:p>
            <a:pPr defTabSz="990752" eaLnBrk="0" fontAlgn="base" hangingPunct="0">
              <a:spcBef>
                <a:spcPct val="30000"/>
              </a:spcBef>
              <a:spcAft>
                <a:spcPct val="0"/>
              </a:spcAft>
              <a:defRPr/>
            </a:pPr>
            <a:r>
              <a:rPr lang="fr-FR" altLang="zh-TW" sz="1200" dirty="0" smtClean="0"/>
              <a:t>*2026</a:t>
            </a:r>
            <a:r>
              <a:rPr lang="zh-TW" altLang="en-US" sz="1200" dirty="0" smtClean="0"/>
              <a:t>預估全年</a:t>
            </a:r>
            <a:r>
              <a:rPr lang="en-US" altLang="zh-TW" sz="1200" dirty="0" smtClean="0"/>
              <a:t>(</a:t>
            </a:r>
            <a:r>
              <a:rPr lang="zh-TW" altLang="en-US" sz="1200" dirty="0" smtClean="0"/>
              <a:t>未沖銷</a:t>
            </a:r>
            <a:r>
              <a:rPr lang="en-US" altLang="zh-TW" sz="1200" dirty="0" smtClean="0"/>
              <a:t>)$5.17</a:t>
            </a:r>
            <a:r>
              <a:rPr lang="zh-TW" altLang="en-US" sz="1200" dirty="0" smtClean="0"/>
              <a:t>億：置產</a:t>
            </a:r>
            <a:r>
              <a:rPr lang="en-US" altLang="zh-TW" sz="1200" dirty="0" smtClean="0"/>
              <a:t>5</a:t>
            </a:r>
            <a:r>
              <a:rPr lang="fr-FR" altLang="zh-TW" sz="1200" dirty="0" smtClean="0"/>
              <a:t>.</a:t>
            </a:r>
            <a:r>
              <a:rPr lang="en-US" altLang="zh-TW" sz="1200" dirty="0" smtClean="0"/>
              <a:t>2e (</a:t>
            </a:r>
            <a:r>
              <a:rPr lang="zh-TW" altLang="en-US" sz="1200" dirty="0" smtClean="0"/>
              <a:t>租賃收入</a:t>
            </a:r>
            <a:r>
              <a:rPr lang="en-US" altLang="zh-TW" sz="1200" dirty="0" smtClean="0"/>
              <a:t>5.18e</a:t>
            </a:r>
            <a:r>
              <a:rPr lang="zh-TW" altLang="en-US" sz="1200" dirty="0" smtClean="0"/>
              <a:t> </a:t>
            </a:r>
            <a:r>
              <a:rPr lang="en-US" altLang="zh-TW" sz="1200" dirty="0" smtClean="0"/>
              <a:t>+</a:t>
            </a:r>
            <a:r>
              <a:rPr lang="zh-TW" altLang="en-US" sz="1200" dirty="0" smtClean="0"/>
              <a:t> 停車場收入</a:t>
            </a:r>
            <a:r>
              <a:rPr lang="en-US" altLang="zh-TW" sz="1200" dirty="0" smtClean="0"/>
              <a:t>118m)  </a:t>
            </a:r>
            <a:r>
              <a:rPr lang="zh-TW" altLang="en-US" sz="1200" dirty="0" smtClean="0"/>
              <a:t>台華 </a:t>
            </a:r>
            <a:r>
              <a:rPr lang="en-US" altLang="zh-TW" sz="1200" dirty="0" smtClean="0"/>
              <a:t>RMB </a:t>
            </a:r>
            <a:r>
              <a:rPr lang="fr-FR" altLang="zh-TW" sz="1200" dirty="0" smtClean="0"/>
              <a:t>253m   </a:t>
            </a:r>
            <a:r>
              <a:rPr lang="zh-TW" altLang="en-US" sz="1200" dirty="0" smtClean="0"/>
              <a:t>雙華 </a:t>
            </a:r>
            <a:r>
              <a:rPr lang="en-US" altLang="zh-TW" sz="1200" dirty="0" smtClean="0"/>
              <a:t>RMB 662m </a:t>
            </a:r>
          </a:p>
          <a:p>
            <a:pPr defTabSz="990752" eaLnBrk="0" fontAlgn="base" hangingPunct="0">
              <a:spcBef>
                <a:spcPct val="30000"/>
              </a:spcBef>
              <a:spcAft>
                <a:spcPct val="0"/>
              </a:spcAft>
              <a:defRPr/>
            </a:pPr>
            <a:r>
              <a:rPr lang="en-US" altLang="zh-TW" sz="1200" dirty="0" smtClean="0"/>
              <a:t>*</a:t>
            </a:r>
            <a:r>
              <a:rPr lang="zh-TW" altLang="en-US" sz="1200" dirty="0" smtClean="0"/>
              <a:t>上海</a:t>
            </a:r>
            <a:r>
              <a:rPr lang="en-US" altLang="zh-TW" sz="1200" dirty="0" smtClean="0"/>
              <a:t>(25K</a:t>
            </a:r>
            <a:r>
              <a:rPr lang="zh-TW" altLang="en-US" sz="1200" dirty="0" smtClean="0"/>
              <a:t>㎡</a:t>
            </a:r>
            <a:r>
              <a:rPr lang="en-US" altLang="zh-TW" sz="1200" dirty="0" smtClean="0"/>
              <a:t>)</a:t>
            </a:r>
            <a:r>
              <a:rPr lang="zh-TW" altLang="en-US" sz="1200" dirty="0" smtClean="0"/>
              <a:t> 煙台</a:t>
            </a:r>
            <a:r>
              <a:rPr lang="en-US" altLang="zh-TW" sz="1200" dirty="0" smtClean="0"/>
              <a:t>(52K</a:t>
            </a:r>
            <a:r>
              <a:rPr lang="zh-TW" altLang="en-US" sz="1200" dirty="0" smtClean="0"/>
              <a:t>㎡</a:t>
            </a:r>
            <a:r>
              <a:rPr lang="en-US" altLang="zh-TW" sz="1200" dirty="0" smtClean="0"/>
              <a:t>)</a:t>
            </a:r>
            <a:r>
              <a:rPr lang="zh-TW" altLang="en-US" sz="1200" dirty="0" smtClean="0"/>
              <a:t>亦有廠房出租     </a:t>
            </a:r>
            <a:r>
              <a:rPr lang="en-US" altLang="zh-TW" sz="1200" dirty="0" smtClean="0"/>
              <a:t>1</a:t>
            </a:r>
            <a:r>
              <a:rPr lang="zh-TW" altLang="en-US" sz="1200" dirty="0" smtClean="0"/>
              <a:t>平方公尺 </a:t>
            </a:r>
            <a:r>
              <a:rPr lang="en-US" altLang="zh-TW" sz="1200" dirty="0" smtClean="0"/>
              <a:t>= 0.3025 </a:t>
            </a:r>
            <a:r>
              <a:rPr lang="zh-TW" altLang="en-US" sz="1200" dirty="0" smtClean="0"/>
              <a:t>坪</a:t>
            </a:r>
            <a:endParaRPr lang="en-US" altLang="zh-TW" sz="1200" dirty="0" smtClean="0"/>
          </a:p>
          <a:p>
            <a:pPr defTabSz="990752" eaLnBrk="0" fontAlgn="base" hangingPunct="0">
              <a:spcBef>
                <a:spcPct val="30000"/>
              </a:spcBef>
              <a:spcAft>
                <a:spcPct val="0"/>
              </a:spcAft>
              <a:defRPr/>
            </a:pPr>
            <a:endParaRPr lang="en-US" altLang="zh-TW" sz="1200" dirty="0" smtClean="0"/>
          </a:p>
          <a:p>
            <a:pPr defTabSz="990752" eaLnBrk="0" fontAlgn="base" hangingPunct="0">
              <a:spcBef>
                <a:spcPct val="30000"/>
              </a:spcBef>
              <a:spcAft>
                <a:spcPct val="0"/>
              </a:spcAft>
              <a:defRPr/>
            </a:pPr>
            <a:r>
              <a:rPr lang="en-US" altLang="zh-TW" sz="1200" dirty="0" smtClean="0"/>
              <a:t>114 </a:t>
            </a:r>
            <a:r>
              <a:rPr lang="zh-TW" altLang="en-US" sz="1200" dirty="0" smtClean="0"/>
              <a:t>年度營業結果報告</a:t>
            </a:r>
            <a:r>
              <a:rPr lang="en-US" altLang="zh-TW" sz="1200" dirty="0" smtClean="0"/>
              <a:t>(From</a:t>
            </a:r>
            <a:r>
              <a:rPr lang="zh-TW" altLang="en-US" sz="1200" dirty="0" smtClean="0"/>
              <a:t>股東會年報</a:t>
            </a:r>
            <a:r>
              <a:rPr lang="en-US" altLang="zh-TW" sz="1200" dirty="0" smtClean="0"/>
              <a:t>)</a:t>
            </a:r>
            <a:r>
              <a:rPr lang="zh-TW" altLang="en-US" sz="1200" dirty="0" smtClean="0"/>
              <a:t>：</a:t>
            </a:r>
            <a:r>
              <a:rPr lang="zh-TW" altLang="zh-TW" sz="1200" dirty="0" smtClean="0"/>
              <a:t>聯華置產租賃收入連續八年穩健成長，並有效利用資產投入太陽能發售電。</a:t>
            </a:r>
            <a:endParaRPr lang="en-US" altLang="zh-TW" sz="1200" dirty="0" smtClean="0"/>
          </a:p>
          <a:p>
            <a:pPr defTabSz="990752" eaLnBrk="0" fontAlgn="base" hangingPunct="0">
              <a:spcBef>
                <a:spcPct val="30000"/>
              </a:spcBef>
              <a:spcAft>
                <a:spcPct val="0"/>
              </a:spcAft>
              <a:defRPr/>
            </a:pPr>
            <a:r>
              <a:rPr lang="fr-FR" altLang="zh-TW" sz="1200" dirty="0" smtClean="0"/>
              <a:t>*2025</a:t>
            </a:r>
            <a:r>
              <a:rPr lang="zh-TW" altLang="en-US" sz="1200" dirty="0" smtClean="0"/>
              <a:t>年租賃收入</a:t>
            </a:r>
            <a:r>
              <a:rPr lang="en-US" altLang="zh-TW" sz="1200" dirty="0" smtClean="0"/>
              <a:t>(</a:t>
            </a:r>
            <a:r>
              <a:rPr lang="zh-TW" altLang="en-US" sz="1200" dirty="0" smtClean="0"/>
              <a:t>未沖銷</a:t>
            </a:r>
            <a:r>
              <a:rPr lang="en-US" altLang="zh-TW" sz="1200" dirty="0" smtClean="0"/>
              <a:t>)$4.41</a:t>
            </a:r>
            <a:r>
              <a:rPr lang="zh-TW" altLang="en-US" sz="1200" dirty="0" smtClean="0"/>
              <a:t>億：台灣</a:t>
            </a:r>
            <a:r>
              <a:rPr lang="en-US" altLang="zh-TW" sz="1200" dirty="0" smtClean="0"/>
              <a:t>4.04</a:t>
            </a:r>
            <a:r>
              <a:rPr lang="zh-TW" altLang="en-US" sz="1200" dirty="0" smtClean="0"/>
              <a:t>億</a:t>
            </a:r>
            <a:r>
              <a:rPr lang="en-US" altLang="zh-TW" sz="1200" dirty="0" smtClean="0"/>
              <a:t>+</a:t>
            </a:r>
            <a:r>
              <a:rPr lang="zh-TW" altLang="en-US" sz="1200" dirty="0" smtClean="0"/>
              <a:t>雙華</a:t>
            </a:r>
            <a:r>
              <a:rPr lang="en-US" altLang="zh-TW" sz="1200" dirty="0" smtClean="0"/>
              <a:t>2,900m(0.29</a:t>
            </a:r>
            <a:r>
              <a:rPr lang="zh-TW" altLang="en-US" sz="1200" dirty="0" smtClean="0"/>
              <a:t>億</a:t>
            </a:r>
            <a:r>
              <a:rPr lang="en-US" altLang="zh-TW" sz="1200" dirty="0" smtClean="0"/>
              <a:t>)+</a:t>
            </a:r>
            <a:r>
              <a:rPr lang="zh-TW" altLang="en-US" sz="1200" dirty="0" smtClean="0"/>
              <a:t>台華</a:t>
            </a:r>
            <a:r>
              <a:rPr lang="en-US" altLang="zh-TW" sz="1200" dirty="0" smtClean="0"/>
              <a:t>800m(0.08</a:t>
            </a:r>
            <a:r>
              <a:rPr lang="zh-TW" altLang="en-US" sz="1200" dirty="0" smtClean="0"/>
              <a:t>億</a:t>
            </a:r>
            <a:r>
              <a:rPr lang="en-US" altLang="zh-TW" sz="1200" dirty="0" smtClean="0"/>
              <a:t>)</a:t>
            </a:r>
            <a:endParaRPr lang="fr-FR" altLang="zh-TW" sz="1200" dirty="0" smtClean="0"/>
          </a:p>
          <a:p>
            <a:pPr defTabSz="990752" eaLnBrk="0" fontAlgn="base" hangingPunct="0">
              <a:spcBef>
                <a:spcPct val="30000"/>
              </a:spcBef>
              <a:spcAft>
                <a:spcPct val="0"/>
              </a:spcAft>
              <a:defRPr/>
            </a:pPr>
            <a:endParaRPr lang="fr-FR" altLang="zh-TW" sz="1200" dirty="0" smtClean="0"/>
          </a:p>
          <a:p>
            <a:r>
              <a:rPr lang="en-US" altLang="zh-TW" sz="1200" b="1" dirty="0" smtClean="0"/>
              <a:t>115</a:t>
            </a:r>
            <a:r>
              <a:rPr lang="zh-TW" altLang="zh-TW" sz="1200" b="1" dirty="0" smtClean="0"/>
              <a:t>年度營業計畫及發展策略</a:t>
            </a:r>
            <a:endParaRPr lang="en-US" altLang="zh-TW" sz="1200" b="1" dirty="0" smtClean="0"/>
          </a:p>
          <a:p>
            <a:pPr lvl="0"/>
            <a:r>
              <a:rPr lang="zh-TW" altLang="zh-TW" sz="1200" b="1" dirty="0" smtClean="0"/>
              <a:t>置產事業</a:t>
            </a:r>
          </a:p>
          <a:p>
            <a:r>
              <a:rPr lang="zh-TW" altLang="zh-TW" sz="1200" dirty="0" smtClean="0"/>
              <a:t>完善物流與產業設施布局，推動智慧化管理，並結合再生能源應用，提升資產長期營運效益。</a:t>
            </a:r>
            <a:endParaRPr lang="en-US" altLang="zh-TW" sz="1200" dirty="0" smtClean="0"/>
          </a:p>
          <a:p>
            <a:r>
              <a:rPr lang="en-US" altLang="zh-TW" sz="1200" dirty="0" smtClean="0"/>
              <a:t>*</a:t>
            </a:r>
            <a:r>
              <a:rPr lang="zh-TW" altLang="en-US" sz="1200" dirty="0" smtClean="0"/>
              <a:t>產業之現況與發展 </a:t>
            </a:r>
            <a:endParaRPr lang="en-US" altLang="zh-TW" sz="1200" dirty="0" smtClean="0"/>
          </a:p>
          <a:p>
            <a:r>
              <a:rPr lang="zh-TW" altLang="en-US" sz="1200" dirty="0" smtClean="0"/>
              <a:t>台灣商用不動產產業因科技業和製造業發展，持續帶動辦公室和生產設施需求增加，尤其是半導體產業持續擴張，帶來研發和生產空間強烈需求。商業設施和購物中心建設陸續興建，滿足消費者的需求。面對營建成本居高不下挑戰，商用不動產市場仍應謹慎應對。未來商用不動產行業有望持續成長，但需有效應對供需平衡、持續發展和市場競爭等挑戰，確保穩定發展成長策略。 </a:t>
            </a:r>
            <a:endParaRPr lang="en-US" altLang="zh-TW" sz="1200" dirty="0" smtClean="0"/>
          </a:p>
          <a:p>
            <a:r>
              <a:rPr lang="zh-TW" altLang="en-US" sz="1200" dirty="0" smtClean="0"/>
              <a:t>＊短期發展</a:t>
            </a:r>
            <a:r>
              <a:rPr lang="en-US" altLang="zh-TW" sz="1200" dirty="0" smtClean="0"/>
              <a:t>:</a:t>
            </a:r>
          </a:p>
          <a:p>
            <a:r>
              <a:rPr lang="zh-TW" altLang="en-US" sz="1200" dirty="0" smtClean="0"/>
              <a:t>不動產租賃：規劃整合閒置土地、關係企業辦公空間，活化升級老舊廠區。除與永聯物流開發公司合作的桃園楊梅現代化大型智慧物流園區持續興建中，針對基隆七堵廠區同步整體性規劃，擴展既有不動產業務發展空間。</a:t>
            </a:r>
            <a:endParaRPr lang="zh-TW" altLang="zh-TW" sz="1200" dirty="0" smtClean="0"/>
          </a:p>
        </p:txBody>
      </p:sp>
      <p:sp>
        <p:nvSpPr>
          <p:cNvPr id="4" name="投影片編號版面配置區 3"/>
          <p:cNvSpPr>
            <a:spLocks noGrp="1"/>
          </p:cNvSpPr>
          <p:nvPr>
            <p:ph type="sldNum" sz="quarter" idx="10"/>
          </p:nvPr>
        </p:nvSpPr>
        <p:spPr/>
        <p:txBody>
          <a:bodyPr/>
          <a:lstStyle/>
          <a:p>
            <a:fld id="{FB9D65D2-DC87-44FF-9CE2-DCFBEF47D491}" type="slidenum">
              <a:rPr lang="zh-TW" altLang="en-US" smtClean="0"/>
              <a:t>8</a:t>
            </a:fld>
            <a:endParaRPr lang="zh-TW" altLang="en-US"/>
          </a:p>
        </p:txBody>
      </p:sp>
    </p:spTree>
    <p:extLst>
      <p:ext uri="{BB962C8B-B14F-4D97-AF65-F5344CB8AC3E}">
        <p14:creationId xmlns:p14="http://schemas.microsoft.com/office/powerpoint/2010/main" val="1199016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90752" rtl="0" eaLnBrk="0" fontAlgn="base" latinLnBrk="0" hangingPunct="0">
              <a:lnSpc>
                <a:spcPct val="100000"/>
              </a:lnSpc>
              <a:spcBef>
                <a:spcPct val="30000"/>
              </a:spcBef>
              <a:spcAft>
                <a:spcPct val="0"/>
              </a:spcAft>
              <a:buClrTx/>
              <a:buSzTx/>
              <a:buFontTx/>
              <a:buNone/>
              <a:tabLst/>
              <a:defRPr/>
            </a:pPr>
            <a:r>
              <a:rPr lang="zh-TW" altLang="en-US" sz="1200" dirty="0" smtClean="0"/>
              <a:t>**</a:t>
            </a:r>
            <a:r>
              <a:rPr lang="zh-TW" altLang="zh-TW" sz="1200" b="1" dirty="0" smtClean="0"/>
              <a:t>富岡物流：</a:t>
            </a:r>
            <a:r>
              <a:rPr lang="en-US" altLang="zh-TW" sz="1200" dirty="0" smtClean="0">
                <a:cs typeface="等线"/>
              </a:rPr>
              <a:t>2026/</a:t>
            </a:r>
            <a:r>
              <a:rPr lang="en-US" altLang="zh-TW" sz="1200" dirty="0" smtClean="0"/>
              <a:t>2</a:t>
            </a:r>
            <a:r>
              <a:rPr lang="zh-TW" altLang="zh-TW" sz="1200" dirty="0" smtClean="0"/>
              <a:t>月取得使用執照。</a:t>
            </a:r>
            <a:r>
              <a:rPr lang="zh-TW" altLang="en-US" sz="1200" dirty="0" smtClean="0">
                <a:cs typeface="等线"/>
              </a:rPr>
              <a:t>契約日</a:t>
            </a:r>
            <a:r>
              <a:rPr lang="en-US" altLang="zh-TW" sz="1200" dirty="0" smtClean="0">
                <a:cs typeface="等线"/>
              </a:rPr>
              <a:t>:2023/6/1</a:t>
            </a:r>
            <a:endParaRPr lang="en-US" altLang="zh-TW" sz="1200" b="1" dirty="0" smtClean="0"/>
          </a:p>
          <a:p>
            <a:pPr marL="0" marR="0" lvl="0" indent="0" algn="l" defTabSz="990752" rtl="0" eaLnBrk="0" fontAlgn="base" latinLnBrk="0" hangingPunct="0">
              <a:lnSpc>
                <a:spcPct val="100000"/>
              </a:lnSpc>
              <a:spcBef>
                <a:spcPct val="30000"/>
              </a:spcBef>
              <a:spcAft>
                <a:spcPct val="0"/>
              </a:spcAft>
              <a:buClrTx/>
              <a:buSzTx/>
              <a:buFontTx/>
              <a:buNone/>
              <a:tabLst/>
              <a:defRPr/>
            </a:pPr>
            <a:r>
              <a:rPr lang="en-US" altLang="zh-TW" sz="1200" dirty="0" smtClean="0">
                <a:cs typeface="等线"/>
              </a:rPr>
              <a:t>112</a:t>
            </a:r>
            <a:r>
              <a:rPr lang="zh-TW" altLang="en-US" sz="1200" dirty="0" smtClean="0">
                <a:cs typeface="等线"/>
              </a:rPr>
              <a:t>年</a:t>
            </a:r>
            <a:r>
              <a:rPr lang="en-US" altLang="zh-TW" sz="1200" dirty="0" smtClean="0">
                <a:cs typeface="等线"/>
              </a:rPr>
              <a:t>3</a:t>
            </a:r>
            <a:r>
              <a:rPr lang="zh-TW" altLang="en-US" sz="1200" dirty="0" smtClean="0">
                <a:cs typeface="等线"/>
              </a:rPr>
              <a:t>月獲經濟部核可，</a:t>
            </a:r>
            <a:r>
              <a:rPr lang="zh-TW" altLang="en-US" sz="1200" dirty="0" smtClean="0">
                <a:ea typeface="微軟正黑體" panose="020B0604030504040204" pitchFamily="34" charset="-120"/>
              </a:rPr>
              <a:t>依</a:t>
            </a:r>
            <a:r>
              <a:rPr lang="en-US" altLang="zh-TW" sz="1200" dirty="0" smtClean="0">
                <a:ea typeface="微軟正黑體" panose="020B0604030504040204" pitchFamily="34" charset="-120"/>
              </a:rPr>
              <a:t>《</a:t>
            </a:r>
            <a:r>
              <a:rPr lang="zh-TW" altLang="en-US" sz="1200" dirty="0" smtClean="0">
                <a:ea typeface="微軟正黑體" panose="020B0604030504040204" pitchFamily="34" charset="-120"/>
              </a:rPr>
              <a:t>促進民間參與公共建設法</a:t>
            </a:r>
            <a:r>
              <a:rPr lang="en-US" altLang="zh-TW" sz="1200" dirty="0" smtClean="0">
                <a:ea typeface="微軟正黑體" panose="020B0604030504040204" pitchFamily="34" charset="-120"/>
              </a:rPr>
              <a:t>》</a:t>
            </a:r>
            <a:r>
              <a:rPr lang="zh-TW" altLang="en-US" sz="1200" dirty="0" smtClean="0">
                <a:ea typeface="微軟正黑體" panose="020B0604030504040204" pitchFamily="34" charset="-120"/>
              </a:rPr>
              <a:t>第 </a:t>
            </a:r>
            <a:r>
              <a:rPr lang="en-US" altLang="zh-TW" sz="1200" dirty="0" smtClean="0">
                <a:ea typeface="微軟正黑體" panose="020B0604030504040204" pitchFamily="34" charset="-120"/>
              </a:rPr>
              <a:t>8 </a:t>
            </a:r>
            <a:r>
              <a:rPr lang="zh-TW" altLang="en-US" sz="1200" dirty="0" smtClean="0">
                <a:ea typeface="微軟正黑體" panose="020B0604030504040204" pitchFamily="34" charset="-120"/>
              </a:rPr>
              <a:t>條第 </a:t>
            </a:r>
            <a:r>
              <a:rPr lang="en-US" altLang="zh-TW" sz="1200" dirty="0" smtClean="0">
                <a:ea typeface="微軟正黑體" panose="020B0604030504040204" pitchFamily="34" charset="-120"/>
              </a:rPr>
              <a:t>1 </a:t>
            </a:r>
            <a:r>
              <a:rPr lang="zh-TW" altLang="en-US" sz="1200" dirty="0" smtClean="0">
                <a:ea typeface="微軟正黑體" panose="020B0604030504040204" pitchFamily="34" charset="-120"/>
              </a:rPr>
              <a:t>項第 </a:t>
            </a:r>
            <a:r>
              <a:rPr lang="en-US" altLang="zh-TW" sz="1200" dirty="0" smtClean="0">
                <a:ea typeface="微軟正黑體" panose="020B0604030504040204" pitchFamily="34" charset="-120"/>
              </a:rPr>
              <a:t>6 </a:t>
            </a:r>
            <a:r>
              <a:rPr lang="zh-TW" altLang="en-US" sz="1200" dirty="0" smtClean="0">
                <a:ea typeface="微軟正黑體" panose="020B0604030504040204" pitchFamily="34" charset="-120"/>
              </a:rPr>
              <a:t>款，民間機構自備私有土地投資興建、取得所有權，並自營或委託第三人營運，即屬 </a:t>
            </a:r>
            <a:r>
              <a:rPr lang="en-US" altLang="zh-TW" sz="1200" dirty="0" smtClean="0">
                <a:ea typeface="微軟正黑體" panose="020B0604030504040204" pitchFamily="34" charset="-120"/>
              </a:rPr>
              <a:t>BOO </a:t>
            </a:r>
            <a:r>
              <a:rPr lang="zh-TW" altLang="en-US" sz="1200" dirty="0" smtClean="0">
                <a:ea typeface="微軟正黑體" panose="020B0604030504040204" pitchFamily="34" charset="-120"/>
              </a:rPr>
              <a:t>模式。</a:t>
            </a:r>
            <a:endParaRPr lang="zh-TW" altLang="en-US" sz="1200" dirty="0" smtClean="0">
              <a:cs typeface="等线"/>
            </a:endParaRPr>
          </a:p>
          <a:p>
            <a:pPr marL="0" marR="0" lvl="0" indent="0" algn="l" defTabSz="990752" rtl="0" eaLnBrk="0" fontAlgn="base" latinLnBrk="0" hangingPunct="0">
              <a:lnSpc>
                <a:spcPct val="100000"/>
              </a:lnSpc>
              <a:spcBef>
                <a:spcPct val="30000"/>
              </a:spcBef>
              <a:spcAft>
                <a:spcPct val="0"/>
              </a:spcAft>
              <a:buClrTx/>
              <a:buSzTx/>
              <a:buFontTx/>
              <a:buNone/>
              <a:tabLst/>
              <a:defRPr/>
            </a:pPr>
            <a:r>
              <a:rPr lang="en-US" altLang="zh-TW" sz="1200" dirty="0" smtClean="0"/>
              <a:t>**</a:t>
            </a:r>
            <a:r>
              <a:rPr lang="zh-TW" altLang="zh-TW" sz="1200" dirty="0" smtClean="0"/>
              <a:t>目前租賃現況</a:t>
            </a:r>
            <a:r>
              <a:rPr lang="zh-TW" altLang="en-US" sz="1200" dirty="0" smtClean="0"/>
              <a:t>：</a:t>
            </a:r>
            <a:r>
              <a:rPr lang="zh-TW" altLang="zh-TW" sz="1200" dirty="0" smtClean="0"/>
              <a:t>目前永聯已正式對外使用</a:t>
            </a:r>
            <a:r>
              <a:rPr lang="en-US" altLang="zh-TW" sz="1200" dirty="0" smtClean="0"/>
              <a:t>: A</a:t>
            </a:r>
            <a:r>
              <a:rPr lang="zh-TW" altLang="zh-TW" sz="1200" dirty="0" smtClean="0"/>
              <a:t>棟租客台積電，</a:t>
            </a:r>
            <a:r>
              <a:rPr lang="en-US" altLang="zh-TW" sz="1200" dirty="0" smtClean="0"/>
              <a:t>B</a:t>
            </a:r>
            <a:r>
              <a:rPr lang="zh-TW" altLang="zh-TW" sz="1200" dirty="0" smtClean="0"/>
              <a:t>棟</a:t>
            </a:r>
            <a:r>
              <a:rPr lang="en-US" altLang="zh-TW" sz="1200" dirty="0" smtClean="0"/>
              <a:t>3</a:t>
            </a:r>
            <a:r>
              <a:rPr lang="zh-TW" altLang="zh-TW" sz="1200" dirty="0" smtClean="0"/>
              <a:t>、</a:t>
            </a:r>
            <a:r>
              <a:rPr lang="en-US" altLang="zh-TW" sz="1200" dirty="0" smtClean="0"/>
              <a:t>4</a:t>
            </a:r>
            <a:r>
              <a:rPr lang="zh-TW" altLang="zh-TW" sz="1200" dirty="0" smtClean="0"/>
              <a:t>樓租客神雲</a:t>
            </a:r>
          </a:p>
          <a:p>
            <a:pPr defTabSz="990752" eaLnBrk="0" fontAlgn="base" hangingPunct="0">
              <a:spcBef>
                <a:spcPct val="30000"/>
              </a:spcBef>
              <a:spcAft>
                <a:spcPct val="0"/>
              </a:spcAft>
              <a:defRPr/>
            </a:pPr>
            <a:r>
              <a:rPr lang="zh-TW" altLang="zh-TW" sz="1100" kern="1200" dirty="0" smtClean="0">
                <a:solidFill>
                  <a:schemeClr val="tx1"/>
                </a:solidFill>
                <a:effectLst/>
                <a:latin typeface="+mn-lt"/>
                <a:ea typeface="+mn-ea"/>
                <a:cs typeface="+mn-cs"/>
              </a:rPr>
              <a:t>富岡物流中心已達可供使用狀態，相關支出已由在建工程轉列為房屋及建築，並開始認列相關租賃收入及提列折舊</a:t>
            </a:r>
            <a:endParaRPr lang="en-US" altLang="zh-TW" sz="1100" kern="1200" dirty="0" smtClean="0">
              <a:solidFill>
                <a:schemeClr val="tx1"/>
              </a:solidFill>
              <a:effectLst/>
              <a:latin typeface="+mn-lt"/>
              <a:ea typeface="+mn-ea"/>
              <a:cs typeface="+mn-cs"/>
            </a:endParaRPr>
          </a:p>
          <a:p>
            <a:pPr marL="0" marR="0" lvl="0" indent="0" algn="l" defTabSz="990752" rtl="0" eaLnBrk="0" fontAlgn="base" latinLnBrk="0" hangingPunct="0">
              <a:lnSpc>
                <a:spcPct val="100000"/>
              </a:lnSpc>
              <a:spcBef>
                <a:spcPct val="30000"/>
              </a:spcBef>
              <a:spcAft>
                <a:spcPct val="0"/>
              </a:spcAft>
              <a:buClrTx/>
              <a:buSzTx/>
              <a:buFontTx/>
              <a:buNone/>
              <a:tabLst/>
              <a:defRPr/>
            </a:pPr>
            <a:r>
              <a:rPr lang="en-US" altLang="zh-TW" sz="1100" kern="1200" dirty="0" smtClean="0">
                <a:solidFill>
                  <a:schemeClr val="tx1"/>
                </a:solidFill>
                <a:effectLst/>
                <a:latin typeface="+mn-lt"/>
                <a:ea typeface="+mn-ea"/>
                <a:cs typeface="+mn-cs"/>
              </a:rPr>
              <a:t>2021/10</a:t>
            </a:r>
            <a:r>
              <a:rPr lang="zh-TW" altLang="zh-TW" sz="1100" kern="1200" dirty="0" smtClean="0">
                <a:solidFill>
                  <a:schemeClr val="tx1"/>
                </a:solidFill>
                <a:effectLst/>
                <a:latin typeface="+mn-lt"/>
                <a:ea typeface="+mn-ea"/>
                <a:cs typeface="+mn-cs"/>
              </a:rPr>
              <a:t>與永聯物流</a:t>
            </a:r>
            <a:r>
              <a:rPr lang="en-US" altLang="zh-TW" sz="1100" kern="1200" dirty="0" smtClean="0">
                <a:solidFill>
                  <a:schemeClr val="tx1"/>
                </a:solidFill>
                <a:effectLst/>
                <a:latin typeface="+mn-lt"/>
                <a:ea typeface="+mn-ea"/>
                <a:cs typeface="+mn-cs"/>
              </a:rPr>
              <a:t>(</a:t>
            </a:r>
            <a:r>
              <a:rPr lang="zh-TW" altLang="zh-TW" sz="1100" kern="1200" dirty="0" smtClean="0">
                <a:solidFill>
                  <a:schemeClr val="tx1"/>
                </a:solidFill>
                <a:effectLst/>
                <a:latin typeface="+mn-lt"/>
                <a:ea typeface="+mn-ea"/>
                <a:cs typeface="+mn-cs"/>
              </a:rPr>
              <a:t>設計規劃及興建</a:t>
            </a:r>
            <a:r>
              <a:rPr lang="en-US" altLang="zh-TW" sz="1100" kern="1200" dirty="0" smtClean="0">
                <a:solidFill>
                  <a:schemeClr val="tx1"/>
                </a:solidFill>
                <a:effectLst/>
                <a:latin typeface="+mn-lt"/>
                <a:ea typeface="+mn-ea"/>
                <a:cs typeface="+mn-cs"/>
              </a:rPr>
              <a:t>)</a:t>
            </a:r>
            <a:r>
              <a:rPr lang="zh-TW" altLang="zh-TW" sz="1100" kern="1200" dirty="0" smtClean="0">
                <a:solidFill>
                  <a:schemeClr val="tx1"/>
                </a:solidFill>
                <a:effectLst/>
                <a:latin typeface="+mn-lt"/>
                <a:ea typeface="+mn-ea"/>
                <a:cs typeface="+mn-cs"/>
              </a:rPr>
              <a:t>簽署合作「聯華富岡物流中心資產開發合作興建案」</a:t>
            </a:r>
            <a:endParaRPr lang="en-US" altLang="zh-TW" sz="1100" kern="1200" dirty="0" smtClean="0">
              <a:solidFill>
                <a:schemeClr val="tx1"/>
              </a:solidFill>
              <a:effectLst/>
              <a:latin typeface="+mn-lt"/>
              <a:ea typeface="+mn-ea"/>
              <a:cs typeface="+mn-cs"/>
            </a:endParaRPr>
          </a:p>
          <a:p>
            <a:pPr marL="0" marR="0" lvl="0" indent="0" algn="l" defTabSz="990752" rtl="0" eaLnBrk="0" fontAlgn="base" latinLnBrk="0" hangingPunct="0">
              <a:lnSpc>
                <a:spcPct val="100000"/>
              </a:lnSpc>
              <a:spcBef>
                <a:spcPct val="30000"/>
              </a:spcBef>
              <a:spcAft>
                <a:spcPct val="0"/>
              </a:spcAft>
              <a:buClrTx/>
              <a:buSzTx/>
              <a:buFontTx/>
              <a:buNone/>
              <a:tabLst/>
              <a:defRPr/>
            </a:pPr>
            <a:endParaRPr lang="en-US" altLang="zh-TW" sz="1100" b="1" kern="1200" dirty="0" smtClean="0">
              <a:solidFill>
                <a:schemeClr val="tx1"/>
              </a:solidFill>
              <a:effectLst/>
              <a:latin typeface="+mn-lt"/>
              <a:ea typeface="+mn-ea"/>
              <a:cs typeface="+mn-cs"/>
            </a:endParaRPr>
          </a:p>
          <a:p>
            <a:pPr marL="0" marR="0" lvl="0" indent="0" algn="l" defTabSz="990752" rtl="0" eaLnBrk="0" fontAlgn="base" latinLnBrk="0" hangingPunct="0">
              <a:lnSpc>
                <a:spcPct val="100000"/>
              </a:lnSpc>
              <a:spcBef>
                <a:spcPct val="30000"/>
              </a:spcBef>
              <a:spcAft>
                <a:spcPct val="0"/>
              </a:spcAft>
              <a:buClrTx/>
              <a:buSzTx/>
              <a:buFontTx/>
              <a:buNone/>
              <a:tabLst/>
              <a:defRPr/>
            </a:pPr>
            <a:r>
              <a:rPr lang="zh-TW" altLang="en-US" sz="1100" b="1" kern="1200" dirty="0" smtClean="0">
                <a:solidFill>
                  <a:schemeClr val="tx1"/>
                </a:solidFill>
                <a:effectLst/>
                <a:latin typeface="+mn-lt"/>
                <a:ea typeface="+mn-ea"/>
                <a:cs typeface="+mn-cs"/>
              </a:rPr>
              <a:t>**</a:t>
            </a:r>
            <a:r>
              <a:rPr lang="zh-TW" altLang="zh-TW" sz="1100" b="1" kern="1200" dirty="0" smtClean="0">
                <a:solidFill>
                  <a:schemeClr val="tx1"/>
                </a:solidFill>
                <a:effectLst/>
                <a:latin typeface="+mn-lt"/>
                <a:ea typeface="+mn-ea"/>
                <a:cs typeface="+mn-cs"/>
              </a:rPr>
              <a:t>七堵廠辦：</a:t>
            </a:r>
            <a:r>
              <a:rPr lang="en-US" altLang="zh-TW" sz="1100" kern="1200" dirty="0" smtClean="0">
                <a:solidFill>
                  <a:schemeClr val="tx1"/>
                </a:solidFill>
                <a:effectLst/>
                <a:latin typeface="+mn-lt"/>
                <a:ea typeface="+mn-ea"/>
                <a:cs typeface="+mn-cs"/>
              </a:rPr>
              <a:t>2026/7/15</a:t>
            </a:r>
            <a:r>
              <a:rPr lang="zh-TW" altLang="zh-TW" sz="1100" kern="1200" dirty="0" smtClean="0">
                <a:solidFill>
                  <a:schemeClr val="tx1"/>
                </a:solidFill>
                <a:effectLst/>
                <a:latin typeface="+mn-lt"/>
                <a:ea typeface="+mn-ea"/>
                <a:cs typeface="+mn-cs"/>
              </a:rPr>
              <a:t>取得使用執照</a:t>
            </a:r>
            <a:endParaRPr lang="en-US" altLang="zh-TW" sz="1100" kern="1200" dirty="0" smtClean="0">
              <a:solidFill>
                <a:schemeClr val="tx1"/>
              </a:solidFill>
              <a:effectLst/>
              <a:latin typeface="+mn-lt"/>
              <a:ea typeface="+mn-ea"/>
              <a:cs typeface="+mn-cs"/>
            </a:endParaRPr>
          </a:p>
          <a:p>
            <a:pPr marL="0" marR="0" lvl="0" indent="0" algn="l" defTabSz="990752" rtl="0" eaLnBrk="0" fontAlgn="base" latinLnBrk="0" hangingPunct="0">
              <a:lnSpc>
                <a:spcPct val="100000"/>
              </a:lnSpc>
              <a:spcBef>
                <a:spcPct val="30000"/>
              </a:spcBef>
              <a:spcAft>
                <a:spcPct val="0"/>
              </a:spcAft>
              <a:buClrTx/>
              <a:buSzTx/>
              <a:buFontTx/>
              <a:buNone/>
              <a:tabLst/>
              <a:defRPr/>
            </a:pPr>
            <a:r>
              <a:rPr lang="zh-TW" altLang="en-US" sz="1100" dirty="0" smtClean="0">
                <a:latin typeface="微軟正黑體" panose="020B0604030504040204" pitchFamily="34" charset="-120"/>
                <a:ea typeface="微軟正黑體" panose="020B0604030504040204" pitchFamily="34" charset="-120"/>
              </a:rPr>
              <a:t>配合神通資科遷廠需求，規劃包含常溫倉庫、生產廠房及辦公室，完工後租予神通資科。</a:t>
            </a:r>
            <a:endParaRPr lang="en-US" altLang="zh-TW" sz="1100" dirty="0" smtClean="0">
              <a:latin typeface="微軟正黑體" panose="020B0604030504040204" pitchFamily="34" charset="-120"/>
              <a:ea typeface="微軟正黑體" panose="020B0604030504040204" pitchFamily="34" charset="-120"/>
            </a:endParaRPr>
          </a:p>
          <a:p>
            <a:pPr defTabSz="990752" eaLnBrk="0" fontAlgn="base" hangingPunct="0">
              <a:spcBef>
                <a:spcPct val="30000"/>
              </a:spcBef>
              <a:spcAft>
                <a:spcPct val="0"/>
              </a:spcAft>
              <a:defRPr/>
            </a:pPr>
            <a:r>
              <a:rPr lang="zh-TW" altLang="zh-TW" sz="1100" kern="1200" dirty="0" smtClean="0">
                <a:solidFill>
                  <a:schemeClr val="tx1"/>
                </a:solidFill>
                <a:effectLst/>
                <a:latin typeface="+mn-lt"/>
                <a:ea typeface="+mn-ea"/>
                <a:cs typeface="+mn-cs"/>
              </a:rPr>
              <a:t>租賃現況</a:t>
            </a:r>
            <a:r>
              <a:rPr lang="zh-TW" altLang="en-US" sz="1100" kern="1200" dirty="0" smtClean="0">
                <a:solidFill>
                  <a:schemeClr val="tx1"/>
                </a:solidFill>
                <a:effectLst/>
                <a:latin typeface="+mn-lt"/>
                <a:ea typeface="+mn-ea"/>
                <a:cs typeface="+mn-cs"/>
              </a:rPr>
              <a:t>：</a:t>
            </a:r>
            <a:r>
              <a:rPr lang="zh-TW" altLang="zh-TW" sz="1100" kern="1200" dirty="0" smtClean="0">
                <a:solidFill>
                  <a:schemeClr val="tx1"/>
                </a:solidFill>
                <a:effectLst/>
                <a:latin typeface="+mn-lt"/>
                <a:ea typeface="+mn-ea"/>
                <a:cs typeface="+mn-cs"/>
              </a:rPr>
              <a:t>神通資科</a:t>
            </a:r>
            <a:r>
              <a:rPr lang="en-US" altLang="zh-TW" sz="1100" kern="1200" dirty="0" smtClean="0">
                <a:solidFill>
                  <a:schemeClr val="tx1"/>
                </a:solidFill>
                <a:effectLst/>
                <a:latin typeface="+mn-lt"/>
                <a:ea typeface="+mn-ea"/>
                <a:cs typeface="+mn-cs"/>
              </a:rPr>
              <a:t>9/1</a:t>
            </a:r>
            <a:r>
              <a:rPr lang="zh-TW" altLang="zh-TW" sz="1100" kern="1200" dirty="0" smtClean="0">
                <a:solidFill>
                  <a:schemeClr val="tx1"/>
                </a:solidFill>
                <a:effectLst/>
                <a:latin typeface="+mn-lt"/>
                <a:ea typeface="+mn-ea"/>
                <a:cs typeface="+mn-cs"/>
              </a:rPr>
              <a:t>起租並開始算租金</a:t>
            </a:r>
            <a:r>
              <a:rPr lang="zh-TW" altLang="en-US" sz="1100" kern="1200" dirty="0" smtClean="0">
                <a:solidFill>
                  <a:schemeClr val="tx1"/>
                </a:solidFill>
                <a:effectLst/>
                <a:latin typeface="+mn-lt"/>
                <a:ea typeface="+mn-ea"/>
                <a:cs typeface="+mn-cs"/>
              </a:rPr>
              <a:t>，每月約</a:t>
            </a:r>
            <a:r>
              <a:rPr lang="en-US" altLang="zh-TW" sz="1100" kern="1200" dirty="0" smtClean="0">
                <a:solidFill>
                  <a:schemeClr val="tx1"/>
                </a:solidFill>
                <a:effectLst/>
                <a:latin typeface="+mn-lt"/>
                <a:ea typeface="+mn-ea"/>
                <a:cs typeface="+mn-cs"/>
              </a:rPr>
              <a:t>130</a:t>
            </a:r>
            <a:r>
              <a:rPr lang="zh-TW" altLang="en-US" sz="1100" kern="1200" dirty="0" smtClean="0">
                <a:solidFill>
                  <a:schemeClr val="tx1"/>
                </a:solidFill>
                <a:effectLst/>
                <a:latin typeface="+mn-lt"/>
                <a:ea typeface="+mn-ea"/>
                <a:cs typeface="+mn-cs"/>
              </a:rPr>
              <a:t>萬元，本年度預計</a:t>
            </a:r>
            <a:r>
              <a:rPr lang="en-US" altLang="zh-TW" sz="1100" kern="1200" dirty="0" smtClean="0">
                <a:solidFill>
                  <a:schemeClr val="tx1"/>
                </a:solidFill>
                <a:effectLst/>
                <a:latin typeface="+mn-lt"/>
                <a:ea typeface="+mn-ea"/>
                <a:cs typeface="+mn-cs"/>
              </a:rPr>
              <a:t>520</a:t>
            </a:r>
            <a:r>
              <a:rPr lang="zh-TW" altLang="en-US" sz="1100" kern="1200" dirty="0" smtClean="0">
                <a:solidFill>
                  <a:schemeClr val="tx1"/>
                </a:solidFill>
                <a:effectLst/>
                <a:latin typeface="+mn-lt"/>
                <a:ea typeface="+mn-ea"/>
                <a:cs typeface="+mn-cs"/>
              </a:rPr>
              <a:t>萬</a:t>
            </a:r>
            <a:endParaRPr lang="en-US" altLang="zh-TW" sz="1100" kern="1200" dirty="0" smtClean="0">
              <a:solidFill>
                <a:schemeClr val="tx1"/>
              </a:solidFill>
              <a:effectLst/>
              <a:latin typeface="+mn-lt"/>
              <a:ea typeface="+mn-ea"/>
              <a:cs typeface="+mn-cs"/>
            </a:endParaRPr>
          </a:p>
          <a:p>
            <a:pPr defTabSz="990752" eaLnBrk="0" fontAlgn="base" hangingPunct="0">
              <a:spcBef>
                <a:spcPct val="30000"/>
              </a:spcBef>
              <a:spcAft>
                <a:spcPct val="0"/>
              </a:spcAft>
              <a:defRPr/>
            </a:pPr>
            <a:endParaRPr lang="en-US" altLang="zh-TW" sz="1200" dirty="0" smtClean="0"/>
          </a:p>
          <a:p>
            <a:pPr defTabSz="990752" eaLnBrk="0" fontAlgn="base" hangingPunct="0">
              <a:spcBef>
                <a:spcPct val="30000"/>
              </a:spcBef>
              <a:spcAft>
                <a:spcPct val="0"/>
              </a:spcAft>
              <a:defRPr/>
            </a:pPr>
            <a:r>
              <a:rPr lang="en-US" altLang="zh-TW" sz="1200" dirty="0" smtClean="0"/>
              <a:t>114 </a:t>
            </a:r>
            <a:r>
              <a:rPr lang="zh-TW" altLang="en-US" sz="1200" dirty="0" smtClean="0"/>
              <a:t>年度營業結果報告</a:t>
            </a:r>
            <a:r>
              <a:rPr lang="en-US" altLang="zh-TW" sz="1200" dirty="0" smtClean="0"/>
              <a:t>(From</a:t>
            </a:r>
            <a:r>
              <a:rPr lang="zh-TW" altLang="en-US" sz="1200" dirty="0" smtClean="0"/>
              <a:t>股東會年報</a:t>
            </a:r>
            <a:r>
              <a:rPr lang="en-US" altLang="zh-TW" sz="1200" dirty="0" smtClean="0"/>
              <a:t>)</a:t>
            </a:r>
            <a:r>
              <a:rPr lang="zh-TW" altLang="en-US" sz="1200" dirty="0" smtClean="0"/>
              <a:t>：</a:t>
            </a:r>
            <a:r>
              <a:rPr lang="zh-TW" altLang="zh-TW" sz="1200" dirty="0" smtClean="0"/>
              <a:t>聯華置產租賃收入連續八年穩健成長，並有效利用資產投入太陽能發售電。</a:t>
            </a:r>
            <a:endParaRPr lang="en-US" altLang="zh-TW" sz="1200" dirty="0" smtClean="0"/>
          </a:p>
          <a:p>
            <a:pPr defTabSz="990752" eaLnBrk="0" fontAlgn="base" hangingPunct="0">
              <a:spcBef>
                <a:spcPct val="30000"/>
              </a:spcBef>
              <a:spcAft>
                <a:spcPct val="0"/>
              </a:spcAft>
              <a:defRPr/>
            </a:pPr>
            <a:endParaRPr lang="fr-FR" altLang="zh-TW" sz="1200" dirty="0" smtClean="0"/>
          </a:p>
          <a:p>
            <a:endParaRPr lang="zh-TW" altLang="en-US" dirty="0"/>
          </a:p>
        </p:txBody>
      </p:sp>
      <p:sp>
        <p:nvSpPr>
          <p:cNvPr id="4" name="投影片編號版面配置區 3"/>
          <p:cNvSpPr>
            <a:spLocks noGrp="1"/>
          </p:cNvSpPr>
          <p:nvPr>
            <p:ph type="sldNum" sz="quarter" idx="10"/>
          </p:nvPr>
        </p:nvSpPr>
        <p:spPr/>
        <p:txBody>
          <a:bodyPr/>
          <a:lstStyle/>
          <a:p>
            <a:fld id="{FB9D65D2-DC87-44FF-9CE2-DCFBEF47D491}" type="slidenum">
              <a:rPr lang="zh-TW" altLang="en-US" smtClean="0"/>
              <a:t>9</a:t>
            </a:fld>
            <a:endParaRPr lang="zh-TW" altLang="en-US"/>
          </a:p>
        </p:txBody>
      </p:sp>
    </p:spTree>
    <p:extLst>
      <p:ext uri="{BB962C8B-B14F-4D97-AF65-F5344CB8AC3E}">
        <p14:creationId xmlns:p14="http://schemas.microsoft.com/office/powerpoint/2010/main" val="593722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System Integration Business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1" dirty="0" smtClean="0">
                <a:solidFill>
                  <a:srgbClr val="002060"/>
                </a:solidFill>
                <a:latin typeface="Microsoft YaHei" panose="020B0503020204020204" pitchFamily="34" charset="-122"/>
                <a:ea typeface="Microsoft YaHei" panose="020B0503020204020204" pitchFamily="34" charset="-122"/>
              </a:rPr>
              <a:t>MiTAC Information Technology Corp. </a:t>
            </a:r>
          </a:p>
          <a:p>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E9DA8E91-001D-4F1A-81F1-19ABBC01EF88}" type="slidenum">
              <a:rPr lang="zh-TW" altLang="en-US" smtClean="0"/>
              <a:t>10</a:t>
            </a:fld>
            <a:endParaRPr lang="zh-TW" altLang="en-US"/>
          </a:p>
        </p:txBody>
      </p:sp>
    </p:spTree>
    <p:extLst>
      <p:ext uri="{BB962C8B-B14F-4D97-AF65-F5344CB8AC3E}">
        <p14:creationId xmlns:p14="http://schemas.microsoft.com/office/powerpoint/2010/main" val="4274322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200" kern="1200" dirty="0" smtClean="0">
                <a:solidFill>
                  <a:schemeClr val="tx1"/>
                </a:solidFill>
                <a:effectLst/>
                <a:latin typeface="+mn-lt"/>
                <a:ea typeface="+mn-ea"/>
                <a:cs typeface="+mn-cs"/>
              </a:rPr>
              <a:t>目前進度</a:t>
            </a:r>
            <a:r>
              <a:rPr lang="en-US" altLang="zh-TW" sz="1200" kern="1200" dirty="0" smtClean="0">
                <a:solidFill>
                  <a:schemeClr val="tx1"/>
                </a:solidFill>
                <a:effectLst/>
                <a:latin typeface="+mn-lt"/>
                <a:ea typeface="+mn-ea"/>
                <a:cs typeface="+mn-cs"/>
              </a:rPr>
              <a:t>:</a:t>
            </a:r>
          </a:p>
          <a:p>
            <a:r>
              <a:rPr lang="zh-TW" altLang="zh-TW" sz="1200" kern="1200" dirty="0" smtClean="0">
                <a:solidFill>
                  <a:schemeClr val="tx1"/>
                </a:solidFill>
                <a:effectLst/>
                <a:latin typeface="+mn-lt"/>
                <a:ea typeface="+mn-ea"/>
                <a:cs typeface="+mn-cs"/>
              </a:rPr>
              <a:t>製粉三個案場富岡</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二加</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楊梅都已經正式售電給台電</a:t>
            </a:r>
          </a:p>
          <a:p>
            <a:r>
              <a:rPr lang="zh-TW" altLang="zh-TW" sz="1200" kern="1200" dirty="0" smtClean="0">
                <a:solidFill>
                  <a:schemeClr val="tx1"/>
                </a:solidFill>
                <a:effectLst/>
                <a:latin typeface="+mn-lt"/>
                <a:ea typeface="+mn-ea"/>
                <a:cs typeface="+mn-cs"/>
              </a:rPr>
              <a:t>雲林元長目前縣政府設備登記完成</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預計最晚今年十月可以正式售電。</a:t>
            </a: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FB9D65D2-DC87-44FF-9CE2-DCFBEF47D491}" type="slidenum">
              <a:rPr lang="zh-TW" altLang="en-US" smtClean="0"/>
              <a:t>13</a:t>
            </a:fld>
            <a:endParaRPr lang="zh-TW" altLang="en-US"/>
          </a:p>
        </p:txBody>
      </p:sp>
    </p:spTree>
    <p:extLst>
      <p:ext uri="{BB962C8B-B14F-4D97-AF65-F5344CB8AC3E}">
        <p14:creationId xmlns:p14="http://schemas.microsoft.com/office/powerpoint/2010/main" val="11150584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400" b="1" dirty="0" smtClean="0">
                <a:latin typeface="微軟正黑體" panose="020B0604030504040204" pitchFamily="34" charset="-120"/>
                <a:ea typeface="微軟正黑體" panose="020B0604030504040204" pitchFamily="34" charset="-120"/>
              </a:rPr>
              <a:t>富岡物流屋頂太陽能光電工程</a:t>
            </a:r>
            <a:r>
              <a:rPr lang="zh-TW" altLang="en-US" sz="1400" dirty="0" smtClean="0">
                <a:solidFill>
                  <a:schemeClr val="tx1">
                    <a:lumMod val="85000"/>
                    <a:lumOff val="15000"/>
                  </a:schemeClr>
                </a:solidFill>
                <a:latin typeface="微軟正黑體" panose="020B0604030504040204" pitchFamily="34" charset="-120"/>
                <a:ea typeface="微軟正黑體" panose="020B0604030504040204" pitchFamily="34" charset="-120"/>
              </a:rPr>
              <a:t>：</a:t>
            </a:r>
            <a:endParaRPr lang="en-US" altLang="zh-TW" sz="1400" dirty="0" smtClean="0">
              <a:solidFill>
                <a:schemeClr val="tx1">
                  <a:lumMod val="85000"/>
                  <a:lumOff val="15000"/>
                </a:schemeClr>
              </a:solidFill>
              <a:latin typeface="微軟正黑體" panose="020B0604030504040204" pitchFamily="34" charset="-120"/>
              <a:ea typeface="微軟正黑體" panose="020B0604030504040204" pitchFamily="34" charset="-120"/>
            </a:endParaRPr>
          </a:p>
          <a:p>
            <a:r>
              <a:rPr lang="zh-TW" altLang="zh-TW" sz="1200" kern="1200" dirty="0" smtClean="0">
                <a:solidFill>
                  <a:schemeClr val="tx1"/>
                </a:solidFill>
                <a:effectLst/>
                <a:latin typeface="+mn-lt"/>
                <a:ea typeface="+mn-ea"/>
                <a:cs typeface="+mn-cs"/>
              </a:rPr>
              <a:t>答</a:t>
            </a:r>
            <a:r>
              <a:rPr lang="en-US" altLang="zh-TW" sz="1200" kern="1200" dirty="0" smtClean="0">
                <a:solidFill>
                  <a:schemeClr val="tx1"/>
                </a:solidFill>
                <a:effectLst/>
                <a:latin typeface="+mn-lt"/>
                <a:ea typeface="+mn-ea"/>
                <a:cs typeface="+mn-cs"/>
              </a:rPr>
              <a:t>:MOU</a:t>
            </a:r>
            <a:r>
              <a:rPr lang="zh-TW" altLang="zh-TW" sz="1200" kern="1200" dirty="0" smtClean="0">
                <a:solidFill>
                  <a:schemeClr val="tx1"/>
                </a:solidFill>
                <a:effectLst/>
                <a:latin typeface="+mn-lt"/>
                <a:ea typeface="+mn-ea"/>
                <a:cs typeface="+mn-cs"/>
              </a:rPr>
              <a:t>內容主要是未來興建完成後，綠電銷售對象是聯華氣體，目前申請施工許可</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許可通過之後才可以進場施工</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所以現場尚未開工</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目前進度看來 最快可能也要</a:t>
            </a:r>
            <a:r>
              <a:rPr lang="en-US" altLang="zh-TW" sz="1200" kern="1200" dirty="0" smtClean="0">
                <a:solidFill>
                  <a:schemeClr val="tx1"/>
                </a:solidFill>
                <a:effectLst/>
                <a:latin typeface="+mn-lt"/>
                <a:ea typeface="+mn-ea"/>
                <a:cs typeface="+mn-cs"/>
              </a:rPr>
              <a:t>11</a:t>
            </a:r>
            <a:r>
              <a:rPr lang="zh-TW" altLang="zh-TW" sz="1200" kern="1200" dirty="0" smtClean="0">
                <a:solidFill>
                  <a:schemeClr val="tx1"/>
                </a:solidFill>
                <a:effectLst/>
                <a:latin typeface="+mn-lt"/>
                <a:ea typeface="+mn-ea"/>
                <a:cs typeface="+mn-cs"/>
              </a:rPr>
              <a:t>月才能進場施工</a:t>
            </a:r>
            <a:r>
              <a:rPr lang="zh-TW" altLang="en-US"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整個流程完成可能會落在明年第二季。建議有進度再說明。</a:t>
            </a:r>
          </a:p>
          <a:p>
            <a:r>
              <a:rPr lang="en-US" altLang="zh-TW" sz="1400" dirty="0" smtClean="0">
                <a:cs typeface="等线"/>
              </a:rPr>
              <a:t>*</a:t>
            </a:r>
            <a:r>
              <a:rPr lang="zh-TW" altLang="en-US" sz="1400" dirty="0" smtClean="0">
                <a:cs typeface="等线"/>
              </a:rPr>
              <a:t>裝置容量</a:t>
            </a:r>
            <a:r>
              <a:rPr lang="en-US" altLang="zh-TW" sz="1400" dirty="0" smtClean="0">
                <a:cs typeface="等线"/>
              </a:rPr>
              <a:t>3,339KW</a:t>
            </a:r>
            <a:r>
              <a:rPr lang="zh-TW" altLang="en-US" sz="1600" dirty="0" smtClean="0">
                <a:latin typeface="微軟正黑體" panose="020B0604030504040204" pitchFamily="34" charset="-120"/>
                <a:ea typeface="微軟正黑體" panose="020B0604030504040204" pitchFamily="34" charset="-120"/>
              </a:rPr>
              <a:t>，</a:t>
            </a:r>
            <a:r>
              <a:rPr lang="zh-TW" altLang="en-US" sz="1400" dirty="0" smtClean="0">
                <a:latin typeface="微軟正黑體" panose="020B0604030504040204" pitchFamily="34" charset="-120"/>
                <a:ea typeface="微軟正黑體" panose="020B0604030504040204" pitchFamily="34" charset="-120"/>
              </a:rPr>
              <a:t>平均發電量 </a:t>
            </a:r>
            <a:r>
              <a:rPr lang="en-US" altLang="zh-TW" sz="1400" dirty="0" smtClean="0">
                <a:latin typeface="微軟正黑體" panose="020B0604030504040204" pitchFamily="34" charset="-120"/>
                <a:ea typeface="微軟正黑體" panose="020B0604030504040204" pitchFamily="34" charset="-120"/>
              </a:rPr>
              <a:t>: 3400K</a:t>
            </a:r>
            <a:r>
              <a:rPr lang="zh-TW" altLang="en-US" sz="1400" dirty="0" smtClean="0">
                <a:latin typeface="微軟正黑體" panose="020B0604030504040204" pitchFamily="34" charset="-120"/>
                <a:ea typeface="微軟正黑體" panose="020B0604030504040204" pitchFamily="34" charset="-120"/>
              </a:rPr>
              <a:t> </a:t>
            </a:r>
            <a:r>
              <a:rPr lang="en-US" altLang="zh-TW" sz="1400" dirty="0" smtClean="0">
                <a:latin typeface="微軟正黑體" panose="020B0604030504040204" pitchFamily="34" charset="-120"/>
                <a:ea typeface="微軟正黑體" panose="020B0604030504040204" pitchFamily="34" charset="-120"/>
              </a:rPr>
              <a:t>(</a:t>
            </a:r>
            <a:r>
              <a:rPr lang="zh-TW" altLang="en-US" sz="1400" dirty="0" smtClean="0">
                <a:latin typeface="微軟正黑體" panose="020B0604030504040204" pitchFamily="34" charset="-120"/>
                <a:ea typeface="微軟正黑體" panose="020B0604030504040204" pitchFamily="34" charset="-120"/>
              </a:rPr>
              <a:t>度</a:t>
            </a:r>
            <a:r>
              <a:rPr lang="en-US" altLang="zh-TW" sz="1400" dirty="0" smtClean="0">
                <a:latin typeface="微軟正黑體" panose="020B0604030504040204" pitchFamily="34" charset="-120"/>
                <a:ea typeface="微軟正黑體" panose="020B0604030504040204" pitchFamily="34" charset="-120"/>
              </a:rPr>
              <a:t>/</a:t>
            </a:r>
            <a:r>
              <a:rPr lang="zh-TW" altLang="en-US" sz="1400" dirty="0" smtClean="0">
                <a:latin typeface="微軟正黑體" panose="020B0604030504040204" pitchFamily="34" charset="-120"/>
                <a:ea typeface="微軟正黑體" panose="020B0604030504040204" pitchFamily="34" charset="-120"/>
              </a:rPr>
              <a:t>年</a:t>
            </a:r>
            <a:r>
              <a:rPr lang="en-US" altLang="zh-TW" sz="1400" dirty="0" smtClean="0">
                <a:latin typeface="微軟正黑體" panose="020B0604030504040204" pitchFamily="34" charset="-120"/>
                <a:ea typeface="微軟正黑體" panose="020B0604030504040204" pitchFamily="34" charset="-120"/>
              </a:rPr>
              <a:t>)</a:t>
            </a:r>
            <a:r>
              <a:rPr lang="en-US" altLang="zh-TW" sz="1400" dirty="0" smtClean="0">
                <a:cs typeface="等线"/>
              </a:rPr>
              <a:t> *</a:t>
            </a:r>
          </a:p>
          <a:p>
            <a:pPr marL="196086" indent="-196086" defTabSz="990752" eaLnBrk="0" fontAlgn="base" hangingPunct="0">
              <a:lnSpc>
                <a:spcPts val="2384"/>
              </a:lnSpc>
              <a:spcBef>
                <a:spcPts val="1300"/>
              </a:spcBef>
              <a:spcAft>
                <a:spcPct val="0"/>
              </a:spcAft>
              <a:buFont typeface="Wingdings" panose="05000000000000000000" pitchFamily="2" charset="2"/>
              <a:buChar char="n"/>
              <a:defRPr/>
            </a:pPr>
            <a:r>
              <a:rPr lang="zh-TW" altLang="en-US" sz="1600" dirty="0" smtClean="0">
                <a:latin typeface="微軟正黑體" panose="020B0604030504040204" pitchFamily="34" charset="-120"/>
                <a:ea typeface="微軟正黑體" panose="020B0604030504040204" pitchFamily="34" charset="-120"/>
              </a:rPr>
              <a:t>本案由聯華實業向置產租用屋頂，投資興建。</a:t>
            </a:r>
          </a:p>
          <a:p>
            <a:pPr marL="196086" indent="-196086" defTabSz="990752" eaLnBrk="0" fontAlgn="base" hangingPunct="0">
              <a:lnSpc>
                <a:spcPts val="2384"/>
              </a:lnSpc>
              <a:spcBef>
                <a:spcPts val="1300"/>
              </a:spcBef>
              <a:spcAft>
                <a:spcPct val="0"/>
              </a:spcAft>
              <a:buFont typeface="Wingdings" panose="05000000000000000000" pitchFamily="2" charset="2"/>
              <a:buChar char="n"/>
              <a:defRPr/>
            </a:pPr>
            <a:r>
              <a:rPr lang="zh-TW" altLang="en-US" sz="1600" dirty="0" smtClean="0">
                <a:latin typeface="微軟正黑體" panose="020B0604030504040204" pitchFamily="34" charset="-120"/>
                <a:ea typeface="微軟正黑體" panose="020B0604030504040204" pitchFamily="34" charset="-120"/>
              </a:rPr>
              <a:t>電以市場價格出售給聯華氣體</a:t>
            </a:r>
            <a:r>
              <a:rPr lang="zh-TW" altLang="en-US" sz="1600" dirty="0" smtClean="0">
                <a:latin typeface="新細明體" panose="02020500000000000000" pitchFamily="18" charset="-120"/>
              </a:rPr>
              <a:t>。</a:t>
            </a:r>
            <a:endParaRPr lang="en-US" altLang="zh-TW" sz="1600" dirty="0" smtClean="0">
              <a:latin typeface="新細明體" panose="02020500000000000000" pitchFamily="18" charset="-120"/>
            </a:endParaRPr>
          </a:p>
          <a:p>
            <a:pPr marL="196086" indent="-196086" defTabSz="990752" eaLnBrk="0" fontAlgn="base" hangingPunct="0">
              <a:lnSpc>
                <a:spcPts val="2384"/>
              </a:lnSpc>
              <a:spcBef>
                <a:spcPts val="1300"/>
              </a:spcBef>
              <a:spcAft>
                <a:spcPct val="0"/>
              </a:spcAft>
              <a:buFont typeface="Wingdings" panose="05000000000000000000" pitchFamily="2" charset="2"/>
              <a:buChar char="n"/>
              <a:defRPr/>
            </a:pPr>
            <a:r>
              <a:rPr lang="zh-TW" altLang="en-US" sz="1600" dirty="0" smtClean="0">
                <a:latin typeface="微軟正黑體" panose="020B0604030504040204" pitchFamily="34" charset="-120"/>
                <a:ea typeface="微軟正黑體" panose="020B0604030504040204" pitchFamily="34" charset="-120"/>
              </a:rPr>
              <a:t>綠電以市場價格出售給聯華氣體</a:t>
            </a:r>
            <a:endParaRPr lang="en-US" altLang="zh-TW" sz="1600" dirty="0" smtClean="0">
              <a:latin typeface="新細明體" panose="02020500000000000000" pitchFamily="18" charset="-120"/>
            </a:endParaRPr>
          </a:p>
          <a:p>
            <a:pPr marL="196086" indent="-196086">
              <a:lnSpc>
                <a:spcPts val="2384"/>
              </a:lnSpc>
              <a:spcBef>
                <a:spcPts val="1300"/>
              </a:spcBef>
              <a:buFont typeface="Wingdings" panose="05000000000000000000" pitchFamily="2" charset="2"/>
              <a:buChar char="n"/>
            </a:pPr>
            <a:r>
              <a:rPr lang="en-US" altLang="zh-TW" sz="1600" dirty="0" smtClean="0">
                <a:latin typeface="微軟正黑體" panose="020B0604030504040204" pitchFamily="34" charset="-120"/>
                <a:ea typeface="微軟正黑體" panose="020B0604030504040204" pitchFamily="34" charset="-120"/>
              </a:rPr>
              <a:t>2024</a:t>
            </a:r>
            <a:r>
              <a:rPr lang="zh-TW" altLang="en-US" sz="1600" dirty="0" smtClean="0">
                <a:latin typeface="微軟正黑體" panose="020B0604030504040204" pitchFamily="34" charset="-120"/>
                <a:ea typeface="微軟正黑體" panose="020B0604030504040204" pitchFamily="34" charset="-120"/>
              </a:rPr>
              <a:t>年</a:t>
            </a:r>
            <a:r>
              <a:rPr lang="en-US" altLang="zh-TW" sz="1600" dirty="0" smtClean="0">
                <a:latin typeface="微軟正黑體" panose="020B0604030504040204" pitchFamily="34" charset="-120"/>
                <a:ea typeface="微軟正黑體" panose="020B0604030504040204" pitchFamily="34" charset="-120"/>
              </a:rPr>
              <a:t>8</a:t>
            </a:r>
            <a:r>
              <a:rPr lang="zh-TW" altLang="en-US" sz="1600" dirty="0" smtClean="0">
                <a:latin typeface="微軟正黑體" panose="020B0604030504040204" pitchFamily="34" charset="-120"/>
                <a:ea typeface="微軟正黑體" panose="020B0604030504040204" pitchFamily="34" charset="-120"/>
              </a:rPr>
              <a:t>月與神通資科簽訂工程合約</a:t>
            </a:r>
            <a:r>
              <a:rPr lang="zh-TW" altLang="en-US" sz="1600" dirty="0" smtClean="0">
                <a:latin typeface="新細明體" panose="02020500000000000000" pitchFamily="18" charset="-120"/>
              </a:rPr>
              <a:t>。</a:t>
            </a:r>
            <a:endParaRPr lang="en-US" altLang="zh-TW" sz="1600" dirty="0" smtClean="0">
              <a:latin typeface="新細明體" panose="02020500000000000000" pitchFamily="18" charset="-120"/>
            </a:endParaRPr>
          </a:p>
          <a:p>
            <a:pPr defTabSz="990752" eaLnBrk="0" fontAlgn="base" hangingPunct="0">
              <a:spcBef>
                <a:spcPct val="30000"/>
              </a:spcBef>
              <a:spcAft>
                <a:spcPct val="0"/>
              </a:spcAft>
              <a:defRPr/>
            </a:pPr>
            <a:endParaRPr lang="en-US" altLang="zh-TW" sz="1300" dirty="0" smtClean="0">
              <a:latin typeface="微軟正黑體" panose="020B0604030504040204" pitchFamily="34" charset="-120"/>
              <a:ea typeface="微軟正黑體" panose="020B0604030504040204" pitchFamily="34" charset="-120"/>
            </a:endParaRPr>
          </a:p>
          <a:p>
            <a:pPr marL="0" marR="0" lvl="0" indent="0" algn="l" defTabSz="990752" rtl="0" eaLnBrk="0" fontAlgn="base" latinLnBrk="0" hangingPunct="0">
              <a:lnSpc>
                <a:spcPct val="100000"/>
              </a:lnSpc>
              <a:spcBef>
                <a:spcPct val="30000"/>
              </a:spcBef>
              <a:spcAft>
                <a:spcPct val="0"/>
              </a:spcAft>
              <a:buClrTx/>
              <a:buSzTx/>
              <a:buFontTx/>
              <a:buNone/>
              <a:tabLst/>
              <a:defRPr/>
            </a:pPr>
            <a:r>
              <a:rPr lang="zh-TW" altLang="en-US" b="1" dirty="0" smtClean="0">
                <a:latin typeface="微軟正黑體" panose="020B0604030504040204" pitchFamily="34" charset="-120"/>
                <a:ea typeface="微軟正黑體" panose="020B0604030504040204" pitchFamily="34" charset="-120"/>
              </a:rPr>
              <a:t>基隆七堵廠辦屋頂太陽能光電工程：</a:t>
            </a:r>
            <a:r>
              <a:rPr lang="zh-TW" altLang="zh-TW" sz="1200" kern="1200" dirty="0" smtClean="0">
                <a:solidFill>
                  <a:schemeClr val="tx1"/>
                </a:solidFill>
                <a:effectLst/>
                <a:latin typeface="+mn-lt"/>
                <a:ea typeface="+mn-ea"/>
                <a:cs typeface="+mn-cs"/>
              </a:rPr>
              <a:t>太陽能目前已施工完成，目前與台電申請購售合約。</a:t>
            </a:r>
          </a:p>
          <a:p>
            <a:r>
              <a:rPr lang="zh-TW" altLang="zh-TW" sz="1200" kern="1200" dirty="0" smtClean="0">
                <a:solidFill>
                  <a:schemeClr val="tx1"/>
                </a:solidFill>
                <a:effectLst/>
                <a:latin typeface="+mn-lt"/>
                <a:ea typeface="+mn-ea"/>
                <a:cs typeface="+mn-cs"/>
              </a:rPr>
              <a:t>答</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七堵目前一樣賣電給台電</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現場進度</a:t>
            </a:r>
            <a:r>
              <a:rPr lang="en-US" altLang="zh-TW" sz="1200" kern="1200" dirty="0" smtClean="0">
                <a:solidFill>
                  <a:schemeClr val="tx1"/>
                </a:solidFill>
                <a:effectLst/>
                <a:latin typeface="+mn-lt"/>
                <a:ea typeface="+mn-ea"/>
                <a:cs typeface="+mn-cs"/>
              </a:rPr>
              <a:t>95%,</a:t>
            </a:r>
            <a:r>
              <a:rPr lang="zh-TW" altLang="zh-TW" sz="1200" kern="1200" dirty="0" smtClean="0">
                <a:solidFill>
                  <a:schemeClr val="tx1"/>
                </a:solidFill>
                <a:effectLst/>
                <a:latin typeface="+mn-lt"/>
                <a:ea typeface="+mn-ea"/>
                <a:cs typeface="+mn-cs"/>
              </a:rPr>
              <a:t>還要等台電來接外線掛表</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掛表後還要運轉測試</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測試完成後到市政府登記</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預估完成整個流程會在今年</a:t>
            </a:r>
            <a:r>
              <a:rPr lang="en-US" altLang="zh-TW" sz="1200" kern="1200" dirty="0" smtClean="0">
                <a:solidFill>
                  <a:schemeClr val="tx1"/>
                </a:solidFill>
                <a:effectLst/>
                <a:latin typeface="+mn-lt"/>
                <a:ea typeface="+mn-ea"/>
                <a:cs typeface="+mn-cs"/>
              </a:rPr>
              <a:t>12</a:t>
            </a:r>
            <a:r>
              <a:rPr lang="zh-TW" altLang="zh-TW" sz="1200" kern="1200" dirty="0" smtClean="0">
                <a:solidFill>
                  <a:schemeClr val="tx1"/>
                </a:solidFill>
                <a:effectLst/>
                <a:latin typeface="+mn-lt"/>
                <a:ea typeface="+mn-ea"/>
                <a:cs typeface="+mn-cs"/>
              </a:rPr>
              <a:t>月</a:t>
            </a:r>
            <a:endParaRPr lang="en-US" altLang="zh-TW" b="1" dirty="0" smtClean="0">
              <a:latin typeface="微軟正黑體" panose="020B0604030504040204" pitchFamily="34" charset="-120"/>
              <a:ea typeface="微軟正黑體" panose="020B0604030504040204" pitchFamily="34" charset="-120"/>
            </a:endParaRPr>
          </a:p>
          <a:p>
            <a:pPr marL="0" marR="0" lvl="0" indent="0" algn="l" defTabSz="990752" rtl="0" eaLnBrk="0" fontAlgn="base" latinLnBrk="0" hangingPunct="0">
              <a:lnSpc>
                <a:spcPct val="100000"/>
              </a:lnSpc>
              <a:spcBef>
                <a:spcPct val="30000"/>
              </a:spcBef>
              <a:spcAft>
                <a:spcPct val="0"/>
              </a:spcAft>
              <a:buClrTx/>
              <a:buSzTx/>
              <a:buFontTx/>
              <a:buNone/>
              <a:tabLst/>
              <a:defRPr/>
            </a:pPr>
            <a:r>
              <a:rPr lang="zh-TW" altLang="en-US" sz="1200" dirty="0" smtClean="0">
                <a:latin typeface="微軟正黑體" panose="020B0604030504040204" pitchFamily="34" charset="-120"/>
                <a:ea typeface="微軟正黑體" panose="020B0604030504040204" pitchFamily="34" charset="-120"/>
              </a:rPr>
              <a:t>＊配合神通資科遷廠需求，規劃包含常溫倉庫、生產廠房及辦公室，完工後租予神通資科。</a:t>
            </a:r>
            <a:endParaRPr lang="en-US" altLang="zh-TW" dirty="0" smtClean="0">
              <a:solidFill>
                <a:schemeClr val="dk1"/>
              </a:solidFill>
              <a:latin typeface="細明體" panose="02020509000000000000" pitchFamily="49" charset="-120"/>
              <a:ea typeface="細明體" panose="02020509000000000000" pitchFamily="49" charset="-120"/>
              <a:cs typeface="Microsoft JhengHei"/>
              <a:sym typeface="Microsoft JhengHei"/>
            </a:endParaRPr>
          </a:p>
          <a:p>
            <a:pPr marL="390453" indent="-390453">
              <a:lnSpc>
                <a:spcPct val="133333"/>
              </a:lnSpc>
            </a:pPr>
            <a:r>
              <a:rPr lang="zh-TW" altLang="en-US" sz="1100" dirty="0" smtClean="0">
                <a:solidFill>
                  <a:schemeClr val="dk1"/>
                </a:solidFill>
                <a:latin typeface="細明體" panose="02020509000000000000" pitchFamily="49" charset="-120"/>
                <a:ea typeface="細明體" panose="02020509000000000000" pitchFamily="49" charset="-120"/>
                <a:cs typeface="Microsoft JhengHei"/>
                <a:sym typeface="Microsoft JhengHei"/>
              </a:rPr>
              <a:t>█ </a:t>
            </a:r>
            <a:r>
              <a:rPr lang="zh-TW" altLang="en-US" dirty="0" smtClean="0">
                <a:solidFill>
                  <a:schemeClr val="dk1"/>
                </a:solidFill>
                <a:latin typeface="微軟正黑體" panose="020B0604030504040204" pitchFamily="34" charset="-120"/>
                <a:ea typeface="微軟正黑體" panose="020B0604030504040204" pitchFamily="34" charset="-120"/>
                <a:cs typeface="Microsoft JhengHei"/>
                <a:sym typeface="Microsoft JhengHei"/>
              </a:rPr>
              <a:t>計畫於七堵廠辦完工後於屋頂裝置太陽能光電設備，提升廠房利用價值。</a:t>
            </a:r>
            <a:endParaRPr lang="en-US" altLang="zh-TW" dirty="0" smtClean="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pPr marL="390453" indent="-390453">
              <a:lnSpc>
                <a:spcPct val="133333"/>
              </a:lnSpc>
            </a:pPr>
            <a:r>
              <a:rPr lang="zh-TW" altLang="en-US" dirty="0" smtClean="0">
                <a:solidFill>
                  <a:schemeClr val="dk1"/>
                </a:solidFill>
                <a:latin typeface="細明體" panose="02020509000000000000" pitchFamily="49" charset="-120"/>
                <a:ea typeface="細明體" panose="02020509000000000000" pitchFamily="49" charset="-120"/>
                <a:cs typeface="Microsoft JhengHei"/>
                <a:sym typeface="Microsoft JhengHei"/>
              </a:rPr>
              <a:t>█ </a:t>
            </a:r>
            <a:r>
              <a:rPr lang="zh-TW" altLang="en-US" dirty="0" smtClean="0">
                <a:solidFill>
                  <a:schemeClr val="dk1"/>
                </a:solidFill>
                <a:latin typeface="微軟正黑體" panose="020B0604030504040204" pitchFamily="34" charset="-120"/>
                <a:ea typeface="微軟正黑體" panose="020B0604030504040204" pitchFamily="34" charset="-120"/>
                <a:cs typeface="Microsoft JhengHei"/>
                <a:sym typeface="Microsoft JhengHei"/>
              </a:rPr>
              <a:t>裝置容量：</a:t>
            </a:r>
            <a:r>
              <a:rPr lang="en-US" altLang="zh-TW" dirty="0" smtClean="0">
                <a:solidFill>
                  <a:schemeClr val="dk1"/>
                </a:solidFill>
                <a:latin typeface="微軟正黑體" panose="020B0604030504040204" pitchFamily="34" charset="-120"/>
                <a:ea typeface="微軟正黑體" panose="020B0604030504040204" pitchFamily="34" charset="-120"/>
                <a:cs typeface="Microsoft JhengHei"/>
                <a:sym typeface="Microsoft JhengHei"/>
              </a:rPr>
              <a:t>500Kwp (</a:t>
            </a:r>
            <a:r>
              <a:rPr lang="zh-TW" altLang="en-US" dirty="0" smtClean="0">
                <a:solidFill>
                  <a:schemeClr val="dk1"/>
                </a:solidFill>
                <a:latin typeface="微軟正黑體" panose="020B0604030504040204" pitchFamily="34" charset="-120"/>
                <a:ea typeface="微軟正黑體" panose="020B0604030504040204" pitchFamily="34" charset="-120"/>
                <a:cs typeface="Microsoft JhengHei"/>
                <a:sym typeface="Microsoft JhengHei"/>
              </a:rPr>
              <a:t>第三型</a:t>
            </a:r>
            <a:r>
              <a:rPr lang="en-US" altLang="zh-TW" dirty="0" smtClean="0">
                <a:solidFill>
                  <a:schemeClr val="dk1"/>
                </a:solidFill>
                <a:latin typeface="微軟正黑體" panose="020B0604030504040204" pitchFamily="34" charset="-120"/>
                <a:ea typeface="微軟正黑體" panose="020B0604030504040204" pitchFamily="34" charset="-120"/>
                <a:cs typeface="Microsoft JhengHei"/>
                <a:sym typeface="Microsoft JhengHei"/>
              </a:rPr>
              <a:t>)</a:t>
            </a:r>
          </a:p>
          <a:p>
            <a:pPr marL="390453" indent="-390453">
              <a:lnSpc>
                <a:spcPct val="133333"/>
              </a:lnSpc>
            </a:pPr>
            <a:r>
              <a:rPr lang="en-US" altLang="zh-TW" dirty="0" smtClean="0">
                <a:solidFill>
                  <a:schemeClr val="dk1"/>
                </a:solidFill>
                <a:latin typeface="細明體" panose="02020509000000000000" pitchFamily="49" charset="-120"/>
                <a:ea typeface="細明體" panose="02020509000000000000" pitchFamily="49" charset="-120"/>
                <a:cs typeface="Microsoft JhengHei"/>
                <a:sym typeface="Microsoft JhengHei"/>
              </a:rPr>
              <a:t>█ </a:t>
            </a:r>
            <a:r>
              <a:rPr lang="zh-TW" altLang="en-US" dirty="0" smtClean="0">
                <a:solidFill>
                  <a:schemeClr val="dk1"/>
                </a:solidFill>
                <a:latin typeface="微軟正黑體" panose="020B0604030504040204" pitchFamily="34" charset="-120"/>
                <a:ea typeface="微軟正黑體" panose="020B0604030504040204" pitchFamily="34" charset="-120"/>
                <a:cs typeface="Microsoft JhengHei"/>
                <a:sym typeface="Microsoft JhengHei"/>
              </a:rPr>
              <a:t>綠電透過售電業者出售或躉售台電。</a:t>
            </a:r>
            <a:endParaRPr lang="en-US" altLang="zh-TW" dirty="0" smtClean="0">
              <a:solidFill>
                <a:schemeClr val="dk1"/>
              </a:solidFill>
              <a:latin typeface="微軟正黑體" panose="020B0604030504040204" pitchFamily="34" charset="-120"/>
              <a:ea typeface="微軟正黑體" panose="020B0604030504040204" pitchFamily="34" charset="-120"/>
              <a:cs typeface="Microsoft JhengHei"/>
              <a:sym typeface="Microsoft JhengHei"/>
            </a:endParaRPr>
          </a:p>
          <a:p>
            <a:endParaRPr lang="zh-TW" altLang="en-US" dirty="0" smtClean="0"/>
          </a:p>
          <a:p>
            <a:endParaRPr lang="zh-TW" altLang="en-US" dirty="0"/>
          </a:p>
        </p:txBody>
      </p:sp>
      <p:sp>
        <p:nvSpPr>
          <p:cNvPr id="4" name="投影片編號版面配置區 3"/>
          <p:cNvSpPr>
            <a:spLocks noGrp="1"/>
          </p:cNvSpPr>
          <p:nvPr>
            <p:ph type="sldNum" sz="quarter" idx="10"/>
          </p:nvPr>
        </p:nvSpPr>
        <p:spPr/>
        <p:txBody>
          <a:bodyPr/>
          <a:lstStyle/>
          <a:p>
            <a:fld id="{FB9D65D2-DC87-44FF-9CE2-DCFBEF47D491}" type="slidenum">
              <a:rPr lang="zh-TW" altLang="en-US" smtClean="0"/>
              <a:t>14</a:t>
            </a:fld>
            <a:endParaRPr lang="zh-TW" altLang="en-US"/>
          </a:p>
        </p:txBody>
      </p:sp>
    </p:spTree>
    <p:extLst>
      <p:ext uri="{BB962C8B-B14F-4D97-AF65-F5344CB8AC3E}">
        <p14:creationId xmlns:p14="http://schemas.microsoft.com/office/powerpoint/2010/main" val="35001875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smtClean="0">
                <a:solidFill>
                  <a:schemeClr val="tx1"/>
                </a:solidFill>
                <a:effectLst/>
                <a:latin typeface="+mn-lt"/>
                <a:ea typeface="+mn-ea"/>
                <a:cs typeface="+mn-cs"/>
              </a:rPr>
              <a:t>Asia Hydrogen Energy Corporation </a:t>
            </a:r>
          </a:p>
          <a:p>
            <a:r>
              <a:rPr lang="en-US" altLang="zh-TW" sz="1200" b="0" i="0" kern="1200" dirty="0" smtClean="0">
                <a:solidFill>
                  <a:schemeClr val="tx1"/>
                </a:solidFill>
                <a:effectLst/>
                <a:latin typeface="+mn-lt"/>
                <a:ea typeface="+mn-ea"/>
                <a:cs typeface="+mn-cs"/>
              </a:rPr>
              <a:t>TXI BAWENG INC.</a:t>
            </a:r>
            <a:endParaRPr lang="zh-TW" altLang="en-US" dirty="0"/>
          </a:p>
        </p:txBody>
      </p:sp>
      <p:sp>
        <p:nvSpPr>
          <p:cNvPr id="4" name="投影片編號版面配置區 3"/>
          <p:cNvSpPr>
            <a:spLocks noGrp="1"/>
          </p:cNvSpPr>
          <p:nvPr>
            <p:ph type="sldNum" sz="quarter" idx="10"/>
          </p:nvPr>
        </p:nvSpPr>
        <p:spPr/>
        <p:txBody>
          <a:bodyPr/>
          <a:lstStyle/>
          <a:p>
            <a:fld id="{E9DA8E91-001D-4F1A-81F1-19ABBC01EF88}" type="slidenum">
              <a:rPr lang="zh-TW" altLang="en-US" smtClean="0"/>
              <a:t>16</a:t>
            </a:fld>
            <a:endParaRPr lang="zh-TW" altLang="en-US"/>
          </a:p>
        </p:txBody>
      </p:sp>
    </p:spTree>
    <p:extLst>
      <p:ext uri="{BB962C8B-B14F-4D97-AF65-F5344CB8AC3E}">
        <p14:creationId xmlns:p14="http://schemas.microsoft.com/office/powerpoint/2010/main" val="36025287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200" dirty="0" smtClean="0">
                <a:solidFill>
                  <a:schemeClr val="tx1"/>
                </a:solidFill>
                <a:effectLst/>
                <a:latin typeface="+mn-lt"/>
                <a:ea typeface="+mn-ea"/>
                <a:cs typeface="+mn-cs"/>
              </a:rPr>
              <a:t>Linde LienHwa Industrial Gases Co., Ltd.</a:t>
            </a:r>
            <a:endParaRPr lang="zh-TW" altLang="en-US" dirty="0"/>
          </a:p>
        </p:txBody>
      </p:sp>
      <p:sp>
        <p:nvSpPr>
          <p:cNvPr id="4" name="投影片編號版面配置區 3"/>
          <p:cNvSpPr>
            <a:spLocks noGrp="1"/>
          </p:cNvSpPr>
          <p:nvPr>
            <p:ph type="sldNum" sz="quarter" idx="10"/>
          </p:nvPr>
        </p:nvSpPr>
        <p:spPr/>
        <p:txBody>
          <a:bodyPr/>
          <a:lstStyle/>
          <a:p>
            <a:fld id="{E9DA8E91-001D-4F1A-81F1-19ABBC01EF88}" type="slidenum">
              <a:rPr lang="zh-TW" altLang="en-US" smtClean="0"/>
              <a:t>18</a:t>
            </a:fld>
            <a:endParaRPr lang="zh-TW" altLang="en-US"/>
          </a:p>
        </p:txBody>
      </p:sp>
    </p:spTree>
    <p:extLst>
      <p:ext uri="{BB962C8B-B14F-4D97-AF65-F5344CB8AC3E}">
        <p14:creationId xmlns:p14="http://schemas.microsoft.com/office/powerpoint/2010/main" val="950098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B9D65D2-DC87-44FF-9CE2-DCFBEF47D491}" type="slidenum">
              <a:rPr lang="zh-TW" altLang="en-US" smtClean="0"/>
              <a:t>20</a:t>
            </a:fld>
            <a:endParaRPr lang="zh-TW" altLang="en-US"/>
          </a:p>
        </p:txBody>
      </p:sp>
    </p:spTree>
    <p:extLst>
      <p:ext uri="{BB962C8B-B14F-4D97-AF65-F5344CB8AC3E}">
        <p14:creationId xmlns:p14="http://schemas.microsoft.com/office/powerpoint/2010/main" val="9180621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TW" dirty="0"/>
              <a:t>1.</a:t>
            </a:r>
            <a:r>
              <a:rPr lang="zh-TW" altLang="en-US" dirty="0"/>
              <a:t>麵粉事業：製粉兩期差異減少</a:t>
            </a:r>
            <a:r>
              <a:rPr lang="en-US" altLang="zh-TW" dirty="0"/>
              <a:t>1.02</a:t>
            </a:r>
            <a:r>
              <a:rPr lang="zh-TW" altLang="en-US" dirty="0"/>
              <a:t>億，因降低售價以反映較低小麥成本，對獲利低的客戶不供貨</a:t>
            </a:r>
            <a:endParaRPr lang="en-US" altLang="zh-TW" dirty="0"/>
          </a:p>
          <a:p>
            <a:r>
              <a:rPr lang="en-US" altLang="zh-TW" dirty="0"/>
              <a:t>2.</a:t>
            </a:r>
            <a:r>
              <a:rPr lang="zh-TW" altLang="en-US" dirty="0"/>
              <a:t>資訊整合</a:t>
            </a:r>
            <a:r>
              <a:rPr lang="en-US" altLang="zh-TW" dirty="0"/>
              <a:t>(</a:t>
            </a:r>
            <a:r>
              <a:rPr lang="zh-TW" altLang="en-US" dirty="0"/>
              <a:t>神資</a:t>
            </a:r>
            <a:r>
              <a:rPr lang="en-US" altLang="zh-TW" dirty="0"/>
              <a:t>)</a:t>
            </a:r>
            <a:r>
              <a:rPr lang="zh-TW" altLang="en-US" dirty="0"/>
              <a:t>：兩期差異減少</a:t>
            </a:r>
            <a:r>
              <a:rPr lang="en-US" altLang="zh-TW" dirty="0"/>
              <a:t>4.14</a:t>
            </a:r>
            <a:r>
              <a:rPr lang="zh-TW" altLang="en-US" dirty="0"/>
              <a:t>億，因嚴審</a:t>
            </a:r>
            <a:r>
              <a:rPr lang="zh-TW" altLang="zh-TW" sz="2000" kern="0" dirty="0">
                <a:solidFill>
                  <a:srgbClr val="000000"/>
                </a:solidFill>
                <a:ea typeface="微軟正黑體" panose="020B0604030504040204" pitchFamily="34" charset="-120"/>
                <a:cs typeface="新細明體" panose="02020500000000000000" pitchFamily="18" charset="-120"/>
              </a:rPr>
              <a:t>毛利過低之專案</a:t>
            </a:r>
            <a:r>
              <a:rPr lang="zh-TW" altLang="en-US" sz="2000" kern="0" dirty="0">
                <a:solidFill>
                  <a:srgbClr val="000000"/>
                </a:solidFill>
                <a:ea typeface="微軟正黑體" panose="020B0604030504040204" pitchFamily="34" charset="-120"/>
                <a:cs typeface="新細明體" panose="02020500000000000000" pitchFamily="18" charset="-120"/>
              </a:rPr>
              <a:t>甚至不接。</a:t>
            </a:r>
            <a:r>
              <a:rPr lang="zh-TW" altLang="zh-TW" sz="2000" kern="0" dirty="0">
                <a:solidFill>
                  <a:srgbClr val="000000"/>
                </a:solidFill>
                <a:ea typeface="微軟正黑體" panose="020B0604030504040204" pitchFamily="34" charset="-120"/>
                <a:cs typeface="新細明體" panose="02020500000000000000" pitchFamily="18" charset="-120"/>
              </a:rPr>
              <a:t>依據</a:t>
            </a:r>
            <a:r>
              <a:rPr lang="en-US" altLang="zh-TW" sz="2000" kern="0" dirty="0">
                <a:solidFill>
                  <a:srgbClr val="000000"/>
                </a:solidFill>
                <a:ea typeface="微軟正黑體" panose="020B0604030504040204" pitchFamily="34" charset="-120"/>
                <a:cs typeface="新細明體" panose="02020500000000000000" pitchFamily="18" charset="-120"/>
              </a:rPr>
              <a:t>IFRS15</a:t>
            </a:r>
            <a:r>
              <a:rPr lang="zh-TW" altLang="zh-TW" sz="2000" kern="0" dirty="0">
                <a:solidFill>
                  <a:srgbClr val="000000"/>
                </a:solidFill>
                <a:ea typeface="微軟正黑體" panose="020B0604030504040204" pitchFamily="34" charset="-120"/>
                <a:cs typeface="新細明體" panose="02020500000000000000" pitchFamily="18" charset="-120"/>
              </a:rPr>
              <a:t>之規定</a:t>
            </a:r>
            <a:r>
              <a:rPr lang="zh-TW" altLang="en-US" sz="2000" kern="0" dirty="0">
                <a:solidFill>
                  <a:srgbClr val="000000"/>
                </a:solidFill>
                <a:ea typeface="微軟正黑體" panose="020B0604030504040204" pitchFamily="34" charset="-120"/>
                <a:cs typeface="新細明體" panose="02020500000000000000" pitchFamily="18" charset="-120"/>
              </a:rPr>
              <a:t>，維護專案延後認列。</a:t>
            </a:r>
            <a:endParaRPr lang="en-US" altLang="zh-TW" dirty="0"/>
          </a:p>
          <a:p>
            <a:pPr defTabSz="990752" eaLnBrk="0" fontAlgn="base" hangingPunct="0">
              <a:spcBef>
                <a:spcPct val="30000"/>
              </a:spcBef>
              <a:spcAft>
                <a:spcPct val="0"/>
              </a:spcAft>
              <a:defRPr/>
            </a:pPr>
            <a:r>
              <a:rPr lang="en-US" altLang="zh-TW" dirty="0"/>
              <a:t>3.</a:t>
            </a:r>
            <a:r>
              <a:rPr lang="zh-TW" altLang="en-US" dirty="0"/>
              <a:t>租賃事業：兩期差異增加</a:t>
            </a:r>
            <a:r>
              <a:rPr lang="en-US" altLang="zh-TW" dirty="0"/>
              <a:t>4,400</a:t>
            </a:r>
            <a:r>
              <a:rPr lang="zh-TW" altLang="en-US" dirty="0"/>
              <a:t>萬，物流中心開始收租。</a:t>
            </a:r>
            <a:endParaRPr lang="en-US" altLang="zh-TW" dirty="0"/>
          </a:p>
          <a:p>
            <a:pPr defTabSz="990752" eaLnBrk="0" fontAlgn="base" hangingPunct="0">
              <a:spcBef>
                <a:spcPct val="30000"/>
              </a:spcBef>
              <a:spcAft>
                <a:spcPct val="0"/>
              </a:spcAft>
              <a:defRPr/>
            </a:pPr>
            <a:r>
              <a:rPr lang="en-US" altLang="zh-TW" dirty="0"/>
              <a:t>4.</a:t>
            </a:r>
            <a:r>
              <a:rPr lang="zh-TW" altLang="en-US" dirty="0"/>
              <a:t>股利收入</a:t>
            </a:r>
            <a:r>
              <a:rPr lang="en-US" altLang="zh-TW" dirty="0"/>
              <a:t>(</a:t>
            </a:r>
            <a:r>
              <a:rPr lang="zh-TW" altLang="en-US" dirty="0"/>
              <a:t>神通</a:t>
            </a:r>
            <a:r>
              <a:rPr lang="en-US" altLang="zh-TW" dirty="0"/>
              <a:t>)</a:t>
            </a:r>
            <a:r>
              <a:rPr lang="zh-TW" altLang="en-US" dirty="0"/>
              <a:t>：兩期差異減少</a:t>
            </a:r>
            <a:r>
              <a:rPr lang="en-US" altLang="zh-TW" dirty="0"/>
              <a:t>10.26</a:t>
            </a:r>
            <a:r>
              <a:rPr lang="zh-TW" altLang="en-US" dirty="0"/>
              <a:t>億，主係聯強股利尚未認列</a:t>
            </a:r>
            <a:endParaRPr lang="en-US" altLang="zh-TW" dirty="0"/>
          </a:p>
          <a:p>
            <a:endParaRPr lang="zh-TW" altLang="en-US" dirty="0"/>
          </a:p>
        </p:txBody>
      </p:sp>
      <p:sp>
        <p:nvSpPr>
          <p:cNvPr id="77828"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04986" indent="-309610">
              <a:defRPr kumimoji="1">
                <a:solidFill>
                  <a:schemeClr val="tx1"/>
                </a:solidFill>
                <a:latin typeface="Calibri" panose="020F0502020204030204" pitchFamily="34" charset="0"/>
                <a:ea typeface="新細明體" panose="02020500000000000000" pitchFamily="18" charset="-120"/>
              </a:defRPr>
            </a:lvl2pPr>
            <a:lvl3pPr marL="1238441" indent="-247688">
              <a:defRPr kumimoji="1">
                <a:solidFill>
                  <a:schemeClr val="tx1"/>
                </a:solidFill>
                <a:latin typeface="Calibri" panose="020F0502020204030204" pitchFamily="34" charset="0"/>
                <a:ea typeface="新細明體" panose="02020500000000000000" pitchFamily="18" charset="-120"/>
              </a:defRPr>
            </a:lvl3pPr>
            <a:lvl4pPr marL="1733817" indent="-247688">
              <a:defRPr kumimoji="1">
                <a:solidFill>
                  <a:schemeClr val="tx1"/>
                </a:solidFill>
                <a:latin typeface="Calibri" panose="020F0502020204030204" pitchFamily="34" charset="0"/>
                <a:ea typeface="新細明體" panose="02020500000000000000" pitchFamily="18" charset="-120"/>
              </a:defRPr>
            </a:lvl4pPr>
            <a:lvl5pPr marL="2229193" indent="-247688">
              <a:defRPr kumimoji="1">
                <a:solidFill>
                  <a:schemeClr val="tx1"/>
                </a:solidFill>
                <a:latin typeface="Calibri" panose="020F0502020204030204" pitchFamily="34" charset="0"/>
                <a:ea typeface="新細明體" panose="02020500000000000000" pitchFamily="18" charset="-120"/>
              </a:defRPr>
            </a:lvl5pPr>
            <a:lvl6pPr marL="2724569"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219945"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715322"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210698"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8CF77660-2209-4A02-8B0F-DABE08A3E7CD}" type="slidenum">
              <a:rPr kumimoji="0" lang="zh-TW" altLang="en-US" smtClean="0"/>
              <a:pPr/>
              <a:t>22</a:t>
            </a:fld>
            <a:endParaRPr kumimoji="0" lang="zh-TW" altLang="en-US"/>
          </a:p>
        </p:txBody>
      </p:sp>
    </p:spTree>
    <p:extLst>
      <p:ext uri="{BB962C8B-B14F-4D97-AF65-F5344CB8AC3E}">
        <p14:creationId xmlns:p14="http://schemas.microsoft.com/office/powerpoint/2010/main" val="4161583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TW" altLang="en-US" dirty="0"/>
          </a:p>
        </p:txBody>
      </p:sp>
      <p:sp>
        <p:nvSpPr>
          <p:cNvPr id="44036"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04986" indent="-309610">
              <a:defRPr kumimoji="1">
                <a:solidFill>
                  <a:schemeClr val="tx1"/>
                </a:solidFill>
                <a:latin typeface="Calibri" panose="020F0502020204030204" pitchFamily="34" charset="0"/>
                <a:ea typeface="新細明體" panose="02020500000000000000" pitchFamily="18" charset="-120"/>
              </a:defRPr>
            </a:lvl2pPr>
            <a:lvl3pPr marL="1238441" indent="-247688">
              <a:defRPr kumimoji="1">
                <a:solidFill>
                  <a:schemeClr val="tx1"/>
                </a:solidFill>
                <a:latin typeface="Calibri" panose="020F0502020204030204" pitchFamily="34" charset="0"/>
                <a:ea typeface="新細明體" panose="02020500000000000000" pitchFamily="18" charset="-120"/>
              </a:defRPr>
            </a:lvl3pPr>
            <a:lvl4pPr marL="1733817" indent="-247688">
              <a:defRPr kumimoji="1">
                <a:solidFill>
                  <a:schemeClr val="tx1"/>
                </a:solidFill>
                <a:latin typeface="Calibri" panose="020F0502020204030204" pitchFamily="34" charset="0"/>
                <a:ea typeface="新細明體" panose="02020500000000000000" pitchFamily="18" charset="-120"/>
              </a:defRPr>
            </a:lvl4pPr>
            <a:lvl5pPr marL="2229193" indent="-247688">
              <a:defRPr kumimoji="1">
                <a:solidFill>
                  <a:schemeClr val="tx1"/>
                </a:solidFill>
                <a:latin typeface="Calibri" panose="020F0502020204030204" pitchFamily="34" charset="0"/>
                <a:ea typeface="新細明體" panose="02020500000000000000" pitchFamily="18" charset="-120"/>
              </a:defRPr>
            </a:lvl5pPr>
            <a:lvl6pPr marL="2724569"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219945"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715322"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210698"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1A7FFE2C-8A7F-4A4B-9208-D764517E4C87}" type="slidenum">
              <a:rPr kumimoji="0" lang="zh-TW" altLang="en-US" smtClean="0"/>
              <a:pPr/>
              <a:t>23</a:t>
            </a:fld>
            <a:endParaRPr kumimoji="0" lang="zh-TW" altLang="en-US"/>
          </a:p>
        </p:txBody>
      </p:sp>
    </p:spTree>
    <p:extLst>
      <p:ext uri="{BB962C8B-B14F-4D97-AF65-F5344CB8AC3E}">
        <p14:creationId xmlns:p14="http://schemas.microsoft.com/office/powerpoint/2010/main" val="29441476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TW" altLang="en-US" dirty="0"/>
          </a:p>
        </p:txBody>
      </p:sp>
      <p:sp>
        <p:nvSpPr>
          <p:cNvPr id="44036"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04986" indent="-309610">
              <a:defRPr kumimoji="1">
                <a:solidFill>
                  <a:schemeClr val="tx1"/>
                </a:solidFill>
                <a:latin typeface="Calibri" panose="020F0502020204030204" pitchFamily="34" charset="0"/>
                <a:ea typeface="新細明體" panose="02020500000000000000" pitchFamily="18" charset="-120"/>
              </a:defRPr>
            </a:lvl2pPr>
            <a:lvl3pPr marL="1238441" indent="-247688">
              <a:defRPr kumimoji="1">
                <a:solidFill>
                  <a:schemeClr val="tx1"/>
                </a:solidFill>
                <a:latin typeface="Calibri" panose="020F0502020204030204" pitchFamily="34" charset="0"/>
                <a:ea typeface="新細明體" panose="02020500000000000000" pitchFamily="18" charset="-120"/>
              </a:defRPr>
            </a:lvl3pPr>
            <a:lvl4pPr marL="1733817" indent="-247688">
              <a:defRPr kumimoji="1">
                <a:solidFill>
                  <a:schemeClr val="tx1"/>
                </a:solidFill>
                <a:latin typeface="Calibri" panose="020F0502020204030204" pitchFamily="34" charset="0"/>
                <a:ea typeface="新細明體" panose="02020500000000000000" pitchFamily="18" charset="-120"/>
              </a:defRPr>
            </a:lvl4pPr>
            <a:lvl5pPr marL="2229193" indent="-247688">
              <a:defRPr kumimoji="1">
                <a:solidFill>
                  <a:schemeClr val="tx1"/>
                </a:solidFill>
                <a:latin typeface="Calibri" panose="020F0502020204030204" pitchFamily="34" charset="0"/>
                <a:ea typeface="新細明體" panose="02020500000000000000" pitchFamily="18" charset="-120"/>
              </a:defRPr>
            </a:lvl5pPr>
            <a:lvl6pPr marL="2724569"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219945"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715322"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210698"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1A7FFE2C-8A7F-4A4B-9208-D764517E4C87}" type="slidenum">
              <a:rPr kumimoji="0" lang="zh-TW" altLang="en-US" smtClean="0"/>
              <a:pPr/>
              <a:t>24</a:t>
            </a:fld>
            <a:endParaRPr kumimoji="0" lang="zh-TW" altLang="en-US"/>
          </a:p>
        </p:txBody>
      </p:sp>
    </p:spTree>
    <p:extLst>
      <p:ext uri="{BB962C8B-B14F-4D97-AF65-F5344CB8AC3E}">
        <p14:creationId xmlns:p14="http://schemas.microsoft.com/office/powerpoint/2010/main" val="2412570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TW" dirty="0">
                <a:solidFill>
                  <a:srgbClr val="0000FF"/>
                </a:solidFill>
                <a:latin typeface="Arial" panose="020B0604020202020204" pitchFamily="34" charset="0"/>
              </a:rPr>
              <a:t>Q2&amp;Q3</a:t>
            </a:r>
            <a:r>
              <a:rPr lang="zh-TW" altLang="en-US" dirty="0">
                <a:solidFill>
                  <a:srgbClr val="0000FF"/>
                </a:solidFill>
                <a:latin typeface="Arial" panose="020B0604020202020204" pitchFamily="34" charset="0"/>
              </a:rPr>
              <a:t>係各公司</a:t>
            </a:r>
            <a:r>
              <a:rPr lang="zh-TW" altLang="en-US" dirty="0"/>
              <a:t>股利收入高峰期</a:t>
            </a:r>
            <a:endParaRPr lang="en-US" altLang="zh-TW" dirty="0"/>
          </a:p>
          <a:p>
            <a:endParaRPr lang="en-US" altLang="zh-TW" dirty="0">
              <a:solidFill>
                <a:srgbClr val="0000FF"/>
              </a:solidFill>
              <a:latin typeface="Arial" panose="020B0604020202020204" pitchFamily="34" charset="0"/>
            </a:endParaRPr>
          </a:p>
          <a:p>
            <a:r>
              <a:rPr lang="zh-TW" altLang="en-US" dirty="0">
                <a:solidFill>
                  <a:srgbClr val="0000FF"/>
                </a:solidFill>
                <a:latin typeface="Arial" panose="020B0604020202020204" pitchFamily="34" charset="0"/>
              </a:rPr>
              <a:t>同年度比較 </a:t>
            </a:r>
            <a:r>
              <a:rPr lang="en-US" altLang="zh-TW" dirty="0">
                <a:solidFill>
                  <a:srgbClr val="0000FF"/>
                </a:solidFill>
                <a:latin typeface="Arial" panose="020B0604020202020204" pitchFamily="34" charset="0"/>
              </a:rPr>
              <a:t>2025 vs 2024 </a:t>
            </a:r>
          </a:p>
          <a:p>
            <a:r>
              <a:rPr lang="en-US" altLang="zh-TW" dirty="0">
                <a:solidFill>
                  <a:srgbClr val="0000FF"/>
                </a:solidFill>
                <a:latin typeface="Arial" panose="020B0604020202020204" pitchFamily="34" charset="0"/>
              </a:rPr>
              <a:t>EPS+0.23 : $2.57 vs $2.34 </a:t>
            </a:r>
            <a:r>
              <a:rPr lang="zh-TW" altLang="en-US" dirty="0">
                <a:solidFill>
                  <a:srgbClr val="0000FF"/>
                </a:solidFill>
                <a:latin typeface="Arial" panose="020B0604020202020204" pitchFamily="34" charset="0"/>
              </a:rPr>
              <a:t>　</a:t>
            </a:r>
            <a:endParaRPr lang="en-US" altLang="zh-TW" dirty="0">
              <a:solidFill>
                <a:srgbClr val="0000FF"/>
              </a:solidFill>
              <a:latin typeface="Arial" panose="020B0604020202020204" pitchFamily="34" charset="0"/>
            </a:endParaRPr>
          </a:p>
          <a:p>
            <a:pPr defTabSz="990752" eaLnBrk="0" fontAlgn="base" hangingPunct="0">
              <a:spcBef>
                <a:spcPct val="30000"/>
              </a:spcBef>
              <a:spcAft>
                <a:spcPct val="0"/>
              </a:spcAft>
              <a:defRPr/>
            </a:pPr>
            <a:r>
              <a:rPr lang="zh-TW" altLang="en-US" dirty="0"/>
              <a:t>毛利率</a:t>
            </a:r>
            <a:r>
              <a:rPr lang="en-US" altLang="zh-TW" dirty="0"/>
              <a:t>	</a:t>
            </a:r>
            <a:r>
              <a:rPr lang="zh-TW" altLang="en-US" dirty="0"/>
              <a:t>上升</a:t>
            </a:r>
            <a:r>
              <a:rPr lang="en-US" altLang="zh-TW" dirty="0"/>
              <a:t>4%</a:t>
            </a:r>
          </a:p>
          <a:p>
            <a:pPr defTabSz="990752" eaLnBrk="0" fontAlgn="base" hangingPunct="0">
              <a:spcBef>
                <a:spcPct val="30000"/>
              </a:spcBef>
              <a:spcAft>
                <a:spcPct val="0"/>
              </a:spcAft>
              <a:defRPr/>
            </a:pPr>
            <a:r>
              <a:rPr lang="zh-TW" altLang="en-US" dirty="0"/>
              <a:t>毛額          </a:t>
            </a:r>
            <a:r>
              <a:rPr lang="en-US" altLang="zh-TW" dirty="0"/>
              <a:t>+</a:t>
            </a:r>
            <a:r>
              <a:rPr lang="en-US" altLang="zh-TW" dirty="0">
                <a:solidFill>
                  <a:srgbClr val="0000FF"/>
                </a:solidFill>
                <a:latin typeface="Arial" panose="020B0604020202020204" pitchFamily="34" charset="0"/>
              </a:rPr>
              <a:t>715m 	+27%</a:t>
            </a:r>
          </a:p>
          <a:p>
            <a:pPr defTabSz="990752" eaLnBrk="0" fontAlgn="base" hangingPunct="0">
              <a:spcBef>
                <a:spcPct val="30000"/>
              </a:spcBef>
              <a:spcAft>
                <a:spcPct val="0"/>
              </a:spcAft>
              <a:defRPr/>
            </a:pPr>
            <a:r>
              <a:rPr lang="zh-TW" altLang="en-US" dirty="0"/>
              <a:t>營業淨利 </a:t>
            </a:r>
            <a:r>
              <a:rPr lang="en-US" altLang="zh-TW" dirty="0">
                <a:solidFill>
                  <a:srgbClr val="0000FF"/>
                </a:solidFill>
                <a:latin typeface="Arial" panose="020B0604020202020204" pitchFamily="34" charset="0"/>
              </a:rPr>
              <a:t> +716m 	+54%</a:t>
            </a:r>
          </a:p>
          <a:p>
            <a:pPr defTabSz="990752" eaLnBrk="0" fontAlgn="base" hangingPunct="0">
              <a:spcBef>
                <a:spcPct val="30000"/>
              </a:spcBef>
              <a:spcAft>
                <a:spcPct val="0"/>
              </a:spcAft>
              <a:defRPr/>
            </a:pPr>
            <a:r>
              <a:rPr lang="zh-TW" altLang="en-US" dirty="0">
                <a:solidFill>
                  <a:srgbClr val="0000FF"/>
                </a:solidFill>
                <a:latin typeface="Arial" panose="020B0604020202020204" pitchFamily="34" charset="0"/>
              </a:rPr>
              <a:t>稅後淨利</a:t>
            </a:r>
            <a:r>
              <a:rPr lang="en-US" altLang="zh-TW" dirty="0">
                <a:solidFill>
                  <a:srgbClr val="0000FF"/>
                </a:solidFill>
                <a:latin typeface="Arial" panose="020B0604020202020204" pitchFamily="34" charset="0"/>
              </a:rPr>
              <a:t>  +711m                     +15%</a:t>
            </a:r>
          </a:p>
          <a:p>
            <a:pPr defTabSz="990752" eaLnBrk="0" fontAlgn="base" hangingPunct="0">
              <a:spcBef>
                <a:spcPct val="30000"/>
              </a:spcBef>
              <a:spcAft>
                <a:spcPct val="0"/>
              </a:spcAft>
              <a:defRPr/>
            </a:pPr>
            <a:r>
              <a:rPr lang="en-US" altLang="zh-TW" dirty="0">
                <a:solidFill>
                  <a:srgbClr val="0000FF"/>
                </a:solidFill>
                <a:latin typeface="Arial" panose="020B0604020202020204" pitchFamily="34" charset="0"/>
              </a:rPr>
              <a:t>	</a:t>
            </a:r>
          </a:p>
          <a:p>
            <a:pPr defTabSz="990752" eaLnBrk="0" fontAlgn="base" hangingPunct="0">
              <a:spcBef>
                <a:spcPct val="30000"/>
              </a:spcBef>
              <a:spcAft>
                <a:spcPct val="0"/>
              </a:spcAft>
              <a:defRPr/>
            </a:pPr>
            <a:r>
              <a:rPr lang="zh-TW" altLang="en-US" dirty="0">
                <a:solidFill>
                  <a:srgbClr val="0000FF"/>
                </a:solidFill>
                <a:latin typeface="Arial" panose="020B0604020202020204" pitchFamily="34" charset="0"/>
              </a:rPr>
              <a:t>同期比較 </a:t>
            </a:r>
            <a:r>
              <a:rPr lang="en-US" altLang="zh-TW" dirty="0">
                <a:solidFill>
                  <a:srgbClr val="0000FF"/>
                </a:solidFill>
                <a:latin typeface="Arial" panose="020B0604020202020204" pitchFamily="34" charset="0"/>
              </a:rPr>
              <a:t>2025Q4 vs 2024Q4</a:t>
            </a:r>
          </a:p>
          <a:p>
            <a:pPr defTabSz="990752" eaLnBrk="0" fontAlgn="base" hangingPunct="0">
              <a:spcBef>
                <a:spcPct val="30000"/>
              </a:spcBef>
              <a:spcAft>
                <a:spcPct val="0"/>
              </a:spcAft>
              <a:defRPr/>
            </a:pPr>
            <a:r>
              <a:rPr lang="zh-TW" altLang="en-US" dirty="0">
                <a:solidFill>
                  <a:srgbClr val="0000FF"/>
                </a:solidFill>
                <a:latin typeface="Arial" panose="020B0604020202020204" pitchFamily="34" charset="0"/>
              </a:rPr>
              <a:t>稅後淨利：</a:t>
            </a:r>
            <a:r>
              <a:rPr lang="en-US" altLang="zh-TW" dirty="0">
                <a:solidFill>
                  <a:srgbClr val="0000FF"/>
                </a:solidFill>
                <a:latin typeface="Arial" panose="020B0604020202020204" pitchFamily="34" charset="0"/>
              </a:rPr>
              <a:t>+16%</a:t>
            </a:r>
            <a:r>
              <a:rPr lang="en-US" altLang="zh-TW" baseline="0" dirty="0">
                <a:solidFill>
                  <a:srgbClr val="0000FF"/>
                </a:solidFill>
                <a:latin typeface="Arial" panose="020B0604020202020204" pitchFamily="34" charset="0"/>
              </a:rPr>
              <a:t> </a:t>
            </a:r>
            <a:r>
              <a:rPr lang="en-US" altLang="zh-TW" dirty="0">
                <a:solidFill>
                  <a:srgbClr val="0000FF"/>
                </a:solidFill>
                <a:latin typeface="Arial" panose="020B0604020202020204" pitchFamily="34" charset="0"/>
              </a:rPr>
              <a:t>(+166m)</a:t>
            </a:r>
          </a:p>
          <a:p>
            <a:pPr defTabSz="990752" eaLnBrk="0" fontAlgn="base" hangingPunct="0">
              <a:spcBef>
                <a:spcPct val="30000"/>
              </a:spcBef>
              <a:spcAft>
                <a:spcPct val="0"/>
              </a:spcAft>
              <a:defRPr/>
            </a:pPr>
            <a:r>
              <a:rPr lang="zh-TW" altLang="en-US" dirty="0">
                <a:solidFill>
                  <a:srgbClr val="0000FF"/>
                </a:solidFill>
                <a:latin typeface="Arial" panose="020B0604020202020204" pitchFamily="34" charset="0"/>
              </a:rPr>
              <a:t>原因 </a:t>
            </a:r>
            <a:r>
              <a:rPr lang="zh-TW" altLang="en-US" dirty="0"/>
              <a:t>毛利率</a:t>
            </a:r>
            <a:r>
              <a:rPr lang="en-US" altLang="zh-TW" dirty="0"/>
              <a:t>	</a:t>
            </a:r>
            <a:r>
              <a:rPr lang="zh-TW" altLang="en-US" dirty="0"/>
              <a:t>上升</a:t>
            </a:r>
            <a:r>
              <a:rPr lang="en-US" altLang="zh-TW" dirty="0"/>
              <a:t>4%</a:t>
            </a:r>
          </a:p>
          <a:p>
            <a:pPr defTabSz="990752" eaLnBrk="0" fontAlgn="base" hangingPunct="0">
              <a:spcBef>
                <a:spcPct val="30000"/>
              </a:spcBef>
              <a:spcAft>
                <a:spcPct val="0"/>
              </a:spcAft>
              <a:defRPr/>
            </a:pPr>
            <a:r>
              <a:rPr lang="en-US" altLang="zh-TW" dirty="0"/>
              <a:t> </a:t>
            </a:r>
            <a:r>
              <a:rPr lang="zh-TW" altLang="en-US" dirty="0"/>
              <a:t>        毛額          </a:t>
            </a:r>
            <a:r>
              <a:rPr lang="en-US" altLang="zh-TW" dirty="0"/>
              <a:t>+52%</a:t>
            </a:r>
            <a:r>
              <a:rPr lang="zh-TW" altLang="en-US" dirty="0"/>
              <a:t>   </a:t>
            </a:r>
            <a:r>
              <a:rPr lang="en-US" altLang="zh-TW" dirty="0"/>
              <a:t>(+275m) 	</a:t>
            </a:r>
          </a:p>
          <a:p>
            <a:pPr defTabSz="990752" eaLnBrk="0" fontAlgn="base" hangingPunct="0">
              <a:spcBef>
                <a:spcPct val="30000"/>
              </a:spcBef>
              <a:spcAft>
                <a:spcPct val="0"/>
              </a:spcAft>
              <a:defRPr/>
            </a:pPr>
            <a:r>
              <a:rPr lang="zh-TW" altLang="en-US" dirty="0"/>
              <a:t>營業淨利           </a:t>
            </a:r>
            <a:r>
              <a:rPr lang="en-US" altLang="zh-TW" dirty="0"/>
              <a:t>+117% (+230m)</a:t>
            </a:r>
          </a:p>
          <a:p>
            <a:pPr defTabSz="990752" eaLnBrk="0" fontAlgn="base" hangingPunct="0">
              <a:spcBef>
                <a:spcPct val="30000"/>
              </a:spcBef>
              <a:spcAft>
                <a:spcPct val="0"/>
              </a:spcAft>
              <a:defRPr/>
            </a:pPr>
            <a:endParaRPr lang="en-US" altLang="zh-TW" dirty="0">
              <a:solidFill>
                <a:srgbClr val="0000FF"/>
              </a:solidFill>
              <a:latin typeface="Arial" panose="020B0604020202020204" pitchFamily="34" charset="0"/>
            </a:endParaRPr>
          </a:p>
          <a:p>
            <a:endParaRPr lang="en-US" altLang="zh-TW" dirty="0">
              <a:solidFill>
                <a:srgbClr val="0000FF"/>
              </a:solidFill>
              <a:latin typeface="Arial" panose="020B0604020202020204" pitchFamily="34" charset="0"/>
            </a:endParaRPr>
          </a:p>
          <a:p>
            <a:endParaRPr lang="zh-TW" altLang="en-US" dirty="0"/>
          </a:p>
        </p:txBody>
      </p:sp>
      <p:sp>
        <p:nvSpPr>
          <p:cNvPr id="71684"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04986" indent="-309610">
              <a:defRPr kumimoji="1">
                <a:solidFill>
                  <a:schemeClr val="tx1"/>
                </a:solidFill>
                <a:latin typeface="Calibri" panose="020F0502020204030204" pitchFamily="34" charset="0"/>
                <a:ea typeface="新細明體" panose="02020500000000000000" pitchFamily="18" charset="-120"/>
              </a:defRPr>
            </a:lvl2pPr>
            <a:lvl3pPr marL="1238441" indent="-247688">
              <a:defRPr kumimoji="1">
                <a:solidFill>
                  <a:schemeClr val="tx1"/>
                </a:solidFill>
                <a:latin typeface="Calibri" panose="020F0502020204030204" pitchFamily="34" charset="0"/>
                <a:ea typeface="新細明體" panose="02020500000000000000" pitchFamily="18" charset="-120"/>
              </a:defRPr>
            </a:lvl3pPr>
            <a:lvl4pPr marL="1733817" indent="-247688">
              <a:defRPr kumimoji="1">
                <a:solidFill>
                  <a:schemeClr val="tx1"/>
                </a:solidFill>
                <a:latin typeface="Calibri" panose="020F0502020204030204" pitchFamily="34" charset="0"/>
                <a:ea typeface="新細明體" panose="02020500000000000000" pitchFamily="18" charset="-120"/>
              </a:defRPr>
            </a:lvl4pPr>
            <a:lvl5pPr marL="2229193" indent="-247688">
              <a:defRPr kumimoji="1">
                <a:solidFill>
                  <a:schemeClr val="tx1"/>
                </a:solidFill>
                <a:latin typeface="Calibri" panose="020F0502020204030204" pitchFamily="34" charset="0"/>
                <a:ea typeface="新細明體" panose="02020500000000000000" pitchFamily="18" charset="-120"/>
              </a:defRPr>
            </a:lvl5pPr>
            <a:lvl6pPr marL="2724569"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219945"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715322"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210698"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16C83C72-4274-4E1B-9184-EF83139CFC4B}" type="slidenum">
              <a:rPr kumimoji="0" lang="zh-TW" altLang="en-US" smtClean="0"/>
              <a:pPr/>
              <a:t>25</a:t>
            </a:fld>
            <a:endParaRPr kumimoji="0" lang="zh-TW" altLang="en-US"/>
          </a:p>
        </p:txBody>
      </p:sp>
    </p:spTree>
    <p:extLst>
      <p:ext uri="{BB962C8B-B14F-4D97-AF65-F5344CB8AC3E}">
        <p14:creationId xmlns:p14="http://schemas.microsoft.com/office/powerpoint/2010/main" val="3764741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TW" altLang="en-US" dirty="0"/>
          </a:p>
        </p:txBody>
      </p:sp>
      <p:sp>
        <p:nvSpPr>
          <p:cNvPr id="44036"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04986" indent="-309610">
              <a:defRPr kumimoji="1">
                <a:solidFill>
                  <a:schemeClr val="tx1"/>
                </a:solidFill>
                <a:latin typeface="Calibri" panose="020F0502020204030204" pitchFamily="34" charset="0"/>
                <a:ea typeface="新細明體" panose="02020500000000000000" pitchFamily="18" charset="-120"/>
              </a:defRPr>
            </a:lvl2pPr>
            <a:lvl3pPr marL="1238441" indent="-247688">
              <a:defRPr kumimoji="1">
                <a:solidFill>
                  <a:schemeClr val="tx1"/>
                </a:solidFill>
                <a:latin typeface="Calibri" panose="020F0502020204030204" pitchFamily="34" charset="0"/>
                <a:ea typeface="新細明體" panose="02020500000000000000" pitchFamily="18" charset="-120"/>
              </a:defRPr>
            </a:lvl3pPr>
            <a:lvl4pPr marL="1733817" indent="-247688">
              <a:defRPr kumimoji="1">
                <a:solidFill>
                  <a:schemeClr val="tx1"/>
                </a:solidFill>
                <a:latin typeface="Calibri" panose="020F0502020204030204" pitchFamily="34" charset="0"/>
                <a:ea typeface="新細明體" panose="02020500000000000000" pitchFamily="18" charset="-120"/>
              </a:defRPr>
            </a:lvl4pPr>
            <a:lvl5pPr marL="2229193" indent="-247688">
              <a:defRPr kumimoji="1">
                <a:solidFill>
                  <a:schemeClr val="tx1"/>
                </a:solidFill>
                <a:latin typeface="Calibri" panose="020F0502020204030204" pitchFamily="34" charset="0"/>
                <a:ea typeface="新細明體" panose="02020500000000000000" pitchFamily="18" charset="-120"/>
              </a:defRPr>
            </a:lvl5pPr>
            <a:lvl6pPr marL="2724569"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219945"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715322"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210698"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1A7FFE2C-8A7F-4A4B-9208-D764517E4C87}" type="slidenum">
              <a:rPr kumimoji="0" lang="zh-TW" altLang="en-US" smtClean="0"/>
              <a:pPr/>
              <a:t>26</a:t>
            </a:fld>
            <a:endParaRPr kumimoji="0" lang="zh-TW" altLang="en-US"/>
          </a:p>
        </p:txBody>
      </p:sp>
    </p:spTree>
    <p:extLst>
      <p:ext uri="{BB962C8B-B14F-4D97-AF65-F5344CB8AC3E}">
        <p14:creationId xmlns:p14="http://schemas.microsoft.com/office/powerpoint/2010/main" val="3876949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TW" altLang="en-US" dirty="0"/>
          </a:p>
        </p:txBody>
      </p:sp>
      <p:sp>
        <p:nvSpPr>
          <p:cNvPr id="46084"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71961" indent="-335369">
              <a:defRPr kumimoji="1">
                <a:solidFill>
                  <a:schemeClr val="tx1"/>
                </a:solidFill>
                <a:latin typeface="Calibri" panose="020F0502020204030204" pitchFamily="34" charset="0"/>
                <a:ea typeface="新細明體" panose="02020500000000000000" pitchFamily="18" charset="-120"/>
              </a:defRPr>
            </a:lvl2pPr>
            <a:lvl3pPr marL="1341479" indent="-268296">
              <a:defRPr kumimoji="1">
                <a:solidFill>
                  <a:schemeClr val="tx1"/>
                </a:solidFill>
                <a:latin typeface="Calibri" panose="020F0502020204030204" pitchFamily="34" charset="0"/>
                <a:ea typeface="新細明體" panose="02020500000000000000" pitchFamily="18" charset="-120"/>
              </a:defRPr>
            </a:lvl3pPr>
            <a:lvl4pPr marL="1878071" indent="-268296">
              <a:defRPr kumimoji="1">
                <a:solidFill>
                  <a:schemeClr val="tx1"/>
                </a:solidFill>
                <a:latin typeface="Calibri" panose="020F0502020204030204" pitchFamily="34" charset="0"/>
                <a:ea typeface="新細明體" panose="02020500000000000000" pitchFamily="18" charset="-120"/>
              </a:defRPr>
            </a:lvl4pPr>
            <a:lvl5pPr marL="2414662" indent="-268296">
              <a:defRPr kumimoji="1">
                <a:solidFill>
                  <a:schemeClr val="tx1"/>
                </a:solidFill>
                <a:latin typeface="Calibri" panose="020F0502020204030204" pitchFamily="34" charset="0"/>
                <a:ea typeface="新細明體" panose="02020500000000000000" pitchFamily="18" charset="-120"/>
              </a:defRPr>
            </a:lvl5pPr>
            <a:lvl6pPr marL="2951254" indent="-268296" defTabSz="536591"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487845" indent="-268296" defTabSz="536591"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4024436" indent="-268296" defTabSz="536591"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561028" indent="-268296" defTabSz="536591"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E6282997-974D-4DDC-B779-267CBFA9C385}" type="slidenum">
              <a:rPr kumimoji="0" lang="zh-TW" altLang="en-US" smtClean="0"/>
              <a:pPr/>
              <a:t>27</a:t>
            </a:fld>
            <a:endParaRPr kumimoji="0" lang="zh-TW" altLang="en-US"/>
          </a:p>
        </p:txBody>
      </p:sp>
    </p:spTree>
    <p:extLst>
      <p:ext uri="{BB962C8B-B14F-4D97-AF65-F5344CB8AC3E}">
        <p14:creationId xmlns:p14="http://schemas.microsoft.com/office/powerpoint/2010/main" val="9911254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TW" altLang="en-US" dirty="0"/>
          </a:p>
        </p:txBody>
      </p:sp>
      <p:sp>
        <p:nvSpPr>
          <p:cNvPr id="46084"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71961" indent="-335369">
              <a:defRPr kumimoji="1">
                <a:solidFill>
                  <a:schemeClr val="tx1"/>
                </a:solidFill>
                <a:latin typeface="Calibri" panose="020F0502020204030204" pitchFamily="34" charset="0"/>
                <a:ea typeface="新細明體" panose="02020500000000000000" pitchFamily="18" charset="-120"/>
              </a:defRPr>
            </a:lvl2pPr>
            <a:lvl3pPr marL="1341479" indent="-268296">
              <a:defRPr kumimoji="1">
                <a:solidFill>
                  <a:schemeClr val="tx1"/>
                </a:solidFill>
                <a:latin typeface="Calibri" panose="020F0502020204030204" pitchFamily="34" charset="0"/>
                <a:ea typeface="新細明體" panose="02020500000000000000" pitchFamily="18" charset="-120"/>
              </a:defRPr>
            </a:lvl3pPr>
            <a:lvl4pPr marL="1878071" indent="-268296">
              <a:defRPr kumimoji="1">
                <a:solidFill>
                  <a:schemeClr val="tx1"/>
                </a:solidFill>
                <a:latin typeface="Calibri" panose="020F0502020204030204" pitchFamily="34" charset="0"/>
                <a:ea typeface="新細明體" panose="02020500000000000000" pitchFamily="18" charset="-120"/>
              </a:defRPr>
            </a:lvl4pPr>
            <a:lvl5pPr marL="2414662" indent="-268296">
              <a:defRPr kumimoji="1">
                <a:solidFill>
                  <a:schemeClr val="tx1"/>
                </a:solidFill>
                <a:latin typeface="Calibri" panose="020F0502020204030204" pitchFamily="34" charset="0"/>
                <a:ea typeface="新細明體" panose="02020500000000000000" pitchFamily="18" charset="-120"/>
              </a:defRPr>
            </a:lvl5pPr>
            <a:lvl6pPr marL="2951254" indent="-268296" defTabSz="536591"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487845" indent="-268296" defTabSz="536591"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4024436" indent="-268296" defTabSz="536591"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561028" indent="-268296" defTabSz="536591"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E6282997-974D-4DDC-B779-267CBFA9C385}" type="slidenum">
              <a:rPr kumimoji="0" lang="zh-TW" altLang="en-US" smtClean="0"/>
              <a:pPr/>
              <a:t>28</a:t>
            </a:fld>
            <a:endParaRPr kumimoji="0" lang="zh-TW" altLang="en-US"/>
          </a:p>
        </p:txBody>
      </p:sp>
    </p:spTree>
    <p:extLst>
      <p:ext uri="{BB962C8B-B14F-4D97-AF65-F5344CB8AC3E}">
        <p14:creationId xmlns:p14="http://schemas.microsoft.com/office/powerpoint/2010/main" val="5139493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defTabSz="990752"/>
            <a:r>
              <a:rPr lang="zh-TW" altLang="en-US" dirty="0"/>
              <a:t>*</a:t>
            </a:r>
            <a:r>
              <a:rPr lang="en-US" altLang="zh-TW" dirty="0"/>
              <a:t>2025</a:t>
            </a:r>
            <a:r>
              <a:rPr lang="zh-TW" altLang="en-US" dirty="0"/>
              <a:t>年資訊整合事業營收衝上 </a:t>
            </a:r>
            <a:r>
              <a:rPr lang="en-US" altLang="zh-TW" dirty="0"/>
              <a:t>66</a:t>
            </a:r>
            <a:r>
              <a:rPr lang="zh-TW" altLang="en-US" dirty="0"/>
              <a:t>億新台幣（年增 </a:t>
            </a:r>
            <a:r>
              <a:rPr lang="en-US" altLang="zh-TW" dirty="0"/>
              <a:t>17%</a:t>
            </a:r>
            <a:r>
              <a:rPr lang="zh-TW" altLang="en-US" dirty="0"/>
              <a:t>）</a:t>
            </a:r>
            <a:r>
              <a:rPr lang="zh-TW" altLang="en-US" sz="1300" b="1" dirty="0"/>
              <a:t>占</a:t>
            </a:r>
            <a:r>
              <a:rPr lang="en-US" altLang="zh-TW" sz="1300" b="1" dirty="0"/>
              <a:t>2025</a:t>
            </a:r>
            <a:r>
              <a:rPr lang="zh-TW" altLang="en-US" sz="1300" b="1" dirty="0"/>
              <a:t>集團總營收比例</a:t>
            </a:r>
            <a:r>
              <a:rPr lang="en-US" altLang="zh-TW" sz="1300" b="1" dirty="0"/>
              <a:t>49%</a:t>
            </a:r>
            <a:r>
              <a:rPr lang="zh-TW" altLang="en-US" dirty="0"/>
              <a:t>，超越傳統麵食，奠定集團轉型科技控股核心。</a:t>
            </a:r>
            <a:endParaRPr lang="en-US" altLang="zh-TW" dirty="0"/>
          </a:p>
          <a:p>
            <a:r>
              <a:rPr lang="zh-TW" altLang="en-US" baseline="0" dirty="0">
                <a:solidFill>
                  <a:srgbClr val="0000FF"/>
                </a:solidFill>
                <a:latin typeface="Arial" panose="020B0604020202020204" pitchFamily="34" charset="0"/>
              </a:rPr>
              <a:t>*</a:t>
            </a:r>
            <a:r>
              <a:rPr lang="en-US" altLang="zh-TW" baseline="0" dirty="0">
                <a:solidFill>
                  <a:srgbClr val="0000FF"/>
                </a:solidFill>
                <a:latin typeface="Arial" panose="020B0604020202020204" pitchFamily="34" charset="0"/>
              </a:rPr>
              <a:t>2026Q2:</a:t>
            </a:r>
            <a:r>
              <a:rPr lang="zh-TW" altLang="en-US" baseline="0" dirty="0">
                <a:solidFill>
                  <a:srgbClr val="0000FF"/>
                </a:solidFill>
                <a:latin typeface="Arial" panose="020B0604020202020204" pitchFamily="34" charset="0"/>
              </a:rPr>
              <a:t> </a:t>
            </a:r>
            <a:r>
              <a:rPr lang="en-US" altLang="zh-TW" sz="1300" dirty="0"/>
              <a:t>revenue</a:t>
            </a:r>
            <a:r>
              <a:rPr lang="zh-TW" altLang="en-US" baseline="0" dirty="0">
                <a:solidFill>
                  <a:srgbClr val="0000FF"/>
                </a:solidFill>
                <a:latin typeface="Arial" panose="020B0604020202020204" pitchFamily="34" charset="0"/>
              </a:rPr>
              <a:t> </a:t>
            </a:r>
            <a:r>
              <a:rPr lang="en-US" altLang="zh-TW" baseline="0" dirty="0">
                <a:solidFill>
                  <a:srgbClr val="0000FF"/>
                </a:solidFill>
                <a:latin typeface="Arial" panose="020B0604020202020204" pitchFamily="34" charset="0"/>
              </a:rPr>
              <a:t>YoY -1,498M (-23%) </a:t>
            </a:r>
          </a:p>
          <a:p>
            <a:r>
              <a:rPr lang="en-US" altLang="zh-TW" dirty="0"/>
              <a:t>1.</a:t>
            </a:r>
            <a:r>
              <a:rPr lang="zh-TW" altLang="en-US" dirty="0"/>
              <a:t>麵粉事業：製粉兩期差異減少</a:t>
            </a:r>
            <a:r>
              <a:rPr lang="en-US" altLang="zh-TW" dirty="0"/>
              <a:t>1.02</a:t>
            </a:r>
            <a:r>
              <a:rPr lang="zh-TW" altLang="en-US" dirty="0"/>
              <a:t>億，因降低售價以反映較低小麥成本，對獲利低的客戶不供貨</a:t>
            </a:r>
            <a:endParaRPr lang="en-US" altLang="zh-TW" dirty="0"/>
          </a:p>
          <a:p>
            <a:r>
              <a:rPr lang="en-US" altLang="zh-TW" dirty="0"/>
              <a:t>2.</a:t>
            </a:r>
            <a:r>
              <a:rPr lang="zh-TW" altLang="en-US" dirty="0"/>
              <a:t>資訊整合</a:t>
            </a:r>
            <a:r>
              <a:rPr lang="en-US" altLang="zh-TW" dirty="0"/>
              <a:t>(</a:t>
            </a:r>
            <a:r>
              <a:rPr lang="zh-TW" altLang="en-US" dirty="0"/>
              <a:t>神資</a:t>
            </a:r>
            <a:r>
              <a:rPr lang="en-US" altLang="zh-TW" dirty="0"/>
              <a:t>)</a:t>
            </a:r>
            <a:r>
              <a:rPr lang="zh-TW" altLang="en-US" dirty="0"/>
              <a:t>：兩期差異減少</a:t>
            </a:r>
            <a:r>
              <a:rPr lang="en-US" altLang="zh-TW" dirty="0"/>
              <a:t>4.14</a:t>
            </a:r>
            <a:r>
              <a:rPr lang="zh-TW" altLang="en-US" dirty="0"/>
              <a:t>億，因嚴審</a:t>
            </a:r>
            <a:r>
              <a:rPr lang="zh-TW" altLang="zh-TW" sz="2000" kern="0" dirty="0">
                <a:solidFill>
                  <a:srgbClr val="000000"/>
                </a:solidFill>
                <a:ea typeface="微軟正黑體" panose="020B0604030504040204" pitchFamily="34" charset="-120"/>
                <a:cs typeface="新細明體" panose="02020500000000000000" pitchFamily="18" charset="-120"/>
              </a:rPr>
              <a:t>毛利過低之專案</a:t>
            </a:r>
            <a:r>
              <a:rPr lang="zh-TW" altLang="en-US" sz="2000" kern="0" dirty="0">
                <a:solidFill>
                  <a:srgbClr val="000000"/>
                </a:solidFill>
                <a:ea typeface="微軟正黑體" panose="020B0604030504040204" pitchFamily="34" charset="-120"/>
                <a:cs typeface="新細明體" panose="02020500000000000000" pitchFamily="18" charset="-120"/>
              </a:rPr>
              <a:t>甚至不接。</a:t>
            </a:r>
            <a:r>
              <a:rPr lang="zh-TW" altLang="zh-TW" sz="2000" kern="0" dirty="0">
                <a:solidFill>
                  <a:srgbClr val="000000"/>
                </a:solidFill>
                <a:ea typeface="微軟正黑體" panose="020B0604030504040204" pitchFamily="34" charset="-120"/>
                <a:cs typeface="新細明體" panose="02020500000000000000" pitchFamily="18" charset="-120"/>
              </a:rPr>
              <a:t>依據</a:t>
            </a:r>
            <a:r>
              <a:rPr lang="en-US" altLang="zh-TW" sz="2000" kern="0" dirty="0">
                <a:solidFill>
                  <a:srgbClr val="000000"/>
                </a:solidFill>
                <a:ea typeface="微軟正黑體" panose="020B0604030504040204" pitchFamily="34" charset="-120"/>
                <a:cs typeface="新細明體" panose="02020500000000000000" pitchFamily="18" charset="-120"/>
              </a:rPr>
              <a:t>IFRS15</a:t>
            </a:r>
            <a:r>
              <a:rPr lang="zh-TW" altLang="zh-TW" sz="2000" kern="0" dirty="0">
                <a:solidFill>
                  <a:srgbClr val="000000"/>
                </a:solidFill>
                <a:ea typeface="微軟正黑體" panose="020B0604030504040204" pitchFamily="34" charset="-120"/>
                <a:cs typeface="新細明體" panose="02020500000000000000" pitchFamily="18" charset="-120"/>
              </a:rPr>
              <a:t>之規定</a:t>
            </a:r>
            <a:r>
              <a:rPr lang="zh-TW" altLang="en-US" sz="2000" kern="0" dirty="0">
                <a:solidFill>
                  <a:srgbClr val="000000"/>
                </a:solidFill>
                <a:ea typeface="微軟正黑體" panose="020B0604030504040204" pitchFamily="34" charset="-120"/>
                <a:cs typeface="新細明體" panose="02020500000000000000" pitchFamily="18" charset="-120"/>
              </a:rPr>
              <a:t>，維護專案延後認列。</a:t>
            </a:r>
            <a:endParaRPr lang="en-US" altLang="zh-TW" dirty="0"/>
          </a:p>
          <a:p>
            <a:pPr defTabSz="990752" eaLnBrk="0" fontAlgn="base" hangingPunct="0">
              <a:spcBef>
                <a:spcPct val="30000"/>
              </a:spcBef>
              <a:spcAft>
                <a:spcPct val="0"/>
              </a:spcAft>
              <a:defRPr/>
            </a:pPr>
            <a:r>
              <a:rPr lang="en-US" altLang="zh-TW" dirty="0"/>
              <a:t>3.</a:t>
            </a:r>
            <a:r>
              <a:rPr lang="zh-TW" altLang="en-US" dirty="0"/>
              <a:t>租賃事業：兩期差異增加</a:t>
            </a:r>
            <a:r>
              <a:rPr lang="en-US" altLang="zh-TW" dirty="0"/>
              <a:t>4,400</a:t>
            </a:r>
            <a:r>
              <a:rPr lang="zh-TW" altLang="en-US" dirty="0"/>
              <a:t>萬，物流中心開始收租。</a:t>
            </a:r>
            <a:endParaRPr lang="en-US" altLang="zh-TW" dirty="0"/>
          </a:p>
          <a:p>
            <a:pPr defTabSz="990752" eaLnBrk="0" fontAlgn="base" hangingPunct="0">
              <a:spcBef>
                <a:spcPct val="30000"/>
              </a:spcBef>
              <a:spcAft>
                <a:spcPct val="0"/>
              </a:spcAft>
              <a:defRPr/>
            </a:pPr>
            <a:r>
              <a:rPr lang="en-US" altLang="zh-TW" dirty="0"/>
              <a:t>4.</a:t>
            </a:r>
            <a:r>
              <a:rPr lang="zh-TW" altLang="en-US" dirty="0"/>
              <a:t>股利收入</a:t>
            </a:r>
            <a:r>
              <a:rPr lang="en-US" altLang="zh-TW" dirty="0"/>
              <a:t>(</a:t>
            </a:r>
            <a:r>
              <a:rPr lang="zh-TW" altLang="en-US" dirty="0"/>
              <a:t>神通</a:t>
            </a:r>
            <a:r>
              <a:rPr lang="en-US" altLang="zh-TW" dirty="0"/>
              <a:t>)</a:t>
            </a:r>
            <a:r>
              <a:rPr lang="zh-TW" altLang="en-US" dirty="0"/>
              <a:t>：兩期差異減少</a:t>
            </a:r>
            <a:r>
              <a:rPr lang="en-US" altLang="zh-TW" dirty="0"/>
              <a:t>10.26</a:t>
            </a:r>
            <a:r>
              <a:rPr lang="zh-TW" altLang="en-US" dirty="0"/>
              <a:t>億，主係聯強股利尚未認列</a:t>
            </a:r>
            <a:r>
              <a:rPr lang="en-US" altLang="zh-TW" dirty="0"/>
              <a:t>(</a:t>
            </a:r>
            <a:r>
              <a:rPr lang="zh-TW" altLang="en-US" dirty="0"/>
              <a:t>時間差</a:t>
            </a:r>
            <a:r>
              <a:rPr lang="en-US" altLang="zh-TW" dirty="0"/>
              <a:t>)</a:t>
            </a:r>
          </a:p>
          <a:p>
            <a:endParaRPr lang="en-US" altLang="zh-TW" dirty="0"/>
          </a:p>
          <a:p>
            <a:r>
              <a:rPr lang="zh-TW" altLang="en-US" dirty="0"/>
              <a:t>營業收入	</a:t>
            </a:r>
            <a:r>
              <a:rPr lang="en-US" altLang="zh-TW" dirty="0"/>
              <a:t>2026H1</a:t>
            </a:r>
            <a:r>
              <a:rPr lang="zh-TW" altLang="en-US" dirty="0"/>
              <a:t>	</a:t>
            </a:r>
            <a:r>
              <a:rPr lang="en-US" altLang="zh-TW" dirty="0"/>
              <a:t>2025H1</a:t>
            </a:r>
            <a:r>
              <a:rPr lang="zh-TW" altLang="en-US" dirty="0"/>
              <a:t>	成長率	金額差異</a:t>
            </a:r>
          </a:p>
          <a:p>
            <a:r>
              <a:rPr lang="zh-TW" altLang="en-US" dirty="0"/>
              <a:t>資訊整合	</a:t>
            </a:r>
            <a:r>
              <a:rPr lang="en-US" altLang="zh-TW" dirty="0"/>
              <a:t>2,326 	2,740 	-15%	(414)</a:t>
            </a:r>
          </a:p>
          <a:p>
            <a:r>
              <a:rPr lang="zh-TW" altLang="en-US" dirty="0"/>
              <a:t>麵粉事業</a:t>
            </a:r>
            <a:r>
              <a:rPr lang="en-US" altLang="zh-TW" dirty="0"/>
              <a:t>	2,402 	2,504 	-4%	(102)</a:t>
            </a:r>
          </a:p>
          <a:p>
            <a:r>
              <a:rPr lang="zh-TW" altLang="en-US" dirty="0"/>
              <a:t>股利收入</a:t>
            </a:r>
            <a:r>
              <a:rPr lang="en-US" altLang="zh-TW" dirty="0"/>
              <a:t>	59 	1,085 	-95%	(1,026)</a:t>
            </a:r>
          </a:p>
          <a:p>
            <a:r>
              <a:rPr lang="zh-TW" altLang="en-US" dirty="0"/>
              <a:t>租賃事業</a:t>
            </a:r>
            <a:r>
              <a:rPr lang="en-US" altLang="zh-TW" dirty="0"/>
              <a:t>)	236 	192 	23%	44 </a:t>
            </a:r>
          </a:p>
          <a:p>
            <a:r>
              <a:rPr lang="zh-TW" altLang="en-US" dirty="0"/>
              <a:t>新能源	</a:t>
            </a:r>
            <a:r>
              <a:rPr lang="en-US" altLang="zh-TW" dirty="0"/>
              <a:t>7 	7 		</a:t>
            </a:r>
          </a:p>
          <a:p>
            <a:r>
              <a:rPr lang="zh-TW" altLang="en-US" dirty="0"/>
              <a:t>合計	</a:t>
            </a:r>
            <a:r>
              <a:rPr lang="en-US" altLang="zh-TW" dirty="0"/>
              <a:t>5,034 	6,532 		(1,497)</a:t>
            </a:r>
          </a:p>
          <a:p>
            <a:endParaRPr lang="en-US" altLang="zh-TW" dirty="0"/>
          </a:p>
          <a:p>
            <a:r>
              <a:rPr lang="en-US" altLang="zh-TW" dirty="0"/>
              <a:t>------	</a:t>
            </a:r>
          </a:p>
          <a:p>
            <a:r>
              <a:rPr lang="en-US" altLang="zh-TW" dirty="0"/>
              <a:t>2025 vs 2024   +5%(+637m)</a:t>
            </a:r>
          </a:p>
          <a:p>
            <a:pPr defTabSz="990752" eaLnBrk="0" fontAlgn="base" hangingPunct="0">
              <a:spcBef>
                <a:spcPct val="30000"/>
              </a:spcBef>
              <a:spcAft>
                <a:spcPct val="0"/>
              </a:spcAft>
              <a:defRPr/>
            </a:pPr>
            <a:r>
              <a:rPr lang="en-US" altLang="zh-TW" dirty="0"/>
              <a:t>2025Q4 vs 2024Q4   +20% (648m)</a:t>
            </a:r>
          </a:p>
          <a:p>
            <a:pPr defTabSz="990752" eaLnBrk="0" fontAlgn="base" hangingPunct="0">
              <a:spcBef>
                <a:spcPct val="30000"/>
              </a:spcBef>
              <a:spcAft>
                <a:spcPct val="0"/>
              </a:spcAft>
              <a:defRPr/>
            </a:pPr>
            <a:endParaRPr lang="en-US" altLang="zh-TW" dirty="0"/>
          </a:p>
          <a:p>
            <a:pPr defTabSz="990752" eaLnBrk="0" fontAlgn="base" hangingPunct="0">
              <a:spcBef>
                <a:spcPct val="30000"/>
              </a:spcBef>
              <a:spcAft>
                <a:spcPct val="0"/>
              </a:spcAft>
              <a:defRPr/>
            </a:pPr>
            <a:r>
              <a:rPr lang="zh-TW" altLang="en-US" sz="1300" dirty="0"/>
              <a:t>營業收入</a:t>
            </a:r>
            <a:r>
              <a:rPr lang="zh-TW" altLang="en-US" dirty="0"/>
              <a:t>  </a:t>
            </a:r>
            <a:r>
              <a:rPr lang="en-US" altLang="zh-TW" sz="1300" dirty="0"/>
              <a:t>2025Q4</a:t>
            </a:r>
            <a:r>
              <a:rPr lang="zh-TW" altLang="en-US" sz="1300" dirty="0"/>
              <a:t>合併營收</a:t>
            </a:r>
            <a:r>
              <a:rPr lang="zh-TW" altLang="en-US" dirty="0"/>
              <a:t>    </a:t>
            </a:r>
            <a:r>
              <a:rPr lang="en-US" altLang="zh-TW" sz="1300" dirty="0"/>
              <a:t>2024Q4</a:t>
            </a:r>
            <a:r>
              <a:rPr lang="zh-TW" altLang="en-US" sz="1300" dirty="0"/>
              <a:t>合併營收</a:t>
            </a:r>
            <a:r>
              <a:rPr lang="zh-TW" altLang="en-US" dirty="0"/>
              <a:t>   </a:t>
            </a:r>
            <a:r>
              <a:rPr lang="zh-TW" altLang="en-US" sz="1300" dirty="0"/>
              <a:t>成長率</a:t>
            </a:r>
            <a:r>
              <a:rPr lang="zh-TW" altLang="en-US" dirty="0"/>
              <a:t>     </a:t>
            </a:r>
            <a:r>
              <a:rPr lang="zh-TW" altLang="en-US" sz="1300" dirty="0"/>
              <a:t>差異</a:t>
            </a:r>
            <a:r>
              <a:rPr lang="zh-TW" altLang="en-US" dirty="0"/>
              <a:t>     </a:t>
            </a:r>
            <a:r>
              <a:rPr lang="en-US" altLang="zh-TW" sz="1300" dirty="0"/>
              <a:t>2025</a:t>
            </a:r>
            <a:r>
              <a:rPr lang="zh-TW" altLang="en-US" sz="1300" dirty="0"/>
              <a:t>佔比</a:t>
            </a:r>
            <a:r>
              <a:rPr lang="en-US" altLang="zh-TW" sz="1300" dirty="0"/>
              <a:t>%    </a:t>
            </a:r>
            <a:r>
              <a:rPr lang="zh-TW" altLang="en-US" dirty="0"/>
              <a:t> </a:t>
            </a:r>
            <a:r>
              <a:rPr lang="en-US" altLang="zh-TW" sz="1300" dirty="0"/>
              <a:t>2024</a:t>
            </a:r>
            <a:r>
              <a:rPr lang="zh-TW" altLang="en-US" sz="1300" dirty="0"/>
              <a:t>佔比</a:t>
            </a:r>
            <a:r>
              <a:rPr lang="en-US" altLang="zh-TW" sz="1300" dirty="0"/>
              <a:t>%</a:t>
            </a:r>
            <a:r>
              <a:rPr lang="zh-TW" altLang="en-US" dirty="0"/>
              <a:t> </a:t>
            </a:r>
            <a:endParaRPr lang="en-US" altLang="zh-TW" dirty="0"/>
          </a:p>
          <a:p>
            <a:r>
              <a:rPr lang="zh-TW" altLang="en-US" sz="1300" dirty="0"/>
              <a:t>資訊整合</a:t>
            </a:r>
            <a:r>
              <a:rPr lang="zh-TW" altLang="en-US" dirty="0"/>
              <a:t>                      </a:t>
            </a:r>
            <a:r>
              <a:rPr lang="en-US" altLang="zh-TW" sz="1300" dirty="0"/>
              <a:t>6,657                     5,712           17%    </a:t>
            </a:r>
            <a:r>
              <a:rPr lang="zh-TW" altLang="en-US" dirty="0"/>
              <a:t> </a:t>
            </a:r>
            <a:r>
              <a:rPr lang="en-US" altLang="zh-TW" sz="1300" dirty="0"/>
              <a:t>945           49%</a:t>
            </a:r>
            <a:r>
              <a:rPr lang="zh-TW" altLang="en-US" dirty="0"/>
              <a:t>                   </a:t>
            </a:r>
            <a:r>
              <a:rPr lang="en-US" altLang="zh-TW" sz="1300" dirty="0"/>
              <a:t>44%</a:t>
            </a:r>
            <a:r>
              <a:rPr lang="zh-TW" altLang="en-US" dirty="0"/>
              <a:t> </a:t>
            </a:r>
            <a:endParaRPr lang="en-US" altLang="zh-TW" dirty="0"/>
          </a:p>
          <a:p>
            <a:r>
              <a:rPr lang="zh-TW" altLang="en-US" sz="1300" dirty="0"/>
              <a:t>麵粉事業 </a:t>
            </a:r>
            <a:r>
              <a:rPr lang="en-US" altLang="zh-TW" sz="1300" dirty="0"/>
              <a:t>(</a:t>
            </a:r>
            <a:r>
              <a:rPr lang="zh-TW" altLang="en-US" sz="1300" dirty="0"/>
              <a:t>台灣大陸</a:t>
            </a:r>
            <a:r>
              <a:rPr lang="en-US" altLang="zh-TW" sz="1300" dirty="0"/>
              <a:t>)</a:t>
            </a:r>
            <a:r>
              <a:rPr lang="zh-TW" altLang="en-US" dirty="0"/>
              <a:t>  </a:t>
            </a:r>
            <a:r>
              <a:rPr lang="en-US" altLang="zh-TW" sz="1300" dirty="0"/>
              <a:t>5,021                      5,549         -10%</a:t>
            </a:r>
            <a:r>
              <a:rPr lang="zh-TW" altLang="en-US" dirty="0"/>
              <a:t>    </a:t>
            </a:r>
            <a:r>
              <a:rPr lang="en-US" altLang="zh-TW" sz="1300" dirty="0"/>
              <a:t>(528)</a:t>
            </a:r>
            <a:r>
              <a:rPr lang="zh-TW" altLang="en-US" dirty="0"/>
              <a:t>          </a:t>
            </a:r>
            <a:r>
              <a:rPr lang="en-US" altLang="zh-TW" sz="1300" dirty="0"/>
              <a:t>37%</a:t>
            </a:r>
            <a:r>
              <a:rPr lang="zh-TW" altLang="en-US" dirty="0"/>
              <a:t>                  </a:t>
            </a:r>
            <a:r>
              <a:rPr lang="en-US" altLang="zh-TW" sz="1300" dirty="0"/>
              <a:t>43%</a:t>
            </a:r>
            <a:r>
              <a:rPr lang="zh-TW" altLang="en-US" dirty="0"/>
              <a:t> </a:t>
            </a:r>
            <a:endParaRPr lang="en-US" altLang="zh-TW" dirty="0"/>
          </a:p>
          <a:p>
            <a:r>
              <a:rPr lang="zh-TW" altLang="en-US" sz="1300" dirty="0"/>
              <a:t>股利收入</a:t>
            </a:r>
            <a:r>
              <a:rPr lang="en-US" altLang="zh-TW" sz="1300" dirty="0"/>
              <a:t>(</a:t>
            </a:r>
            <a:r>
              <a:rPr lang="zh-TW" altLang="en-US" sz="1300" dirty="0"/>
              <a:t>神通</a:t>
            </a:r>
            <a:r>
              <a:rPr lang="en-US" altLang="zh-TW" sz="1300" dirty="0"/>
              <a:t>)</a:t>
            </a:r>
            <a:r>
              <a:rPr lang="zh-TW" altLang="en-US" dirty="0"/>
              <a:t>           </a:t>
            </a:r>
            <a:r>
              <a:rPr lang="en-US" altLang="zh-TW" sz="1300" dirty="0"/>
              <a:t>1,444                      1,074           34%</a:t>
            </a:r>
            <a:r>
              <a:rPr lang="zh-TW" altLang="en-US" dirty="0"/>
              <a:t>     </a:t>
            </a:r>
            <a:r>
              <a:rPr lang="en-US" altLang="zh-TW" sz="1300" dirty="0"/>
              <a:t>370            11%</a:t>
            </a:r>
            <a:r>
              <a:rPr lang="zh-TW" altLang="en-US" dirty="0"/>
              <a:t>                    </a:t>
            </a:r>
            <a:r>
              <a:rPr lang="en-US" altLang="zh-TW" sz="1300" dirty="0"/>
              <a:t>8%</a:t>
            </a:r>
            <a:r>
              <a:rPr lang="zh-TW" altLang="en-US" dirty="0"/>
              <a:t> </a:t>
            </a:r>
            <a:endParaRPr lang="en-US" altLang="zh-TW" dirty="0"/>
          </a:p>
          <a:p>
            <a:r>
              <a:rPr lang="zh-TW" altLang="en-US" sz="1300" dirty="0"/>
              <a:t>租賃事業 </a:t>
            </a:r>
            <a:r>
              <a:rPr lang="en-US" altLang="zh-TW" sz="1300" dirty="0"/>
              <a:t>(</a:t>
            </a:r>
            <a:r>
              <a:rPr lang="zh-TW" altLang="en-US" sz="1300" dirty="0"/>
              <a:t>台灣大陸</a:t>
            </a:r>
            <a:r>
              <a:rPr lang="en-US" altLang="zh-TW" sz="1300" dirty="0"/>
              <a:t>)</a:t>
            </a:r>
            <a:r>
              <a:rPr lang="zh-TW" altLang="en-US" dirty="0"/>
              <a:t>     </a:t>
            </a:r>
            <a:r>
              <a:rPr lang="en-US" altLang="zh-TW" sz="1300" dirty="0"/>
              <a:t>387                          377             3%</a:t>
            </a:r>
            <a:r>
              <a:rPr lang="zh-TW" altLang="en-US" dirty="0"/>
              <a:t>       </a:t>
            </a:r>
            <a:r>
              <a:rPr lang="en-US" altLang="zh-TW" sz="1300" dirty="0"/>
              <a:t>10              3%                    </a:t>
            </a:r>
            <a:r>
              <a:rPr lang="zh-TW" altLang="en-US" dirty="0"/>
              <a:t> </a:t>
            </a:r>
            <a:r>
              <a:rPr lang="en-US" altLang="zh-TW" sz="1300" dirty="0"/>
              <a:t>3%</a:t>
            </a:r>
            <a:r>
              <a:rPr lang="zh-TW" altLang="en-US" dirty="0"/>
              <a:t> </a:t>
            </a:r>
            <a:endParaRPr lang="en-US" altLang="zh-TW" dirty="0"/>
          </a:p>
          <a:p>
            <a:r>
              <a:rPr lang="zh-TW" altLang="en-US" sz="1300" dirty="0"/>
              <a:t>新能源                             </a:t>
            </a:r>
            <a:r>
              <a:rPr lang="zh-TW" altLang="en-US" dirty="0"/>
              <a:t> </a:t>
            </a:r>
            <a:r>
              <a:rPr lang="en-US" altLang="zh-TW" sz="1300" dirty="0"/>
              <a:t>66                             49            35%</a:t>
            </a:r>
            <a:r>
              <a:rPr lang="zh-TW" altLang="en-US" dirty="0"/>
              <a:t>      </a:t>
            </a:r>
            <a:r>
              <a:rPr lang="en-US" altLang="zh-TW" sz="1300" dirty="0"/>
              <a:t>17                0%                  </a:t>
            </a:r>
            <a:r>
              <a:rPr lang="zh-TW" altLang="en-US" dirty="0"/>
              <a:t> </a:t>
            </a:r>
            <a:r>
              <a:rPr lang="en-US" altLang="zh-TW" sz="1300" dirty="0"/>
              <a:t>0%</a:t>
            </a:r>
            <a:r>
              <a:rPr lang="zh-TW" altLang="en-US" dirty="0"/>
              <a:t> </a:t>
            </a:r>
            <a:endParaRPr lang="en-US" altLang="zh-TW" dirty="0"/>
          </a:p>
          <a:p>
            <a:r>
              <a:rPr lang="zh-TW" altLang="en-US" sz="1300" dirty="0"/>
              <a:t>食品通路                           </a:t>
            </a:r>
            <a:r>
              <a:rPr lang="zh-TW" altLang="en-US" dirty="0"/>
              <a:t> </a:t>
            </a:r>
            <a:r>
              <a:rPr lang="en-US" altLang="zh-TW" sz="1300" dirty="0"/>
              <a:t>9                           187           -95% </a:t>
            </a:r>
            <a:r>
              <a:rPr lang="zh-TW" altLang="en-US" dirty="0"/>
              <a:t> </a:t>
            </a:r>
            <a:r>
              <a:rPr lang="en-US" altLang="zh-TW" sz="1300" dirty="0"/>
              <a:t>(178)             </a:t>
            </a:r>
            <a:r>
              <a:rPr lang="zh-TW" altLang="en-US" dirty="0"/>
              <a:t> </a:t>
            </a:r>
            <a:r>
              <a:rPr lang="en-US" altLang="zh-TW" sz="1300" dirty="0"/>
              <a:t>0%</a:t>
            </a:r>
            <a:r>
              <a:rPr lang="zh-TW" altLang="en-US" dirty="0"/>
              <a:t>                    </a:t>
            </a:r>
            <a:r>
              <a:rPr lang="en-US" altLang="zh-TW" sz="1300" dirty="0"/>
              <a:t>1%</a:t>
            </a:r>
            <a:r>
              <a:rPr lang="zh-TW" altLang="en-US" dirty="0"/>
              <a:t> </a:t>
            </a:r>
            <a:endParaRPr lang="en-US" altLang="zh-TW" dirty="0"/>
          </a:p>
          <a:p>
            <a:r>
              <a:rPr lang="zh-TW" altLang="en-US" sz="1300" dirty="0"/>
              <a:t>合計</a:t>
            </a:r>
            <a:r>
              <a:rPr lang="zh-TW" altLang="en-US" dirty="0"/>
              <a:t>                          </a:t>
            </a:r>
            <a:r>
              <a:rPr lang="en-US" altLang="zh-TW" sz="1300" dirty="0"/>
              <a:t>13,584                     12,947 </a:t>
            </a:r>
            <a:r>
              <a:rPr lang="zh-TW" altLang="en-US" sz="1300" dirty="0"/>
              <a:t>　                   </a:t>
            </a:r>
            <a:r>
              <a:rPr lang="zh-TW" altLang="en-US" dirty="0"/>
              <a:t> </a:t>
            </a:r>
            <a:r>
              <a:rPr lang="en-US" altLang="zh-TW" sz="1300" dirty="0"/>
              <a:t>637              100%             </a:t>
            </a:r>
            <a:r>
              <a:rPr lang="zh-TW" altLang="en-US" dirty="0"/>
              <a:t> </a:t>
            </a:r>
            <a:r>
              <a:rPr lang="en-US" altLang="zh-TW" sz="1300" dirty="0"/>
              <a:t>100%</a:t>
            </a:r>
            <a:r>
              <a:rPr lang="zh-TW" altLang="en-US" dirty="0"/>
              <a:t> </a:t>
            </a:r>
          </a:p>
        </p:txBody>
      </p:sp>
      <p:sp>
        <p:nvSpPr>
          <p:cNvPr id="44036"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04986" indent="-309610">
              <a:defRPr kumimoji="1">
                <a:solidFill>
                  <a:schemeClr val="tx1"/>
                </a:solidFill>
                <a:latin typeface="Calibri" panose="020F0502020204030204" pitchFamily="34" charset="0"/>
                <a:ea typeface="新細明體" panose="02020500000000000000" pitchFamily="18" charset="-120"/>
              </a:defRPr>
            </a:lvl2pPr>
            <a:lvl3pPr marL="1238441" indent="-247688">
              <a:defRPr kumimoji="1">
                <a:solidFill>
                  <a:schemeClr val="tx1"/>
                </a:solidFill>
                <a:latin typeface="Calibri" panose="020F0502020204030204" pitchFamily="34" charset="0"/>
                <a:ea typeface="新細明體" panose="02020500000000000000" pitchFamily="18" charset="-120"/>
              </a:defRPr>
            </a:lvl3pPr>
            <a:lvl4pPr marL="1733817" indent="-247688">
              <a:defRPr kumimoji="1">
                <a:solidFill>
                  <a:schemeClr val="tx1"/>
                </a:solidFill>
                <a:latin typeface="Calibri" panose="020F0502020204030204" pitchFamily="34" charset="0"/>
                <a:ea typeface="新細明體" panose="02020500000000000000" pitchFamily="18" charset="-120"/>
              </a:defRPr>
            </a:lvl4pPr>
            <a:lvl5pPr marL="2229193" indent="-247688">
              <a:defRPr kumimoji="1">
                <a:solidFill>
                  <a:schemeClr val="tx1"/>
                </a:solidFill>
                <a:latin typeface="Calibri" panose="020F0502020204030204" pitchFamily="34" charset="0"/>
                <a:ea typeface="新細明體" panose="02020500000000000000" pitchFamily="18" charset="-120"/>
              </a:defRPr>
            </a:lvl5pPr>
            <a:lvl6pPr marL="2724569"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219945"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715322"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210698"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1A7FFE2C-8A7F-4A4B-9208-D764517E4C87}" type="slidenum">
              <a:rPr kumimoji="0" lang="zh-TW" altLang="en-US" smtClean="0"/>
              <a:pPr/>
              <a:t>31</a:t>
            </a:fld>
            <a:endParaRPr kumimoji="0" lang="zh-TW" altLang="en-US"/>
          </a:p>
        </p:txBody>
      </p:sp>
    </p:spTree>
    <p:extLst>
      <p:ext uri="{BB962C8B-B14F-4D97-AF65-F5344CB8AC3E}">
        <p14:creationId xmlns:p14="http://schemas.microsoft.com/office/powerpoint/2010/main" val="20953244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投影片圖像版面配置區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備忘稿版面配置區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TW" dirty="0"/>
              <a:t>111</a:t>
            </a:r>
            <a:r>
              <a:rPr lang="zh-TW" altLang="en-US" dirty="0"/>
              <a:t>年以前</a:t>
            </a:r>
            <a:r>
              <a:rPr lang="en-US" altLang="zh-TW" dirty="0"/>
              <a:t>EPS</a:t>
            </a:r>
            <a:r>
              <a:rPr lang="zh-TW" altLang="en-US" dirty="0"/>
              <a:t>未依</a:t>
            </a:r>
            <a:r>
              <a:rPr lang="en-US" altLang="zh-TW" dirty="0"/>
              <a:t>113</a:t>
            </a:r>
            <a:r>
              <a:rPr lang="zh-TW" altLang="en-US" dirty="0"/>
              <a:t>年股數</a:t>
            </a:r>
            <a:r>
              <a:rPr lang="en-US" altLang="zh-TW" dirty="0"/>
              <a:t>diluted</a:t>
            </a:r>
            <a:endParaRPr lang="zh-TW" altLang="en-US" dirty="0"/>
          </a:p>
        </p:txBody>
      </p:sp>
      <p:sp>
        <p:nvSpPr>
          <p:cNvPr id="46084" name="投影片編號版面配置區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a:solidFill>
                  <a:schemeClr val="tx1"/>
                </a:solidFill>
                <a:latin typeface="Calibri" panose="020F0502020204030204" pitchFamily="34" charset="0"/>
                <a:ea typeface="新細明體" panose="02020500000000000000" pitchFamily="18" charset="-120"/>
              </a:defRPr>
            </a:lvl1pPr>
            <a:lvl2pPr marL="804986" indent="-309610">
              <a:defRPr kumimoji="1">
                <a:solidFill>
                  <a:schemeClr val="tx1"/>
                </a:solidFill>
                <a:latin typeface="Calibri" panose="020F0502020204030204" pitchFamily="34" charset="0"/>
                <a:ea typeface="新細明體" panose="02020500000000000000" pitchFamily="18" charset="-120"/>
              </a:defRPr>
            </a:lvl2pPr>
            <a:lvl3pPr marL="1238441" indent="-247688">
              <a:defRPr kumimoji="1">
                <a:solidFill>
                  <a:schemeClr val="tx1"/>
                </a:solidFill>
                <a:latin typeface="Calibri" panose="020F0502020204030204" pitchFamily="34" charset="0"/>
                <a:ea typeface="新細明體" panose="02020500000000000000" pitchFamily="18" charset="-120"/>
              </a:defRPr>
            </a:lvl3pPr>
            <a:lvl4pPr marL="1733817" indent="-247688">
              <a:defRPr kumimoji="1">
                <a:solidFill>
                  <a:schemeClr val="tx1"/>
                </a:solidFill>
                <a:latin typeface="Calibri" panose="020F0502020204030204" pitchFamily="34" charset="0"/>
                <a:ea typeface="新細明體" panose="02020500000000000000" pitchFamily="18" charset="-120"/>
              </a:defRPr>
            </a:lvl4pPr>
            <a:lvl5pPr marL="2229193" indent="-247688">
              <a:defRPr kumimoji="1">
                <a:solidFill>
                  <a:schemeClr val="tx1"/>
                </a:solidFill>
                <a:latin typeface="Calibri" panose="020F0502020204030204" pitchFamily="34" charset="0"/>
                <a:ea typeface="新細明體" panose="02020500000000000000" pitchFamily="18" charset="-120"/>
              </a:defRPr>
            </a:lvl5pPr>
            <a:lvl6pPr marL="2724569"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6pPr>
            <a:lvl7pPr marL="3219945"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7pPr>
            <a:lvl8pPr marL="3715322"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8pPr>
            <a:lvl9pPr marL="4210698" indent="-247688" defTabSz="495376" eaLnBrk="0" fontAlgn="base" hangingPunct="0">
              <a:spcBef>
                <a:spcPct val="0"/>
              </a:spcBef>
              <a:spcAft>
                <a:spcPct val="0"/>
              </a:spcAft>
              <a:defRPr kumimoji="1">
                <a:solidFill>
                  <a:schemeClr val="tx1"/>
                </a:solidFill>
                <a:latin typeface="Calibri" panose="020F0502020204030204" pitchFamily="34" charset="0"/>
                <a:ea typeface="新細明體" panose="02020500000000000000" pitchFamily="18" charset="-120"/>
              </a:defRPr>
            </a:lvl9pPr>
          </a:lstStyle>
          <a:p>
            <a:fld id="{E6282997-974D-4DDC-B779-267CBFA9C385}" type="slidenum">
              <a:rPr kumimoji="0" lang="zh-TW" altLang="en-US" smtClean="0"/>
              <a:pPr/>
              <a:t>32</a:t>
            </a:fld>
            <a:endParaRPr kumimoji="0" lang="zh-TW" altLang="en-US"/>
          </a:p>
        </p:txBody>
      </p:sp>
    </p:spTree>
    <p:extLst>
      <p:ext uri="{BB962C8B-B14F-4D97-AF65-F5344CB8AC3E}">
        <p14:creationId xmlns:p14="http://schemas.microsoft.com/office/powerpoint/2010/main" val="380581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arget="../media/image1.jpeg" Type="http://schemas.openxmlformats.org/officeDocument/2006/relationships/image"/><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1088780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31686933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165911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2239595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1068333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581513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656896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3277364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1221943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997985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78273F64-1E97-467A-B519-F36AAA704738}" type="datetimeFigureOut">
              <a:rPr lang="zh-TW" altLang="en-US" smtClean="0"/>
              <a:t>2026/9/29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626476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自訂版面配置">
    <p:spTree>
      <p:nvGrpSpPr>
        <p:cNvPr id="1" name=""/>
        <p:cNvGrpSpPr/>
        <p:nvPr/>
      </p:nvGrpSpPr>
      <p:grpSpPr>
        <a:xfrm>
          <a:off x="0" y="0"/>
          <a:ext cx="0" cy="0"/>
          <a:chOff x="0" y="0"/>
          <a:chExt cx="0" cy="0"/>
        </a:xfrm>
      </p:grpSpPr>
      <p:sp>
        <p:nvSpPr>
          <p:cNvPr id="2" name="手繪多邊形: 圖案 3"/>
          <p:cNvSpPr/>
          <p:nvPr userDrawn="1"/>
        </p:nvSpPr>
        <p:spPr>
          <a:xfrm>
            <a:off x="0" y="531813"/>
            <a:ext cx="4086225" cy="704850"/>
          </a:xfrm>
          <a:custGeom>
            <a:avLst/>
            <a:gdLst>
              <a:gd name="connsiteX0" fmla="*/ 0 w 4085545"/>
              <a:gd name="connsiteY0" fmla="*/ 0 h 705265"/>
              <a:gd name="connsiteX1" fmla="*/ 300918 w 4085545"/>
              <a:gd name="connsiteY1" fmla="*/ 0 h 705265"/>
              <a:gd name="connsiteX2" fmla="*/ 300918 w 4085545"/>
              <a:gd name="connsiteY2" fmla="*/ 4235 h 705265"/>
              <a:gd name="connsiteX3" fmla="*/ 3784554 w 4085545"/>
              <a:gd name="connsiteY3" fmla="*/ 4235 h 705265"/>
              <a:gd name="connsiteX4" fmla="*/ 4085545 w 4085545"/>
              <a:gd name="connsiteY4" fmla="*/ 354750 h 705265"/>
              <a:gd name="connsiteX5" fmla="*/ 3784554 w 4085545"/>
              <a:gd name="connsiteY5" fmla="*/ 705265 h 705265"/>
              <a:gd name="connsiteX6" fmla="*/ 0 w 4085545"/>
              <a:gd name="connsiteY6" fmla="*/ 705265 h 705265"/>
              <a:gd name="connsiteX7" fmla="*/ 0 w 4085545"/>
              <a:gd name="connsiteY7" fmla="*/ 0 h 7052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85545" h="705265">
                <a:moveTo>
                  <a:pt x="0" y="0"/>
                </a:moveTo>
                <a:lnTo>
                  <a:pt x="300918" y="0"/>
                </a:lnTo>
                <a:lnTo>
                  <a:pt x="300918" y="4235"/>
                </a:lnTo>
                <a:lnTo>
                  <a:pt x="3784554" y="4235"/>
                </a:lnTo>
                <a:cubicBezTo>
                  <a:pt x="3950787" y="4235"/>
                  <a:pt x="4085545" y="161166"/>
                  <a:pt x="4085545" y="354750"/>
                </a:cubicBezTo>
                <a:cubicBezTo>
                  <a:pt x="4085545" y="548334"/>
                  <a:pt x="3950787" y="705265"/>
                  <a:pt x="3784554" y="705265"/>
                </a:cubicBezTo>
                <a:lnTo>
                  <a:pt x="0" y="705265"/>
                </a:lnTo>
                <a:lnTo>
                  <a:pt x="0" y="0"/>
                </a:lnTo>
                <a:close/>
              </a:path>
            </a:pathLst>
          </a:custGeom>
          <a:solidFill>
            <a:srgbClr val="0C99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zh-TW" altLang="en-US"/>
          </a:p>
        </p:txBody>
      </p:sp>
      <p:pic>
        <p:nvPicPr>
          <p:cNvPr id="3" name="圖片 7"/>
          <p:cNvPicPr>
            <a:picLocks noChangeAspect="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9967913" y="6411913"/>
            <a:ext cx="21415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8977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273F64-1E97-467A-B519-F36AAA704738}" type="datetimeFigureOut">
              <a:rPr lang="zh-TW" altLang="en-US" smtClean="0"/>
              <a:t>2026/9/29</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B7279D-2059-45B4-9C83-1B5BBCDCA8A0}" type="slidenum">
              <a:rPr lang="zh-TW" altLang="en-US" smtClean="0"/>
              <a:t>‹#›</a:t>
            </a:fld>
            <a:endParaRPr lang="zh-TW" altLang="en-US"/>
          </a:p>
        </p:txBody>
      </p:sp>
    </p:spTree>
    <p:extLst>
      <p:ext uri="{BB962C8B-B14F-4D97-AF65-F5344CB8AC3E}">
        <p14:creationId xmlns:p14="http://schemas.microsoft.com/office/powerpoint/2010/main" val="3173881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arget="../media/image2.jpeg" Type="http://schemas.openxmlformats.org/officeDocument/2006/relationships/image"/><Relationship Id="rId2" Target="../notesSlides/notesSlide1.xml" Type="http://schemas.openxmlformats.org/officeDocument/2006/relationships/notesSlide"/><Relationship Id="rId1" Target="../slideLayouts/slideLayout7.xml" Type="http://schemas.openxmlformats.org/officeDocument/2006/relationships/slideLayout"/><Relationship Id="rId5" Target="../media/image4.jpeg" Type="http://schemas.openxmlformats.org/officeDocument/2006/relationships/image"/><Relationship Id="rId4" Target="../media/image3.png" Type="http://schemas.openxmlformats.org/officeDocument/2006/relationships/image"/></Relationships>
</file>

<file path=ppt/slides/_rels/slide2.xml.rels><?xml version="1.0" encoding="UTF-8" standalone="yes" ?><Relationships xmlns="http://schemas.openxmlformats.org/package/2006/relationships"><Relationship Id="rId3" Target="../media/image4.jpeg" Type="http://schemas.openxmlformats.org/officeDocument/2006/relationships/image"/><Relationship Id="rId2" Target="../media/image5.jpeg" Type="http://schemas.openxmlformats.org/officeDocument/2006/relationships/image"/><Relationship Id="rId1" Target="../slideLayouts/slideLayout7.xml" Type="http://schemas.openxmlformats.org/officeDocument/2006/relationships/slideLayout"/></Relationships>
</file>

<file path=ppt/slides/_rels/slide3.xml.rels><?xml version="1.0" encoding="UTF-8" standalone="yes" ?><Relationships xmlns="http://schemas.openxmlformats.org/package/2006/relationships"><Relationship Id="rId3" Target="../media/image4.jpeg" Type="http://schemas.openxmlformats.org/officeDocument/2006/relationships/image"/><Relationship Id="rId2" Target="../media/image6.jpeg" Type="http://schemas.openxmlformats.org/officeDocument/2006/relationships/image"/><Relationship Id="rId1" Target="../slideLayouts/slideLayout7.xml" Type="http://schemas.openxmlformats.org/officeDocument/2006/relationships/slideLayout"/></Relationships>
</file>

<file path=ppt/slides/_rels/slide4.xml.rels><?xml version="1.0" encoding="UTF-8" standalone="yes" ?><Relationships xmlns="http://schemas.openxmlformats.org/package/2006/relationships"><Relationship Id="rId3" Target="../media/image7.jpeg" Type="http://schemas.openxmlformats.org/officeDocument/2006/relationships/image"/><Relationship Id="rId2" Target="../notesSlides/notesSlide2.xml" Type="http://schemas.openxmlformats.org/officeDocument/2006/relationships/notesSlide"/><Relationship Id="rId1" Target="../slideLayouts/slideLayout7.xml" Type="http://schemas.openxmlformats.org/officeDocument/2006/relationships/slideLayout"/><Relationship Id="rId5" Target="../media/image9.jpeg" Type="http://schemas.openxmlformats.org/officeDocument/2006/relationships/image"/><Relationship Id="rId4" Target="../media/image8.png" Type="http://schemas.openxmlformats.org/officeDocument/2006/relationships/image"/></Relationships>
</file>

<file path=ppt/slides/_rels/slide5.xml.rels><?xml version="1.0" encoding="UTF-8" standalone="yes" ?><Relationships xmlns="http://schemas.openxmlformats.org/package/2006/relationships"><Relationship Id="rId3" Target="../media/image10.jpeg" Type="http://schemas.openxmlformats.org/officeDocument/2006/relationships/image"/><Relationship Id="rId2" Target="../notesSlides/notesSlide3.xml" Type="http://schemas.openxmlformats.org/officeDocument/2006/relationships/notesSlide"/><Relationship Id="rId1" Target="../slideLayouts/slideLayout7.xml" Type="http://schemas.openxmlformats.org/officeDocument/2006/relationships/slideLayout"/><Relationship Id="rId5" Target="../media/image11.jpeg" Type="http://schemas.openxmlformats.org/officeDocument/2006/relationships/image"/><Relationship Id="rId4" Target="../media/image4.jpeg" Type="http://schemas.openxmlformats.org/officeDocument/2006/relationships/image"/></Relationships>
</file>

<file path=ppt/slides/_rels/slide6.xml.rels><?xml version="1.0" encoding="UTF-8" standalone="yes" ?><Relationships xmlns="http://schemas.openxmlformats.org/package/2006/relationships"><Relationship Id="rId3" Target="../media/image12.jpeg" Type="http://schemas.openxmlformats.org/officeDocument/2006/relationships/image"/><Relationship Id="rId2" Target="../notesSlides/notesSlide4.xml" Type="http://schemas.openxmlformats.org/officeDocument/2006/relationships/notesSlide"/><Relationship Id="rId1" Target="../slideLayouts/slideLayout7.xml" Type="http://schemas.openxmlformats.org/officeDocument/2006/relationships/slideLayout"/><Relationship Id="rId4" Target="../media/image4.jpeg" Type="http://schemas.openxmlformats.org/officeDocument/2006/relationships/image"/></Relationships>
</file>

<file path=ppt/slides/_rels/slide7.xml.rels><?xml version="1.0" encoding="UTF-8" standalone="yes" ?><Relationships xmlns="http://schemas.openxmlformats.org/package/2006/relationships"><Relationship Id="rId3" Target="../media/image13.png" Type="http://schemas.openxmlformats.org/officeDocument/2006/relationships/image"/><Relationship Id="rId2" Target="../notesSlides/notesSlide5.xml" Type="http://schemas.openxmlformats.org/officeDocument/2006/relationships/notesSlide"/><Relationship Id="rId1" Target="../slideLayouts/slideLayout7.xml" Type="http://schemas.openxmlformats.org/officeDocument/2006/relationships/slideLayout"/><Relationship Id="rId4" Target="../media/image14.jpeg" Type="http://schemas.openxmlformats.org/officeDocument/2006/relationships/image"/></Relationships>
</file>

<file path=ppt/slides/_rels/slide8.xml.rels><?xml version="1.0" encoding="UTF-8" standalone="yes" ?><Relationships xmlns="http://schemas.openxmlformats.org/package/2006/relationships"><Relationship Id="rId8" Target="../media/image20.jpeg" Type="http://schemas.openxmlformats.org/officeDocument/2006/relationships/image"/><Relationship Id="rId3" Target="../media/image15.jpeg" Type="http://schemas.openxmlformats.org/officeDocument/2006/relationships/image"/><Relationship Id="rId7" Target="../media/image19.jpeg" Type="http://schemas.openxmlformats.org/officeDocument/2006/relationships/image"/><Relationship Id="rId2" Target="../notesSlides/notesSlide6.xml" Type="http://schemas.openxmlformats.org/officeDocument/2006/relationships/notesSlide"/><Relationship Id="rId1" Target="../slideLayouts/slideLayout7.xml" Type="http://schemas.openxmlformats.org/officeDocument/2006/relationships/slideLayout"/><Relationship Id="rId6" Target="../media/image18.jpeg" Type="http://schemas.openxmlformats.org/officeDocument/2006/relationships/image"/><Relationship Id="rId5" Target="../media/image17.jpeg" Type="http://schemas.openxmlformats.org/officeDocument/2006/relationships/image"/><Relationship Id="rId4" Target="../media/image16.jpeg" Type="http://schemas.openxmlformats.org/officeDocument/2006/relationships/image"/><Relationship Id="rId9" Target="../media/image21.jpeg" Type="http://schemas.openxmlformats.org/officeDocument/2006/relationships/image"/></Relationships>
</file>

<file path=ppt/slides/_rels/slide9.xml.rels><?xml version="1.0" encoding="UTF-8" standalone="yes" ?><Relationships xmlns="http://schemas.openxmlformats.org/package/2006/relationships"><Relationship Id="rId3" Target="../media/image22.jpeg" Type="http://schemas.openxmlformats.org/officeDocument/2006/relationships/image"/><Relationship Id="rId2" Target="../notesSlides/notesSlide7.xml" Type="http://schemas.openxmlformats.org/officeDocument/2006/relationships/notesSlide"/><Relationship Id="rId1" Target="../slideLayouts/slideLayout7.xml" Type="http://schemas.openxmlformats.org/officeDocument/2006/relationships/slideLayout"/><Relationship Id="rId4" Target="../media/image23.jpeg" Type="http://schemas.openxmlformats.org/officeDocument/2006/relationships/image"/></Relationships>
</file>

<file path=ppt/slides/_rels/slide10.xml.rels><?xml version="1.0" encoding="UTF-8" standalone="yes" ?><Relationships xmlns="http://schemas.openxmlformats.org/package/2006/relationships"><Relationship Id="rId3" Target="../media/image24.jpeg" Type="http://schemas.openxmlformats.org/officeDocument/2006/relationships/image"/><Relationship Id="rId2" Target="../notesSlides/notesSlide8.xml" Type="http://schemas.openxmlformats.org/officeDocument/2006/relationships/notesSlide"/><Relationship Id="rId1" Target="../slideLayouts/slideLayout7.xml" Type="http://schemas.openxmlformats.org/officeDocument/2006/relationships/slideLayout"/><Relationship Id="rId5" Target="../media/image26.png" Type="http://schemas.openxmlformats.org/officeDocument/2006/relationships/image"/><Relationship Id="rId4" Target="../media/image25.jpeg" Type="http://schemas.openxmlformats.org/officeDocument/2006/relationships/image"/></Relationships>
</file>

<file path=ppt/slides/_rels/slide11.xml.rels><?xml version="1.0" encoding="UTF-8" standalone="yes" ?><Relationships xmlns="http://schemas.openxmlformats.org/package/2006/relationships"><Relationship Id="rId3" Target="../media/image25.jpeg" Type="http://schemas.openxmlformats.org/officeDocument/2006/relationships/image"/><Relationship Id="rId2" Target="../media/image27.jpeg" Type="http://schemas.openxmlformats.org/officeDocument/2006/relationships/image"/><Relationship Id="rId1" Target="../slideLayouts/slideLayout7.xml" Type="http://schemas.openxmlformats.org/officeDocument/2006/relationships/slideLayout"/></Relationships>
</file>

<file path=ppt/slides/_rels/slide12.xml.rels><?xml version="1.0" encoding="UTF-8" standalone="yes" ?><Relationships xmlns="http://schemas.openxmlformats.org/package/2006/relationships"><Relationship Id="rId3" Target="../media/image29.jpeg" Type="http://schemas.openxmlformats.org/officeDocument/2006/relationships/image"/><Relationship Id="rId2" Target="../media/image28.jpeg" Type="http://schemas.openxmlformats.org/officeDocument/2006/relationships/image"/><Relationship Id="rId1" Target="../slideLayouts/slideLayout7.xml" Type="http://schemas.openxmlformats.org/officeDocument/2006/relationships/slideLayout"/></Relationships>
</file>

<file path=ppt/slides/_rels/slide13.xml.rels><?xml version="1.0" encoding="UTF-8" standalone="yes" ?><Relationships xmlns="http://schemas.openxmlformats.org/package/2006/relationships"><Relationship Id="rId8" Target="../media/image35.jpeg" Type="http://schemas.openxmlformats.org/officeDocument/2006/relationships/image"/><Relationship Id="rId3" Target="../media/image30.jpeg" Type="http://schemas.openxmlformats.org/officeDocument/2006/relationships/image"/><Relationship Id="rId7" Target="../media/image34.jpeg" Type="http://schemas.openxmlformats.org/officeDocument/2006/relationships/image"/><Relationship Id="rId2" Target="../notesSlides/notesSlide9.xml" Type="http://schemas.openxmlformats.org/officeDocument/2006/relationships/notesSlide"/><Relationship Id="rId1" Target="../slideLayouts/slideLayout7.xml" Type="http://schemas.openxmlformats.org/officeDocument/2006/relationships/slideLayout"/><Relationship Id="rId6" Target="../media/image33.jpeg" Type="http://schemas.openxmlformats.org/officeDocument/2006/relationships/image"/><Relationship Id="rId5" Target="../media/image32.jpeg" Type="http://schemas.openxmlformats.org/officeDocument/2006/relationships/image"/><Relationship Id="rId4" Target="../media/image31.jpeg" Type="http://schemas.openxmlformats.org/officeDocument/2006/relationships/image"/></Relationships>
</file>

<file path=ppt/slides/_rels/slide14.xml.rels><?xml version="1.0" encoding="UTF-8" standalone="yes" ?><Relationships xmlns="http://schemas.openxmlformats.org/package/2006/relationships"><Relationship Id="rId3" Target="../media/image36.jpeg" Type="http://schemas.openxmlformats.org/officeDocument/2006/relationships/image"/><Relationship Id="rId2" Target="../notesSlides/notesSlide10.xml" Type="http://schemas.openxmlformats.org/officeDocument/2006/relationships/notesSlide"/><Relationship Id="rId1" Target="../slideLayouts/slideLayout7.xml" Type="http://schemas.openxmlformats.org/officeDocument/2006/relationships/slideLayout"/><Relationship Id="rId5" Target="../media/image35.jpeg" Type="http://schemas.openxmlformats.org/officeDocument/2006/relationships/image"/><Relationship Id="rId4" Target="../media/image37.jpeg" Type="http://schemas.openxmlformats.org/officeDocument/2006/relationships/image"/></Relationships>
</file>

<file path=ppt/slides/_rels/slide15.xml.rels><?xml version="1.0" encoding="UTF-8" standalone="yes" ?><Relationships xmlns="http://schemas.openxmlformats.org/package/2006/relationships"><Relationship Id="rId3" Target="../media/image39.jpeg" Type="http://schemas.openxmlformats.org/officeDocument/2006/relationships/image"/><Relationship Id="rId7" Target="../media/image35.jpeg" Type="http://schemas.openxmlformats.org/officeDocument/2006/relationships/image"/><Relationship Id="rId2" Target="../media/image38.jpeg" Type="http://schemas.openxmlformats.org/officeDocument/2006/relationships/image"/><Relationship Id="rId1" Target="../slideLayouts/slideLayout7.xml" Type="http://schemas.openxmlformats.org/officeDocument/2006/relationships/slideLayout"/><Relationship Id="rId6" Target="../media/image42.jpeg" Type="http://schemas.openxmlformats.org/officeDocument/2006/relationships/image"/><Relationship Id="rId5" Target="../media/image41.jpeg" Type="http://schemas.openxmlformats.org/officeDocument/2006/relationships/image"/><Relationship Id="rId4" Target="../media/image40.jpeg" Type="http://schemas.openxmlformats.org/officeDocument/2006/relationships/image"/></Relationships>
</file>

<file path=ppt/slides/_rels/slide16.xml.rels><?xml version="1.0" encoding="UTF-8" standalone="yes" ?><Relationships xmlns="http://schemas.openxmlformats.org/package/2006/relationships"><Relationship Id="rId3" Target="../media/image43.jpeg" Type="http://schemas.openxmlformats.org/officeDocument/2006/relationships/image"/><Relationship Id="rId2" Target="../notesSlides/notesSlide11.xml" Type="http://schemas.openxmlformats.org/officeDocument/2006/relationships/notesSlide"/><Relationship Id="rId1" Target="../slideLayouts/slideLayout7.xml" Type="http://schemas.openxmlformats.org/officeDocument/2006/relationships/slideLayout"/><Relationship Id="rId6" Target="../media/image35.jpeg" Type="http://schemas.openxmlformats.org/officeDocument/2006/relationships/image"/><Relationship Id="rId5" Target="../media/image45.jpeg" Type="http://schemas.openxmlformats.org/officeDocument/2006/relationships/image"/><Relationship Id="rId4" Target="../media/image44.jpeg" Type="http://schemas.openxmlformats.org/officeDocument/2006/relationships/image"/></Relationships>
</file>

<file path=ppt/slides/_rels/slide17.xml.rels><?xml version="1.0" encoding="UTF-8" standalone="yes" ?><Relationships xmlns="http://schemas.openxmlformats.org/package/2006/relationships"><Relationship Id="rId3" Target="../media/image44.jpeg" Type="http://schemas.openxmlformats.org/officeDocument/2006/relationships/image"/><Relationship Id="rId2" Target="../media/image46.jpeg" Type="http://schemas.openxmlformats.org/officeDocument/2006/relationships/image"/><Relationship Id="rId1" Target="../slideLayouts/slideLayout7.xml" Type="http://schemas.openxmlformats.org/officeDocument/2006/relationships/slideLayout"/></Relationships>
</file>

<file path=ppt/slides/_rels/slide18.xml.rels><?xml version="1.0" encoding="UTF-8" standalone="yes" ?><Relationships xmlns="http://schemas.openxmlformats.org/package/2006/relationships"><Relationship Id="rId3" Target="../media/image47.jpeg" Type="http://schemas.openxmlformats.org/officeDocument/2006/relationships/image"/><Relationship Id="rId2" Target="../notesSlides/notesSlide12.xml" Type="http://schemas.openxmlformats.org/officeDocument/2006/relationships/notesSlide"/><Relationship Id="rId1" Target="../slideLayouts/slideLayout7.xml" Type="http://schemas.openxmlformats.org/officeDocument/2006/relationships/slideLayout"/><Relationship Id="rId4" Target="../media/image44.jpeg" Type="http://schemas.openxmlformats.org/officeDocument/2006/relationships/image"/></Relationships>
</file>

<file path=ppt/slides/_rels/slide19.xml.rels><?xml version="1.0" encoding="UTF-8" standalone="yes" ?><Relationships xmlns="http://schemas.openxmlformats.org/package/2006/relationships"><Relationship Id="rId3" Target="../media/image44.jpeg" Type="http://schemas.openxmlformats.org/officeDocument/2006/relationships/image"/><Relationship Id="rId2" Target="../media/image48.jpeg" Type="http://schemas.openxmlformats.org/officeDocument/2006/relationships/image"/><Relationship Id="rId1" Target="../slideLayouts/slideLayout7.xml" Type="http://schemas.openxmlformats.org/officeDocument/2006/relationships/slideLayout"/></Relationships>
</file>

<file path=ppt/slides/_rels/slide20.xml.rels><?xml version="1.0" encoding="UTF-8" standalone="yes" ?><Relationships xmlns="http://schemas.openxmlformats.org/package/2006/relationships"><Relationship Id="rId3" Target="../media/image49.jpeg" Type="http://schemas.openxmlformats.org/officeDocument/2006/relationships/image"/><Relationship Id="rId7" Target="../media/image25.jpeg" Type="http://schemas.openxmlformats.org/officeDocument/2006/relationships/image"/><Relationship Id="rId2" Target="../notesSlides/notesSlide13.xml" Type="http://schemas.openxmlformats.org/officeDocument/2006/relationships/notesSlide"/><Relationship Id="rId1" Target="../slideLayouts/slideLayout7.xml" Type="http://schemas.openxmlformats.org/officeDocument/2006/relationships/slideLayout"/><Relationship Id="rId6" Target="../media/image52.jpeg" Type="http://schemas.openxmlformats.org/officeDocument/2006/relationships/image"/><Relationship Id="rId5" Target="../media/image51.jpeg" Type="http://schemas.openxmlformats.org/officeDocument/2006/relationships/image"/><Relationship Id="rId4" Target="../media/image50.jpeg" Type="http://schemas.openxmlformats.org/officeDocument/2006/relationships/image"/></Relationships>
</file>

<file path=ppt/slides/_rels/slide21.xml.rels><?xml version="1.0" encoding="UTF-8" standalone="yes" ?><Relationships xmlns="http://schemas.openxmlformats.org/package/2006/relationships"><Relationship Id="rId3" Target="../media/image25.jpeg" Type="http://schemas.openxmlformats.org/officeDocument/2006/relationships/image"/><Relationship Id="rId2" Target="../media/image53.jpeg" Type="http://schemas.openxmlformats.org/officeDocument/2006/relationships/image"/><Relationship Id="rId1" Target="../slideLayouts/slideLayout7.xml" Type="http://schemas.openxmlformats.org/officeDocument/2006/relationships/slideLayout"/></Relationships>
</file>

<file path=ppt/slides/_rels/slide22.xml.rels><?xml version="1.0" encoding="UTF-8" standalone="yes" ?><Relationships xmlns="http://schemas.openxmlformats.org/package/2006/relationships"><Relationship Id="rId8" Target="../media/image55.jpeg" Type="http://schemas.openxmlformats.org/officeDocument/2006/relationships/image"/><Relationship Id="rId3" Target="../charts/chart1.xml" Type="http://schemas.openxmlformats.org/officeDocument/2006/relationships/chart"/><Relationship Id="rId7" Target="../media/image54.jpeg" Type="http://schemas.openxmlformats.org/officeDocument/2006/relationships/image"/><Relationship Id="rId2" Target="../notesSlides/notesSlide14.xml" Type="http://schemas.openxmlformats.org/officeDocument/2006/relationships/notesSlide"/><Relationship Id="rId1" Target="../slideLayouts/slideLayout12.xml" Type="http://schemas.openxmlformats.org/officeDocument/2006/relationships/slideLayout"/><Relationship Id="rId6" Target="../charts/chart4.xml" Type="http://schemas.openxmlformats.org/officeDocument/2006/relationships/chart"/><Relationship Id="rId5" Target="../charts/chart3.xml" Type="http://schemas.openxmlformats.org/officeDocument/2006/relationships/chart"/><Relationship Id="rId4" Target="../charts/chart2.xml" Type="http://schemas.openxmlformats.org/officeDocument/2006/relationships/chart"/><Relationship Id="rId9" Target="../media/image56.emf" Type="http://schemas.openxmlformats.org/officeDocument/2006/relationships/image"/></Relationships>
</file>

<file path=ppt/slides/_rels/slide23.xml.rels><?xml version="1.0" encoding="UTF-8" standalone="yes" ?><Relationships xmlns="http://schemas.openxmlformats.org/package/2006/relationships"><Relationship Id="rId3" Target="../media/image57.png" Type="http://schemas.openxmlformats.org/officeDocument/2006/relationships/image"/><Relationship Id="rId2" Target="../notesSlides/notesSlide15.xml" Type="http://schemas.openxmlformats.org/officeDocument/2006/relationships/notesSlide"/><Relationship Id="rId1" Target="../slideLayouts/slideLayout12.xml" Type="http://schemas.openxmlformats.org/officeDocument/2006/relationships/slideLayout"/><Relationship Id="rId4" Target="../media/image54.jpeg" Type="http://schemas.openxmlformats.org/officeDocument/2006/relationships/image"/></Relationships>
</file>

<file path=ppt/slides/_rels/slide24.xml.rels><?xml version="1.0" encoding="UTF-8" standalone="yes" ?><Relationships xmlns="http://schemas.openxmlformats.org/package/2006/relationships"><Relationship Id="rId3" Target="../notesSlides/notesSlide16.xml" Type="http://schemas.openxmlformats.org/officeDocument/2006/relationships/notesSlide"/><Relationship Id="rId7" Target="../media/image59.jpeg" Type="http://schemas.openxmlformats.org/officeDocument/2006/relationships/image"/><Relationship Id="rId2" Target="../slideLayouts/slideLayout12.xml" Type="http://schemas.openxmlformats.org/officeDocument/2006/relationships/slideLayout"/><Relationship Id="rId1" Target="../drawings/vmlDrawing1.vml" Type="http://schemas.openxmlformats.org/officeDocument/2006/relationships/vmlDrawing"/><Relationship Id="rId6" Target="../charts/chart5.xml" Type="http://schemas.openxmlformats.org/officeDocument/2006/relationships/chart"/><Relationship Id="rId5" Target="../media/image58.emf" Type="http://schemas.openxmlformats.org/officeDocument/2006/relationships/image"/><Relationship Id="rId4" Target="../embeddings/Microsoft_Excel____1.xlsx" Type="http://schemas.openxmlformats.org/officeDocument/2006/relationships/package"/></Relationships>
</file>

<file path=ppt/slides/_rels/slide25.xml.rels><?xml version="1.0" encoding="UTF-8" standalone="yes" ?><Relationships xmlns="http://schemas.openxmlformats.org/package/2006/relationships"><Relationship Id="rId3" Target="../charts/chart6.xml" Type="http://schemas.openxmlformats.org/officeDocument/2006/relationships/chart"/><Relationship Id="rId2" Target="../notesSlides/notesSlide17.xml" Type="http://schemas.openxmlformats.org/officeDocument/2006/relationships/notesSlide"/><Relationship Id="rId1" Target="../slideLayouts/slideLayout12.xml" Type="http://schemas.openxmlformats.org/officeDocument/2006/relationships/slideLayout"/><Relationship Id="rId4" Target="../media/image54.jpeg" Type="http://schemas.openxmlformats.org/officeDocument/2006/relationships/image"/></Relationships>
</file>

<file path=ppt/slides/_rels/slide26.xml.rels><?xml version="1.0" encoding="UTF-8" standalone="yes" ?><Relationships xmlns="http://schemas.openxmlformats.org/package/2006/relationships"><Relationship Id="rId3" Target="../media/image54.jpeg" Type="http://schemas.openxmlformats.org/officeDocument/2006/relationships/image"/><Relationship Id="rId2" Target="../notesSlides/notesSlide18.xml" Type="http://schemas.openxmlformats.org/officeDocument/2006/relationships/notesSlide"/><Relationship Id="rId1" Target="../slideLayouts/slideLayout12.xml" Type="http://schemas.openxmlformats.org/officeDocument/2006/relationships/slideLayout"/><Relationship Id="rId4" Target="../charts/chart7.xml" Type="http://schemas.openxmlformats.org/officeDocument/2006/relationships/chart"/></Relationships>
</file>

<file path=ppt/slides/_rels/slide27.xml.rels><?xml version="1.0" encoding="UTF-8" standalone="yes" ?><Relationships xmlns="http://schemas.openxmlformats.org/package/2006/relationships"><Relationship Id="rId3" Target="../media/image60.png" Type="http://schemas.openxmlformats.org/officeDocument/2006/relationships/image"/><Relationship Id="rId2" Target="../notesSlides/notesSlide19.xml" Type="http://schemas.openxmlformats.org/officeDocument/2006/relationships/notesSlide"/><Relationship Id="rId1" Target="../slideLayouts/slideLayout12.xml" Type="http://schemas.openxmlformats.org/officeDocument/2006/relationships/slideLayout"/><Relationship Id="rId4" Target="../media/image54.jpeg" Type="http://schemas.openxmlformats.org/officeDocument/2006/relationships/image"/></Relationships>
</file>

<file path=ppt/slides/_rels/slide28.xml.rels><?xml version="1.0" encoding="UTF-8" standalone="yes" ?><Relationships xmlns="http://schemas.openxmlformats.org/package/2006/relationships"><Relationship Id="rId3" Target="../charts/chart8.xml" Type="http://schemas.openxmlformats.org/officeDocument/2006/relationships/chart"/><Relationship Id="rId2" Target="../notesSlides/notesSlide20.xml" Type="http://schemas.openxmlformats.org/officeDocument/2006/relationships/notesSlide"/><Relationship Id="rId1" Target="../slideLayouts/slideLayout12.xml" Type="http://schemas.openxmlformats.org/officeDocument/2006/relationships/slideLayout"/><Relationship Id="rId5" Target="../media/image54.jpeg" Type="http://schemas.openxmlformats.org/officeDocument/2006/relationships/image"/><Relationship Id="rId4" Target="../charts/chart9.xml" Type="http://schemas.openxmlformats.org/officeDocument/2006/relationships/chart"/></Relationships>
</file>

<file path=ppt/slides/_rels/slide29.xml.rels><?xml version="1.0" encoding="UTF-8" standalone="yes" ?><Relationships xmlns="http://schemas.openxmlformats.org/package/2006/relationships"><Relationship Id="rId3" Target="../media/image25.jpeg" Type="http://schemas.openxmlformats.org/officeDocument/2006/relationships/image"/><Relationship Id="rId2" Target="../media/image53.jpeg" Type="http://schemas.openxmlformats.org/officeDocument/2006/relationships/image"/><Relationship Id="rId1" Target="../slideLayouts/slideLayout7.xml" Type="http://schemas.openxmlformats.org/officeDocument/2006/relationships/slideLayout"/><Relationship Id="rId4" Target="../media/image61.jpeg" Type="http://schemas.openxmlformats.org/officeDocument/2006/relationships/image"/></Relationships>
</file>

<file path=ppt/slides/_rels/slide30.xml.rels><?xml version="1.0" encoding="UTF-8" standalone="yes" ?><Relationships xmlns="http://schemas.openxmlformats.org/package/2006/relationships"><Relationship Id="rId3" Target="../media/image63.png" Type="http://schemas.openxmlformats.org/officeDocument/2006/relationships/image"/><Relationship Id="rId2" Target="../media/image62.jpeg" Type="http://schemas.openxmlformats.org/officeDocument/2006/relationships/image"/><Relationship Id="rId1" Target="../slideLayouts/slideLayout7.xml" Type="http://schemas.openxmlformats.org/officeDocument/2006/relationships/slideLayout"/><Relationship Id="rId4" Target="../media/image64.png" Type="http://schemas.openxmlformats.org/officeDocument/2006/relationships/image"/></Relationships>
</file>

<file path=ppt/slides/_rels/slide31.xml.rels><?xml version="1.0" encoding="UTF-8" standalone="yes" ?><Relationships xmlns="http://schemas.openxmlformats.org/package/2006/relationships"><Relationship Id="rId3" Target="../charts/chart10.xml" Type="http://schemas.openxmlformats.org/officeDocument/2006/relationships/chart"/><Relationship Id="rId2" Target="../notesSlides/notesSlide21.xml" Type="http://schemas.openxmlformats.org/officeDocument/2006/relationships/notesSlide"/><Relationship Id="rId1" Target="../slideLayouts/slideLayout12.xml" Type="http://schemas.openxmlformats.org/officeDocument/2006/relationships/slideLayout"/><Relationship Id="rId5" Target="../media/image65.png" Type="http://schemas.openxmlformats.org/officeDocument/2006/relationships/image"/><Relationship Id="rId4" Target="../media/image25.jpeg" Type="http://schemas.openxmlformats.org/officeDocument/2006/relationships/image"/></Relationships>
</file>

<file path=ppt/slides/_rels/slide32.xml.rels><?xml version="1.0" encoding="UTF-8" standalone="yes" ?><Relationships xmlns="http://schemas.openxmlformats.org/package/2006/relationships"><Relationship Id="rId3" Target="../media/image66.jpeg" Type="http://schemas.openxmlformats.org/officeDocument/2006/relationships/image"/><Relationship Id="rId2" Target="../notesSlides/notesSlide22.xml" Type="http://schemas.openxmlformats.org/officeDocument/2006/relationships/notesSlide"/><Relationship Id="rId1" Target="../slideLayouts/slideLayout12.xml" Type="http://schemas.openxmlformats.org/officeDocument/2006/relationships/slideLayout"/><Relationship Id="rId4" Target="../media/image67.png" Type="http://schemas.openxmlformats.org/officeDocument/2006/relationships/image"/></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415863" y="77028"/>
            <a:ext cx="517992" cy="815536"/>
          </a:xfrm>
          <a:prstGeom prst="rect">
            <a:avLst/>
          </a:prstGeom>
        </p:spPr>
      </p:pic>
      <p:sp>
        <p:nvSpPr>
          <p:cNvPr id="7" name="矩形 6"/>
          <p:cNvSpPr/>
          <p:nvPr/>
        </p:nvSpPr>
        <p:spPr>
          <a:xfrm>
            <a:off x="933855" y="208925"/>
            <a:ext cx="8351680" cy="584775"/>
          </a:xfrm>
          <a:prstGeom prst="rect">
            <a:avLst/>
          </a:prstGeom>
          <a:solidFill>
            <a:schemeClr val="bg1">
              <a:alpha val="0"/>
            </a:schemeClr>
          </a:solidFill>
        </p:spPr>
        <p:txBody>
          <a:bodyPr wrap="square">
            <a:spAutoFit/>
          </a:bodyPr>
          <a:lstStyle/>
          <a:p>
            <a:r>
              <a:rPr lang="en-US" altLang="zh-TW" sz="3200" b="1" dirty="0" smtClean="0"/>
              <a:t>Lien </a:t>
            </a:r>
            <a:r>
              <a:rPr lang="en-US" altLang="zh-TW" sz="3200" b="1" dirty="0"/>
              <a:t>Hwa </a:t>
            </a:r>
            <a:r>
              <a:rPr lang="en-US" altLang="zh-TW" sz="3200" b="1" dirty="0" smtClean="0"/>
              <a:t>Industrial </a:t>
            </a:r>
            <a:r>
              <a:rPr lang="en-US" altLang="zh-TW" sz="3200" b="1" dirty="0"/>
              <a:t>Holdings Corporation </a:t>
            </a:r>
            <a:endParaRPr kumimoji="0" lang="en-US" altLang="zh-TW" sz="3200" b="1" dirty="0">
              <a:ln w="0"/>
              <a:effectLst>
                <a:outerShdw blurRad="38100" dist="19050" dir="2700000" algn="tl" rotWithShape="0">
                  <a:schemeClr val="dk1">
                    <a:alpha val="40000"/>
                  </a:schemeClr>
                </a:outerShdw>
              </a:effectLst>
              <a:ea typeface="微軟正黑體" panose="020B0604030504040204" pitchFamily="34" charset="-120"/>
            </a:endParaRPr>
          </a:p>
        </p:txBody>
      </p:sp>
      <p:grpSp>
        <p:nvGrpSpPr>
          <p:cNvPr id="9" name="群組 8"/>
          <p:cNvGrpSpPr/>
          <p:nvPr/>
        </p:nvGrpSpPr>
        <p:grpSpPr>
          <a:xfrm>
            <a:off x="0" y="-441316"/>
            <a:ext cx="12296926" cy="8640436"/>
            <a:chOff x="0" y="-441316"/>
            <a:chExt cx="12296926" cy="8640436"/>
          </a:xfrm>
        </p:grpSpPr>
        <p:pic>
          <p:nvPicPr>
            <p:cNvPr id="3" name="圖片 2"/>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441316"/>
              <a:ext cx="12296926" cy="8640436"/>
            </a:xfrm>
            <a:prstGeom prst="rect">
              <a:avLst/>
            </a:prstGeom>
          </p:spPr>
        </p:pic>
        <p:pic>
          <p:nvPicPr>
            <p:cNvPr id="8" name="圖片 7"/>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30163" y="6127018"/>
              <a:ext cx="2628000" cy="451104"/>
            </a:xfrm>
            <a:prstGeom prst="rect">
              <a:avLst/>
            </a:prstGeom>
          </p:spPr>
        </p:pic>
      </p:grpSp>
    </p:spTree>
    <p:extLst>
      <p:ext uri="{BB962C8B-B14F-4D97-AF65-F5344CB8AC3E}">
        <p14:creationId xmlns:p14="http://schemas.microsoft.com/office/powerpoint/2010/main" val="1367582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pic>
        <p:nvPicPr>
          <p:cNvPr id="4" name="圖片 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498" y="6226078"/>
            <a:ext cx="2628000" cy="451104"/>
          </a:xfrm>
          <a:prstGeom prst="rect">
            <a:avLst/>
          </a:prstGeom>
        </p:spPr>
      </p:pic>
    </p:spTree>
    <p:extLst>
      <p:ext uri="{BB962C8B-B14F-4D97-AF65-F5344CB8AC3E}">
        <p14:creationId xmlns:p14="http://schemas.microsoft.com/office/powerpoint/2010/main" val="23387152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pic>
        <p:nvPicPr>
          <p:cNvPr id="3" name="圖片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3498" y="6226078"/>
            <a:ext cx="2628000" cy="451104"/>
          </a:xfrm>
          <a:prstGeom prst="rect">
            <a:avLst/>
          </a:prstGeom>
        </p:spPr>
      </p:pic>
    </p:spTree>
    <p:extLst>
      <p:ext uri="{BB962C8B-B14F-4D97-AF65-F5344CB8AC3E}">
        <p14:creationId xmlns:p14="http://schemas.microsoft.com/office/powerpoint/2010/main" val="3063633310"/>
      </p:ext>
    </p:extLst>
  </p:cSld>
  <p:clrMapOvr>
    <a:masterClrMapping/>
  </p:clrMapOvr>
  <p:timing>
    <p:tnLst>
      <p:par>
        <p:cTn id="1" dur="indefinite" restart="never" nodeType="tmRoot"/>
      </p:par>
    </p:tnLst>
  </p:timing>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3" name="圖片 2"/>
          <p:cNvPicPr>
            <a:picLocks noChangeAspect="1"/>
          </p:cNvPicPr>
          <p:nvPr/>
        </p:nvPicPr>
        <p:blipFill>
          <a:blip cstate="email" r:embed="rId3">
            <a:extLst>
              <a:ext uri="{28A0092B-C50C-407E-A947-70E740481C1C}">
                <a14:useLocalDpi xmlns:a14="http://schemas.microsoft.com/office/drawing/2010/main"/>
              </a:ext>
            </a:extLst>
          </a:blip>
          <a:stretch>
            <a:fillRect/>
          </a:stretch>
        </p:blipFill>
        <p:spPr>
          <a:xfrm>
            <a:off x="0" y="0"/>
            <a:ext cx="12185522" cy="6858000"/>
          </a:xfrm>
          <a:prstGeom prst="rect">
            <a:avLst/>
          </a:prstGeom>
        </p:spPr>
      </p:pic>
      <p:sp>
        <p:nvSpPr>
          <p:cNvPr id="27" name="圓角矩形 10"/>
          <p:cNvSpPr/>
          <p:nvPr/>
        </p:nvSpPr>
        <p:spPr bwMode="auto">
          <a:xfrm>
            <a:off x="4379494" y="3916753"/>
            <a:ext cx="804915" cy="675113"/>
          </a:xfrm>
          <a:prstGeom prst="round2SameRect">
            <a:avLst/>
          </a:prstGeom>
          <a:solidFill>
            <a:srgbClr val="FEFEFE"/>
          </a:solid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b="1" dirty="0" lang="en-US" sz="1000">
                <a:solidFill>
                  <a:schemeClr val="accent4">
                    <a:lumMod val="50000"/>
                  </a:schemeClr>
                </a:solidFill>
                <a:latin charset="-120" panose="020B0604030504040204" pitchFamily="34" typeface="微軟正黑體"/>
                <a:ea charset="-120" panose="020B0604030504040204" pitchFamily="34" typeface="微軟正黑體"/>
              </a:rPr>
              <a:t>Lien Hwa Property </a:t>
            </a:r>
            <a:r>
              <a:rPr altLang="zh-TW" b="1" dirty="0" lang="en-US" sz="800">
                <a:solidFill>
                  <a:schemeClr val="accent4">
                    <a:lumMod val="50000"/>
                  </a:schemeClr>
                </a:solidFill>
                <a:latin charset="-120" panose="020B0604030504040204" pitchFamily="34" typeface="微軟正黑體"/>
                <a:ea charset="-120" panose="020B0604030504040204" pitchFamily="34" typeface="微軟正黑體"/>
              </a:rPr>
              <a:t>Development</a:t>
            </a:r>
            <a:r>
              <a:rPr altLang="zh-TW" b="1" dirty="0" lang="en-US" sz="1000">
                <a:solidFill>
                  <a:schemeClr val="accent4">
                    <a:lumMod val="50000"/>
                  </a:schemeClr>
                </a:solidFill>
                <a:latin charset="-120" panose="020B0604030504040204" pitchFamily="34" typeface="微軟正黑體"/>
                <a:ea charset="-120" panose="020B0604030504040204" pitchFamily="34" typeface="微軟正黑體"/>
              </a:rPr>
              <a:t> </a:t>
            </a:r>
            <a:r>
              <a:rPr altLang="zh-TW" b="1" dirty="0" lang="en-US" smtClean="0" sz="1000">
                <a:solidFill>
                  <a:schemeClr val="accent4">
                    <a:lumMod val="50000"/>
                  </a:schemeClr>
                </a:solidFill>
                <a:latin charset="-120" panose="020B0604030504040204" pitchFamily="34" typeface="微軟正黑體"/>
                <a:ea charset="-120" panose="020B0604030504040204" pitchFamily="34" typeface="微軟正黑體"/>
              </a:rPr>
              <a:t>Corp.</a:t>
            </a:r>
            <a:endParaRPr altLang="zh-TW" b="1" dirty="0" lang="en-US" sz="1000">
              <a:solidFill>
                <a:schemeClr val="accent4">
                  <a:lumMod val="50000"/>
                </a:schemeClr>
              </a:solidFill>
              <a:latin charset="-120" panose="020B0604030504040204" pitchFamily="34" typeface="微軟正黑體"/>
              <a:ea charset="-120" panose="020B0604030504040204" pitchFamily="34" typeface="微軟正黑體"/>
            </a:endParaRPr>
          </a:p>
        </p:txBody>
      </p:sp>
      <p:pic>
        <p:nvPicPr>
          <p:cNvPr id="4" name="圖片 3"/>
          <p:cNvPicPr>
            <a:picLocks noChangeAspect="1"/>
          </p:cNvPicPr>
          <p:nvPr/>
        </p:nvPicPr>
        <p:blipFill rotWithShape="1">
          <a:blip cstate="email" r:embed="rId4">
            <a:extLst>
              <a:ext uri="{28A0092B-C50C-407E-A947-70E740481C1C}">
                <a14:useLocalDpi xmlns:a14="http://schemas.microsoft.com/office/drawing/2010/main"/>
              </a:ext>
            </a:extLst>
          </a:blip>
          <a:srcRect b="49" l="71" t="528"/>
          <a:stretch/>
        </p:blipFill>
        <p:spPr>
          <a:xfrm>
            <a:off x="2840989" y="1044571"/>
            <a:ext cx="1884165" cy="301629"/>
          </a:xfrm>
          <a:prstGeom prst="rect">
            <a:avLst/>
          </a:prstGeom>
        </p:spPr>
      </p:pic>
      <p:sp>
        <p:nvSpPr>
          <p:cNvPr id="5" name="圓角矩形 10"/>
          <p:cNvSpPr/>
          <p:nvPr/>
        </p:nvSpPr>
        <p:spPr bwMode="auto">
          <a:xfrm>
            <a:off x="8395064" y="3809952"/>
            <a:ext cx="736410" cy="824678"/>
          </a:xfrm>
          <a:prstGeom prst="round2SameRect">
            <a:avLst/>
          </a:prstGeom>
          <a:solidFill>
            <a:srgbClr val="FEFEFE"/>
          </a:solid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dirty="0" lang="en-US" sz="1400">
                <a:solidFill>
                  <a:schemeClr val="tx1"/>
                </a:solidFill>
                <a:ea charset="-120" panose="020B0604030504040204" pitchFamily="34" typeface="微軟正黑體"/>
              </a:rPr>
              <a:t>LLH</a:t>
            </a:r>
            <a:endParaRPr altLang="en-US" dirty="0" lang="zh-TW" sz="1400">
              <a:solidFill>
                <a:schemeClr val="tx1"/>
              </a:solidFill>
              <a:ea charset="-120" panose="020B0604030504040204" pitchFamily="34" typeface="微軟正黑體"/>
            </a:endParaRPr>
          </a:p>
        </p:txBody>
      </p:sp>
      <p:grpSp>
        <p:nvGrpSpPr>
          <p:cNvPr id="9" name="群組 23"/>
          <p:cNvGrpSpPr>
            <a:grpSpLocks/>
          </p:cNvGrpSpPr>
          <p:nvPr/>
        </p:nvGrpSpPr>
        <p:grpSpPr bwMode="auto">
          <a:xfrm>
            <a:off x="10227818" y="3903595"/>
            <a:ext cx="762677" cy="731034"/>
            <a:chOff x="8672756" y="1838956"/>
            <a:chExt cx="1421361" cy="583437"/>
          </a:xfrm>
          <a:solidFill>
            <a:srgbClr val="FEFEFE"/>
          </a:solidFill>
        </p:grpSpPr>
        <p:sp>
          <p:nvSpPr>
            <p:cNvPr id="10" name="矩形 12"/>
            <p:cNvSpPr/>
            <p:nvPr/>
          </p:nvSpPr>
          <p:spPr>
            <a:xfrm>
              <a:off x="8836450" y="1838956"/>
              <a:ext cx="899072" cy="487699"/>
            </a:xfrm>
            <a:prstGeom prst="round2SameRect">
              <a:avLst/>
            </a:prstGeom>
            <a:grpFill/>
            <a:ln w="19050">
              <a:noFill/>
            </a:ln>
          </p:spPr>
          <p:style>
            <a:lnRef idx="2">
              <a:schemeClr val="lt1">
                <a:hueOff val="0"/>
                <a:satOff val="0"/>
                <a:lumOff val="0"/>
                <a:alphaOff val="0"/>
              </a:schemeClr>
            </a:lnRef>
            <a:fillRef idx="1">
              <a:scrgbClr b="0" g="0" r="0"/>
            </a:fillRef>
            <a:effectRef idx="0">
              <a:schemeClr val="accent4">
                <a:hueOff val="0"/>
                <a:satOff val="0"/>
                <a:lumOff val="0"/>
                <a:alphaOff val="0"/>
              </a:schemeClr>
            </a:effectRef>
            <a:fontRef idx="minor">
              <a:schemeClr val="lt1"/>
            </a:fontRef>
          </p:style>
        </p:sp>
        <p:sp>
          <p:nvSpPr>
            <p:cNvPr id="11" name="矩形 13"/>
            <p:cNvSpPr/>
            <p:nvPr/>
          </p:nvSpPr>
          <p:spPr>
            <a:xfrm>
              <a:off x="8672756" y="1842875"/>
              <a:ext cx="1421361" cy="579518"/>
            </a:xfrm>
            <a:prstGeom prst="round2SameRect">
              <a:avLst/>
            </a:prstGeom>
            <a:grp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dirty="0" lang="en-US" sz="1100">
                  <a:solidFill>
                    <a:schemeClr val="tx1"/>
                  </a:solidFill>
                  <a:ea charset="-120" panose="020B0604030504040204" pitchFamily="34" typeface="微軟正黑體"/>
                </a:rPr>
                <a:t>Lien Hwa  United  LPG</a:t>
              </a:r>
            </a:p>
          </p:txBody>
        </p:sp>
      </p:grpSp>
      <p:grpSp>
        <p:nvGrpSpPr>
          <p:cNvPr id="12" name="群組 23"/>
          <p:cNvGrpSpPr>
            <a:grpSpLocks/>
          </p:cNvGrpSpPr>
          <p:nvPr/>
        </p:nvGrpSpPr>
        <p:grpSpPr bwMode="auto">
          <a:xfrm>
            <a:off x="11192845" y="3903595"/>
            <a:ext cx="713406" cy="731034"/>
            <a:chOff x="8836450" y="1838956"/>
            <a:chExt cx="899072" cy="487699"/>
          </a:xfrm>
          <a:solidFill>
            <a:srgbClr val="FEFEFE"/>
          </a:solidFill>
        </p:grpSpPr>
        <p:sp>
          <p:nvSpPr>
            <p:cNvPr id="13" name="矩形 12"/>
            <p:cNvSpPr/>
            <p:nvPr/>
          </p:nvSpPr>
          <p:spPr>
            <a:xfrm>
              <a:off x="8836450" y="1838956"/>
              <a:ext cx="899072" cy="487699"/>
            </a:xfrm>
            <a:prstGeom prst="round2SameRect">
              <a:avLst/>
            </a:prstGeom>
            <a:grpFill/>
            <a:ln w="19050">
              <a:noFill/>
            </a:ln>
          </p:spPr>
          <p:style>
            <a:lnRef idx="2">
              <a:schemeClr val="lt1">
                <a:hueOff val="0"/>
                <a:satOff val="0"/>
                <a:lumOff val="0"/>
                <a:alphaOff val="0"/>
              </a:schemeClr>
            </a:lnRef>
            <a:fillRef idx="1">
              <a:scrgbClr b="0" g="0" r="0"/>
            </a:fillRef>
            <a:effectRef idx="0">
              <a:schemeClr val="accent4">
                <a:hueOff val="0"/>
                <a:satOff val="0"/>
                <a:lumOff val="0"/>
                <a:alphaOff val="0"/>
              </a:schemeClr>
            </a:effectRef>
            <a:fontRef idx="minor">
              <a:schemeClr val="lt1"/>
            </a:fontRef>
          </p:style>
        </p:sp>
        <p:sp>
          <p:nvSpPr>
            <p:cNvPr id="14" name="矩形 13"/>
            <p:cNvSpPr/>
            <p:nvPr/>
          </p:nvSpPr>
          <p:spPr>
            <a:xfrm>
              <a:off x="8836450" y="1842876"/>
              <a:ext cx="899072" cy="483779"/>
            </a:xfrm>
            <a:prstGeom prst="round2SameRect">
              <a:avLst/>
            </a:prstGeom>
            <a:grp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dirty="0" lang="en-US" sz="1100">
                  <a:solidFill>
                    <a:schemeClr val="tx1"/>
                  </a:solidFill>
                  <a:ea charset="-120" panose="020B0604030504040204" pitchFamily="34" typeface="微軟正黑體"/>
                </a:rPr>
                <a:t>TXI BA WENG INC.</a:t>
              </a:r>
            </a:p>
          </p:txBody>
        </p:sp>
      </p:grpSp>
      <p:grpSp>
        <p:nvGrpSpPr>
          <p:cNvPr id="15" name="群組 23"/>
          <p:cNvGrpSpPr>
            <a:grpSpLocks/>
          </p:cNvGrpSpPr>
          <p:nvPr/>
        </p:nvGrpSpPr>
        <p:grpSpPr bwMode="auto">
          <a:xfrm>
            <a:off x="9316705" y="3916753"/>
            <a:ext cx="779795" cy="611076"/>
            <a:chOff x="8836450" y="1838956"/>
            <a:chExt cx="899072" cy="487699"/>
          </a:xfrm>
          <a:solidFill>
            <a:srgbClr val="FEFEFE"/>
          </a:solidFill>
        </p:grpSpPr>
        <p:sp>
          <p:nvSpPr>
            <p:cNvPr id="16" name="矩形 12"/>
            <p:cNvSpPr/>
            <p:nvPr/>
          </p:nvSpPr>
          <p:spPr>
            <a:xfrm>
              <a:off x="8836450" y="1838956"/>
              <a:ext cx="899072" cy="487699"/>
            </a:xfrm>
            <a:prstGeom prst="round2SameRect">
              <a:avLst/>
            </a:prstGeom>
            <a:grpFill/>
            <a:ln w="19050">
              <a:noFill/>
            </a:ln>
          </p:spPr>
          <p:style>
            <a:lnRef idx="2">
              <a:schemeClr val="lt1">
                <a:hueOff val="0"/>
                <a:satOff val="0"/>
                <a:lumOff val="0"/>
                <a:alphaOff val="0"/>
              </a:schemeClr>
            </a:lnRef>
            <a:fillRef idx="1">
              <a:scrgbClr b="0" g="0" r="0"/>
            </a:fillRef>
            <a:effectRef idx="0">
              <a:schemeClr val="accent4">
                <a:hueOff val="0"/>
                <a:satOff val="0"/>
                <a:lumOff val="0"/>
                <a:alphaOff val="0"/>
              </a:schemeClr>
            </a:effectRef>
            <a:fontRef idx="minor">
              <a:schemeClr val="lt1"/>
            </a:fontRef>
          </p:style>
        </p:sp>
        <p:sp>
          <p:nvSpPr>
            <p:cNvPr id="17" name="矩形 13"/>
            <p:cNvSpPr/>
            <p:nvPr/>
          </p:nvSpPr>
          <p:spPr>
            <a:xfrm>
              <a:off x="8836450" y="1842876"/>
              <a:ext cx="899072" cy="483779"/>
            </a:xfrm>
            <a:prstGeom prst="round2SameRect">
              <a:avLst/>
            </a:prstGeom>
            <a:grp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dirty="0" lang="en-US" sz="1400">
                  <a:solidFill>
                    <a:schemeClr val="tx1"/>
                  </a:solidFill>
                  <a:ea charset="-120" panose="020B0604030504040204" pitchFamily="34" typeface="微軟正黑體"/>
                </a:rPr>
                <a:t>UPC</a:t>
              </a:r>
              <a:endParaRPr altLang="en-US" dirty="0" lang="zh-TW" sz="1400">
                <a:solidFill>
                  <a:schemeClr val="tx1"/>
                </a:solidFill>
                <a:ea charset="-120" panose="020B0604030504040204" pitchFamily="34" typeface="微軟正黑體"/>
              </a:endParaRPr>
            </a:p>
          </p:txBody>
        </p:sp>
      </p:grpSp>
      <p:sp>
        <p:nvSpPr>
          <p:cNvPr id="24" name="圓角矩形 10"/>
          <p:cNvSpPr/>
          <p:nvPr/>
        </p:nvSpPr>
        <p:spPr bwMode="auto">
          <a:xfrm>
            <a:off x="7286270" y="3831227"/>
            <a:ext cx="808536" cy="702816"/>
          </a:xfrm>
          <a:prstGeom prst="round2SameRect">
            <a:avLst/>
          </a:prstGeom>
          <a:solidFill>
            <a:srgbClr val="FEFEFE"/>
          </a:solid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b="1" dirty="0" lang="en-US" smtClean="0" sz="1400">
                <a:solidFill>
                  <a:srgbClr val="00B0F0"/>
                </a:solidFill>
                <a:latin charset="-120" panose="020B0604030504040204" pitchFamily="34" typeface="微軟正黑體"/>
                <a:ea charset="-120" panose="020B0604030504040204" pitchFamily="34" typeface="微軟正黑體"/>
              </a:rPr>
              <a:t>AHE</a:t>
            </a:r>
            <a:endParaRPr altLang="en-US" b="1" dirty="0" lang="zh-TW" sz="1400">
              <a:solidFill>
                <a:srgbClr val="00B0F0"/>
              </a:solidFill>
              <a:latin charset="-120" panose="020B0604030504040204" pitchFamily="34" typeface="微軟正黑體"/>
              <a:ea charset="-120" panose="020B0604030504040204" pitchFamily="34" typeface="微軟正黑體"/>
            </a:endParaRPr>
          </a:p>
        </p:txBody>
      </p:sp>
      <p:sp>
        <p:nvSpPr>
          <p:cNvPr id="25" name="圓角矩形 10"/>
          <p:cNvSpPr/>
          <p:nvPr/>
        </p:nvSpPr>
        <p:spPr bwMode="auto">
          <a:xfrm>
            <a:off x="6309125" y="3860346"/>
            <a:ext cx="806423" cy="667483"/>
          </a:xfrm>
          <a:prstGeom prst="round2SameRect">
            <a:avLst/>
          </a:prstGeom>
          <a:solidFill>
            <a:srgbClr val="FEFEFE"/>
          </a:solid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b="1" dirty="0" err="1" lang="en-US" smtClean="0" sz="1400">
                <a:solidFill>
                  <a:schemeClr val="accent5">
                    <a:lumMod val="75000"/>
                  </a:schemeClr>
                </a:solidFill>
                <a:latin charset="-120" panose="020B0604030504040204" pitchFamily="34" typeface="微軟正黑體"/>
                <a:ea charset="-120" panose="020B0604030504040204" pitchFamily="34" typeface="微軟正黑體"/>
              </a:rPr>
              <a:t>MiTC</a:t>
            </a:r>
            <a:endParaRPr altLang="zh-TW" b="1" dirty="0" lang="en-US" sz="1400">
              <a:solidFill>
                <a:schemeClr val="accent5">
                  <a:lumMod val="75000"/>
                </a:schemeClr>
              </a:solidFill>
              <a:latin charset="-120" panose="020B0604030504040204" pitchFamily="34" typeface="微軟正黑體"/>
              <a:ea charset="-120" panose="020B0604030504040204" pitchFamily="34" typeface="微軟正黑體"/>
            </a:endParaRPr>
          </a:p>
        </p:txBody>
      </p:sp>
      <p:sp>
        <p:nvSpPr>
          <p:cNvPr id="26" name="圓角矩形 10"/>
          <p:cNvSpPr/>
          <p:nvPr/>
        </p:nvSpPr>
        <p:spPr bwMode="auto">
          <a:xfrm>
            <a:off x="5334539" y="3812781"/>
            <a:ext cx="813502" cy="683444"/>
          </a:xfrm>
          <a:prstGeom prst="round2SameRect">
            <a:avLst/>
          </a:prstGeom>
          <a:solidFill>
            <a:srgbClr val="FEFEFE"/>
          </a:solid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b="1" dirty="0" lang="en-US" smtClean="0" sz="1400">
                <a:solidFill>
                  <a:schemeClr val="accent5"/>
                </a:solidFill>
                <a:latin charset="-120" panose="020B0604030504040204" pitchFamily="34" typeface="微軟正黑體"/>
                <a:ea charset="-120" panose="020B0604030504040204" pitchFamily="34" typeface="微軟正黑體"/>
              </a:rPr>
              <a:t>MI</a:t>
            </a:r>
            <a:endParaRPr altLang="en-US" b="1" dirty="0" lang="zh-TW" sz="1400">
              <a:solidFill>
                <a:schemeClr val="accent5"/>
              </a:solidFill>
              <a:latin charset="-120" panose="020B0604030504040204" pitchFamily="34" typeface="微軟正黑體"/>
              <a:ea charset="-120" panose="020B0604030504040204" pitchFamily="34" typeface="微軟正黑體"/>
            </a:endParaRPr>
          </a:p>
        </p:txBody>
      </p:sp>
      <p:sp>
        <p:nvSpPr>
          <p:cNvPr id="29" name="圓角矩形 10"/>
          <p:cNvSpPr/>
          <p:nvPr/>
        </p:nvSpPr>
        <p:spPr bwMode="auto">
          <a:xfrm>
            <a:off x="3420829" y="3871576"/>
            <a:ext cx="756315" cy="675113"/>
          </a:xfrm>
          <a:prstGeom prst="round2SameRect">
            <a:avLst/>
          </a:prstGeom>
          <a:solidFill>
            <a:srgbClr val="FEFEFE"/>
          </a:solid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defTabSz="711200">
              <a:lnSpc>
                <a:spcPct val="90000"/>
              </a:lnSpc>
              <a:spcAft>
                <a:spcPct val="35000"/>
              </a:spcAft>
              <a:defRPr/>
            </a:pPr>
            <a:r>
              <a:rPr altLang="zh-TW" b="1" dirty="0" lang="en-US" sz="1100">
                <a:solidFill>
                  <a:srgbClr val="C00000"/>
                </a:solidFill>
                <a:latin charset="-120" panose="020B0604030504040204" pitchFamily="34" typeface="微軟正黑體"/>
                <a:ea charset="-120" panose="020B0604030504040204" pitchFamily="34" typeface="微軟正黑體"/>
              </a:rPr>
              <a:t>Lien Hwa Milling </a:t>
            </a:r>
            <a:r>
              <a:rPr altLang="zh-TW" b="1" dirty="0" lang="en-US" smtClean="0" sz="1100">
                <a:solidFill>
                  <a:srgbClr val="C00000"/>
                </a:solidFill>
                <a:latin charset="-120" panose="020B0604030504040204" pitchFamily="34" typeface="微軟正黑體"/>
                <a:ea charset="-120" panose="020B0604030504040204" pitchFamily="34" typeface="微軟正黑體"/>
              </a:rPr>
              <a:t>Corp</a:t>
            </a:r>
            <a:r>
              <a:rPr altLang="zh-TW" b="1" dirty="0" lang="en-US" smtClean="0" sz="1100">
                <a:solidFill>
                  <a:schemeClr val="accent4">
                    <a:lumMod val="50000"/>
                  </a:schemeClr>
                </a:solidFill>
                <a:latin charset="-120" panose="020B0604030504040204" pitchFamily="34" typeface="微軟正黑體"/>
                <a:ea charset="-120" panose="020B0604030504040204" pitchFamily="34" typeface="微軟正黑體"/>
              </a:rPr>
              <a:t>.</a:t>
            </a:r>
            <a:endParaRPr altLang="zh-TW" b="1" dirty="0" lang="en-US" sz="1100">
              <a:solidFill>
                <a:schemeClr val="accent4">
                  <a:lumMod val="50000"/>
                </a:schemeClr>
              </a:solidFill>
              <a:latin charset="-120" panose="020B0604030504040204" pitchFamily="34" typeface="微軟正黑體"/>
              <a:ea charset="-120" panose="020B0604030504040204" pitchFamily="34" typeface="微軟正黑體"/>
            </a:endParaRPr>
          </a:p>
        </p:txBody>
      </p:sp>
      <p:sp>
        <p:nvSpPr>
          <p:cNvPr id="31" name="圓角矩形 10"/>
          <p:cNvSpPr/>
          <p:nvPr/>
        </p:nvSpPr>
        <p:spPr bwMode="auto">
          <a:xfrm>
            <a:off x="1373619" y="3845114"/>
            <a:ext cx="804915" cy="675113"/>
          </a:xfrm>
          <a:prstGeom prst="round2SameRect">
            <a:avLst/>
          </a:prstGeom>
          <a:solidFill>
            <a:srgbClr val="FEFEFE"/>
          </a:solid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pPr algn="ctr"/>
            <a:r>
              <a:rPr altLang="zh-TW" b="1" dirty="0" lang="en-US" sz="1200">
                <a:solidFill>
                  <a:srgbClr val="002060"/>
                </a:solidFill>
              </a:rPr>
              <a:t>Feng Yao Energy Co., Ltd.</a:t>
            </a:r>
          </a:p>
        </p:txBody>
      </p:sp>
      <p:sp>
        <p:nvSpPr>
          <p:cNvPr id="32" name="圓角矩形 10"/>
          <p:cNvSpPr/>
          <p:nvPr/>
        </p:nvSpPr>
        <p:spPr bwMode="auto">
          <a:xfrm>
            <a:off x="2348205" y="3845078"/>
            <a:ext cx="804915" cy="675113"/>
          </a:xfrm>
          <a:prstGeom prst="round2SameRect">
            <a:avLst/>
          </a:prstGeom>
          <a:solidFill>
            <a:srgbClr val="FEFEFE"/>
          </a:solidFill>
          <a:ln w="19050">
            <a:noFill/>
          </a:ln>
        </p:spPr>
        <p:style>
          <a:lnRef idx="0">
            <a:scrgbClr b="0" g="0" r="0"/>
          </a:lnRef>
          <a:fillRef idx="0">
            <a:scrgbClr b="0" g="0" r="0"/>
          </a:fillRef>
          <a:effectRef idx="0">
            <a:scrgbClr b="0" g="0" r="0"/>
          </a:effectRef>
          <a:fontRef idx="minor">
            <a:schemeClr val="lt1"/>
          </a:fontRef>
        </p:style>
        <p:txBody>
          <a:bodyPr anchor="ctr" bIns="65687" lIns="10160" rIns="10160" spcCol="1270" tIns="10160" vert="horz"/>
          <a:lstStyle/>
          <a:p>
            <a:r>
              <a:rPr altLang="zh-TW" b="1" dirty="0" lang="en-US" sz="1200">
                <a:solidFill>
                  <a:srgbClr val="002060"/>
                </a:solidFill>
              </a:rPr>
              <a:t>Hua Cheng Investment</a:t>
            </a:r>
          </a:p>
        </p:txBody>
      </p:sp>
      <p:pic>
        <p:nvPicPr>
          <p:cNvPr id="33" name="圖片 32"/>
          <p:cNvPicPr>
            <a:picLocks noChangeAspect="1"/>
          </p:cNvPicPr>
          <p:nvPr/>
        </p:nvPicPr>
        <p:blipFill>
          <a:blip cstate="email" r:embed="rId5">
            <a:extLst>
              <a:ext uri="{28A0092B-C50C-407E-A947-70E740481C1C}">
                <a14:useLocalDpi xmlns:a14="http://schemas.microsoft.com/office/drawing/2010/main"/>
              </a:ext>
            </a:extLst>
          </a:blip>
          <a:stretch>
            <a:fillRect/>
          </a:stretch>
        </p:blipFill>
        <p:spPr>
          <a:xfrm>
            <a:off x="9272094" y="5518401"/>
            <a:ext cx="1911448" cy="215911"/>
          </a:xfrm>
          <a:prstGeom prst="rect">
            <a:avLst/>
          </a:prstGeom>
        </p:spPr>
      </p:pic>
      <p:sp>
        <p:nvSpPr>
          <p:cNvPr id="36" name="矩形 35"/>
          <p:cNvSpPr/>
          <p:nvPr/>
        </p:nvSpPr>
        <p:spPr bwMode="auto">
          <a:xfrm>
            <a:off x="4911195" y="983113"/>
            <a:ext cx="2375075" cy="424543"/>
          </a:xfrm>
          <a:prstGeom prst="rect">
            <a:avLst/>
          </a:prstGeom>
          <a:solidFill>
            <a:srgbClr val="002060"/>
          </a:solidFill>
        </p:spPr>
        <p:style>
          <a:lnRef idx="0">
            <a:schemeClr val="dk1"/>
          </a:lnRef>
          <a:fillRef idx="3">
            <a:schemeClr val="dk1"/>
          </a:fillRef>
          <a:effectRef idx="3">
            <a:schemeClr val="dk1"/>
          </a:effectRef>
          <a:fontRef idx="minor">
            <a:schemeClr val="lt1"/>
          </a:fontRef>
        </p:style>
        <p:txBody>
          <a:bodyPr anchor="ctr" bIns="65687" lIns="17780" rIns="17780" spcCol="1270" tIns="17780"/>
          <a:lstStyle/>
          <a:p>
            <a:pPr algn="ctr" defTabSz="1244600">
              <a:spcAft>
                <a:spcPct val="35000"/>
              </a:spcAft>
              <a:defRPr/>
            </a:pPr>
            <a:r>
              <a:rPr altLang="zh-TW" b="1" dirty="0" lang="en-US" smtClean="0">
                <a:solidFill>
                  <a:schemeClr val="bg1"/>
                </a:solidFill>
                <a:latin charset="-120" panose="020B0604030504040204" pitchFamily="34" typeface="微軟正黑體"/>
                <a:ea charset="-120" panose="020B0604030504040204" pitchFamily="34" typeface="微軟正黑體"/>
              </a:rPr>
              <a:t>LHIHC</a:t>
            </a:r>
            <a:endParaRPr altLang="en-US" b="1" dirty="0" lang="zh-TW">
              <a:solidFill>
                <a:schemeClr val="bg1"/>
              </a:solidFill>
              <a:latin charset="-120" panose="020B0604030504040204" pitchFamily="34" typeface="微軟正黑體"/>
              <a:ea charset="-120" panose="020B0604030504040204" pitchFamily="34" typeface="微軟正黑體"/>
            </a:endParaRPr>
          </a:p>
        </p:txBody>
      </p:sp>
      <p:sp>
        <p:nvSpPr>
          <p:cNvPr id="8" name="圓角化同側角落矩形 7"/>
          <p:cNvSpPr/>
          <p:nvPr/>
        </p:nvSpPr>
        <p:spPr>
          <a:xfrm>
            <a:off x="9272094" y="4758266"/>
            <a:ext cx="824405" cy="296333"/>
          </a:xfrm>
          <a:prstGeom prst="round2Same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altLang="zh-TW" b="1" dirty="0" lang="en-US" smtClean="0" sz="1300">
                <a:solidFill>
                  <a:srgbClr val="002060"/>
                </a:solidFill>
                <a:latin charset="-120" panose="020B0200000000000000" pitchFamily="34" typeface="Noto Sans HK"/>
                <a:ea charset="-120" panose="020B0200000000000000" pitchFamily="34" typeface="Noto Sans HK"/>
              </a:rPr>
              <a:t>32.30%</a:t>
            </a:r>
            <a:endParaRPr altLang="en-US" b="1" dirty="0" lang="zh-TW" sz="1300">
              <a:solidFill>
                <a:srgbClr val="002060"/>
              </a:solidFill>
              <a:latin charset="-120" panose="020B0200000000000000" pitchFamily="34" typeface="Noto Sans HK"/>
              <a:ea charset="-120" panose="020B0200000000000000" pitchFamily="34" typeface="Noto Sans HK"/>
            </a:endParaRPr>
          </a:p>
        </p:txBody>
      </p:sp>
    </p:spTree>
    <p:extLst>
      <p:ext uri="{BB962C8B-B14F-4D97-AF65-F5344CB8AC3E}">
        <p14:creationId xmlns:p14="http://schemas.microsoft.com/office/powerpoint/2010/main" val="177444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12185522" cy="6858000"/>
          </a:xfrm>
          <a:prstGeom prst="rect">
            <a:avLst/>
          </a:prstGeom>
          <a:noFill/>
          <a:ln>
            <a:noFill/>
          </a:ln>
        </p:spPr>
      </p:pic>
      <p:pic>
        <p:nvPicPr>
          <p:cNvPr id="3" name="圖片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1398" y="6289578"/>
            <a:ext cx="2628000" cy="451104"/>
          </a:xfrm>
          <a:prstGeom prst="rect">
            <a:avLst/>
          </a:prstGeom>
        </p:spPr>
      </p:pic>
      <p:pic>
        <p:nvPicPr>
          <p:cNvPr id="4" name="圖片 3"/>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4626334" y="1751385"/>
            <a:ext cx="823553" cy="312513"/>
          </a:xfrm>
          <a:prstGeom prst="rect">
            <a:avLst/>
          </a:prstGeom>
        </p:spPr>
      </p:pic>
      <p:sp>
        <p:nvSpPr>
          <p:cNvPr id="5" name="文字方塊 4"/>
          <p:cNvSpPr txBox="1"/>
          <p:nvPr/>
        </p:nvSpPr>
        <p:spPr>
          <a:xfrm>
            <a:off x="5424488" y="1833563"/>
            <a:ext cx="782637" cy="215444"/>
          </a:xfrm>
          <a:prstGeom prst="rect">
            <a:avLst/>
          </a:prstGeom>
          <a:solidFill>
            <a:schemeClr val="bg1"/>
          </a:solidFill>
        </p:spPr>
        <p:txBody>
          <a:bodyPr wrap="square" rtlCol="0">
            <a:spAutoFit/>
          </a:bodyPr>
          <a:lstStyle/>
          <a:p>
            <a:endParaRPr lang="zh-TW" altLang="en-US" sz="800" dirty="0"/>
          </a:p>
        </p:txBody>
      </p:sp>
      <p:sp>
        <p:nvSpPr>
          <p:cNvPr id="9" name="文字方塊 348"/>
          <p:cNvSpPr txBox="1">
            <a:spLocks noChangeArrowheads="1"/>
          </p:cNvSpPr>
          <p:nvPr/>
        </p:nvSpPr>
        <p:spPr bwMode="auto">
          <a:xfrm>
            <a:off x="8064499" y="3225800"/>
            <a:ext cx="1816101" cy="369332"/>
          </a:xfrm>
          <a:prstGeom prst="rect">
            <a:avLst/>
          </a:prstGeom>
          <a:solidFill>
            <a:schemeClr val="bg1"/>
          </a:solidFill>
          <a:ln>
            <a:noFill/>
          </a:ln>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kumimoji="0" lang="en-US" altLang="zh-TW" sz="1800" b="1" dirty="0">
                <a:solidFill>
                  <a:srgbClr val="002060"/>
                </a:solidFill>
                <a:ea typeface="Calibri" panose="020F0502020204030204" pitchFamily="34" charset="0"/>
                <a:cs typeface="Calibri" panose="020F0502020204030204" pitchFamily="34" charset="0"/>
              </a:rPr>
              <a:t>Rental Business</a:t>
            </a:r>
            <a:endParaRPr kumimoji="0" lang="zh-TW" altLang="en-US" sz="1800" b="1" dirty="0">
              <a:solidFill>
                <a:srgbClr val="002060"/>
              </a:solidFill>
              <a:ea typeface="微軟正黑體" panose="020B0604030504040204" pitchFamily="34" charset="-120"/>
              <a:cs typeface="Calibri" panose="020F0502020204030204" pitchFamily="34" charset="0"/>
            </a:endParaRPr>
          </a:p>
        </p:txBody>
      </p:sp>
      <p:sp>
        <p:nvSpPr>
          <p:cNvPr id="12" name="文字方塊 11"/>
          <p:cNvSpPr txBox="1"/>
          <p:nvPr/>
        </p:nvSpPr>
        <p:spPr>
          <a:xfrm>
            <a:off x="4102100" y="2046964"/>
            <a:ext cx="1657350" cy="646331"/>
          </a:xfrm>
          <a:prstGeom prst="rect">
            <a:avLst/>
          </a:prstGeom>
          <a:solidFill>
            <a:schemeClr val="bg1"/>
          </a:solidFill>
        </p:spPr>
        <p:txBody>
          <a:bodyPr wrap="square" rtlCol="0">
            <a:spAutoFit/>
          </a:bodyPr>
          <a:lstStyle/>
          <a:p>
            <a:r>
              <a:rPr lang="en-US" altLang="zh-TW" sz="1200" dirty="0" smtClean="0">
                <a:solidFill>
                  <a:schemeClr val="bg2">
                    <a:lumMod val="10000"/>
                  </a:schemeClr>
                </a:solidFill>
              </a:rPr>
              <a:t>Focused on flour </a:t>
            </a:r>
            <a:r>
              <a:rPr lang="en-US" altLang="zh-TW" sz="1200" dirty="0">
                <a:solidFill>
                  <a:schemeClr val="bg2">
                    <a:lumMod val="10000"/>
                  </a:schemeClr>
                </a:solidFill>
              </a:rPr>
              <a:t>m</a:t>
            </a:r>
            <a:r>
              <a:rPr lang="en-US" altLang="zh-TW" sz="1200" dirty="0" smtClean="0">
                <a:solidFill>
                  <a:schemeClr val="bg2">
                    <a:lumMod val="10000"/>
                  </a:schemeClr>
                </a:solidFill>
              </a:rPr>
              <a:t>anufacturing and sales</a:t>
            </a:r>
            <a:endParaRPr lang="zh-TW" altLang="en-US" sz="1200" dirty="0">
              <a:solidFill>
                <a:schemeClr val="bg2">
                  <a:lumMod val="10000"/>
                </a:schemeClr>
              </a:solidFill>
            </a:endParaRPr>
          </a:p>
        </p:txBody>
      </p:sp>
      <p:sp>
        <p:nvSpPr>
          <p:cNvPr id="16" name="文字方塊 15"/>
          <p:cNvSpPr txBox="1"/>
          <p:nvPr/>
        </p:nvSpPr>
        <p:spPr>
          <a:xfrm>
            <a:off x="420834" y="167077"/>
            <a:ext cx="9980465" cy="584775"/>
          </a:xfrm>
          <a:prstGeom prst="rect">
            <a:avLst/>
          </a:prstGeom>
          <a:solidFill>
            <a:srgbClr val="FDFEFD"/>
          </a:solidFill>
        </p:spPr>
        <p:txBody>
          <a:bodyPr wrap="square" rtlCol="0">
            <a:spAutoFit/>
          </a:bodyPr>
          <a:lstStyle/>
          <a:p>
            <a:r>
              <a:rPr lang="en-US" altLang="zh-TW" sz="3200" b="1" dirty="0" smtClean="0"/>
              <a:t>LHIHC </a:t>
            </a:r>
            <a:r>
              <a:rPr lang="en-US" altLang="zh-TW" sz="3200" b="1" dirty="0" smtClean="0">
                <a:ea typeface="微軟正黑體" panose="020B0604030504040204" pitchFamily="34" charset="-120"/>
              </a:rPr>
              <a:t>Business Group</a:t>
            </a:r>
            <a:endParaRPr lang="en-US" altLang="zh-TW" sz="3200" b="1" dirty="0">
              <a:ea typeface="微軟正黑體" panose="020B0604030504040204" pitchFamily="34" charset="-120"/>
            </a:endParaRPr>
          </a:p>
        </p:txBody>
      </p:sp>
    </p:spTree>
    <p:extLst>
      <p:ext uri="{BB962C8B-B14F-4D97-AF65-F5344CB8AC3E}">
        <p14:creationId xmlns:p14="http://schemas.microsoft.com/office/powerpoint/2010/main" val="2674747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30"/>
            <a:ext cx="12204000" cy="6868412"/>
          </a:xfrm>
          <a:prstGeom prst="rect">
            <a:avLst/>
          </a:prstGeom>
        </p:spPr>
      </p:pic>
      <p:sp>
        <p:nvSpPr>
          <p:cNvPr id="3" name="Rectangle 2"/>
          <p:cNvSpPr/>
          <p:nvPr/>
        </p:nvSpPr>
        <p:spPr>
          <a:xfrm>
            <a:off x="695117" y="256032"/>
            <a:ext cx="3868879" cy="7589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3600" b="1">
                <a:solidFill>
                  <a:srgbClr val="092B5D"/>
                </a:solidFill>
                <a:latin typeface="Arial"/>
              </a:rPr>
              <a:t>Flour Business</a:t>
            </a:r>
          </a:p>
        </p:txBody>
      </p:sp>
      <p:sp>
        <p:nvSpPr>
          <p:cNvPr id="4" name="Rectangle 3"/>
          <p:cNvSpPr/>
          <p:nvPr/>
        </p:nvSpPr>
        <p:spPr>
          <a:xfrm>
            <a:off x="6173743" y="475488"/>
            <a:ext cx="3695099"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800" b="1">
                <a:solidFill>
                  <a:srgbClr val="092B5D"/>
                </a:solidFill>
                <a:latin typeface="Arial"/>
              </a:rPr>
              <a:t>Flour Sales and Market Share</a:t>
            </a:r>
          </a:p>
        </p:txBody>
      </p:sp>
      <p:sp>
        <p:nvSpPr>
          <p:cNvPr id="5" name="Rectangle 4"/>
          <p:cNvSpPr/>
          <p:nvPr/>
        </p:nvSpPr>
        <p:spPr>
          <a:xfrm>
            <a:off x="1253041" y="1444752"/>
            <a:ext cx="161889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350" b="0">
                <a:solidFill>
                  <a:srgbClr val="092B5D"/>
                </a:solidFill>
                <a:latin typeface="Arial"/>
              </a:rPr>
              <a:t>Sales (10,000 bags)</a:t>
            </a:r>
          </a:p>
        </p:txBody>
      </p:sp>
      <p:sp>
        <p:nvSpPr>
          <p:cNvPr id="6" name="Rectangle 5"/>
          <p:cNvSpPr/>
          <p:nvPr/>
        </p:nvSpPr>
        <p:spPr>
          <a:xfrm>
            <a:off x="3402418" y="1444752"/>
            <a:ext cx="1618892" cy="35661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400" b="0">
                <a:solidFill>
                  <a:srgbClr val="092B5D"/>
                </a:solidFill>
                <a:latin typeface="Arial"/>
              </a:rPr>
              <a:t>Market Share (%)</a:t>
            </a:r>
          </a:p>
        </p:txBody>
      </p:sp>
      <p:pic>
        <p:nvPicPr>
          <p:cNvPr id="8" name="圖片 7"/>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06112" y="6202073"/>
            <a:ext cx="2628000" cy="451104"/>
          </a:xfrm>
          <a:prstGeom prst="rect">
            <a:avLst/>
          </a:prstGeom>
        </p:spPr>
      </p:pic>
    </p:spTree>
    <p:extLst>
      <p:ext uri="{BB962C8B-B14F-4D97-AF65-F5344CB8AC3E}">
        <p14:creationId xmlns:p14="http://schemas.microsoft.com/office/powerpoint/2010/main" val="2626707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 y="-85864"/>
            <a:ext cx="12191999" cy="6224308"/>
          </a:xfrm>
          <a:prstGeom prst="rect">
            <a:avLst/>
          </a:prstGeom>
        </p:spPr>
      </p:pic>
      <p:grpSp>
        <p:nvGrpSpPr>
          <p:cNvPr id="16" name="群組 15"/>
          <p:cNvGrpSpPr/>
          <p:nvPr/>
        </p:nvGrpSpPr>
        <p:grpSpPr>
          <a:xfrm>
            <a:off x="1" y="6150112"/>
            <a:ext cx="9449700" cy="587376"/>
            <a:chOff x="447748" y="6165574"/>
            <a:chExt cx="11277600" cy="361950"/>
          </a:xfrm>
        </p:grpSpPr>
        <p:sp>
          <p:nvSpPr>
            <p:cNvPr id="17" name="Rounded Rectangle 1"/>
            <p:cNvSpPr/>
            <p:nvPr/>
          </p:nvSpPr>
          <p:spPr>
            <a:xfrm>
              <a:off x="447748" y="6165574"/>
              <a:ext cx="11277600" cy="361950"/>
            </a:xfrm>
            <a:prstGeom prst="roundRect">
              <a:avLst>
                <a:gd name="adj" fmla="val 21052"/>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37"/>
            <p:cNvSpPr txBox="1"/>
            <p:nvPr/>
          </p:nvSpPr>
          <p:spPr>
            <a:xfrm>
              <a:off x="941933" y="6190036"/>
              <a:ext cx="10697616" cy="284485"/>
            </a:xfrm>
            <a:prstGeom prst="rect">
              <a:avLst/>
            </a:prstGeom>
            <a:noFill/>
          </p:spPr>
          <p:txBody>
            <a:bodyPr wrap="square" lIns="0" tIns="0" rIns="0" bIns="0" anchor="ctr">
              <a:spAutoFit/>
            </a:bodyPr>
            <a:lstStyle/>
            <a:p>
              <a:r>
                <a:rPr lang="en-US" sz="1600" b="1" dirty="0">
                  <a:solidFill>
                    <a:srgbClr val="F8FAFC"/>
                  </a:solidFill>
                  <a:latin typeface="Noto Sans TC"/>
                </a:rPr>
                <a:t>Conclusion &amp; </a:t>
              </a:r>
              <a:r>
                <a:rPr lang="en-US" sz="1600" b="1" dirty="0" smtClean="0">
                  <a:solidFill>
                    <a:srgbClr val="F8FAFC"/>
                  </a:solidFill>
                  <a:latin typeface="Noto Sans TC"/>
                </a:rPr>
                <a:t>Opportunities</a:t>
              </a:r>
              <a:r>
                <a:rPr lang="zh-TW" altLang="en-US" sz="1400" b="1" dirty="0" smtClean="0">
                  <a:solidFill>
                    <a:srgbClr val="F8FAFC"/>
                  </a:solidFill>
                  <a:latin typeface="Noto Sans TC"/>
                </a:rPr>
                <a:t>：</a:t>
              </a:r>
              <a:r>
                <a:rPr lang="en-US" sz="1400" dirty="0" smtClean="0">
                  <a:solidFill>
                    <a:srgbClr val="F8FAFC"/>
                  </a:solidFill>
                  <a:latin typeface="Noto Sans TC"/>
                </a:rPr>
                <a:t>In </a:t>
              </a:r>
              <a:r>
                <a:rPr lang="en-US" sz="1400" dirty="0">
                  <a:solidFill>
                    <a:srgbClr val="F8FAFC"/>
                  </a:solidFill>
                  <a:latin typeface="Noto Sans TC"/>
                </a:rPr>
                <a:t>response to the dietary revolution, LH Flour leverages "High Protein, High Fiber, and HAW High-Amylose Wheat Starch" to build high-functional competitive differentiation</a:t>
              </a:r>
              <a:r>
                <a:rPr lang="en-US" sz="1200" dirty="0">
                  <a:solidFill>
                    <a:srgbClr val="F8FAFC"/>
                  </a:solidFill>
                  <a:latin typeface="Noto Sans TC"/>
                </a:rPr>
                <a:t>.</a:t>
              </a:r>
              <a:endParaRPr b="0" i="0" u="none" dirty="0">
                <a:solidFill>
                  <a:srgbClr val="F8FAFC"/>
                </a:solidFill>
                <a:latin typeface="Noto Sans TC"/>
              </a:endParaRPr>
            </a:p>
          </p:txBody>
        </p:sp>
      </p:grpSp>
      <p:pic>
        <p:nvPicPr>
          <p:cNvPr id="19" name="圖片 18"/>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564000" y="6356488"/>
            <a:ext cx="2628000" cy="381000"/>
          </a:xfrm>
          <a:prstGeom prst="rect">
            <a:avLst/>
          </a:prstGeom>
        </p:spPr>
      </p:pic>
    </p:spTree>
    <p:extLst>
      <p:ext uri="{BB962C8B-B14F-4D97-AF65-F5344CB8AC3E}">
        <p14:creationId xmlns:p14="http://schemas.microsoft.com/office/powerpoint/2010/main" val="3608211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30"/>
            <a:ext cx="12204000" cy="6868412"/>
          </a:xfrm>
          <a:prstGeom prst="rect">
            <a:avLst/>
          </a:prstGeom>
        </p:spPr>
      </p:pic>
      <p:sp>
        <p:nvSpPr>
          <p:cNvPr id="3" name="矩形 2"/>
          <p:cNvSpPr/>
          <p:nvPr/>
        </p:nvSpPr>
        <p:spPr>
          <a:xfrm>
            <a:off x="1612900" y="2789767"/>
            <a:ext cx="402167" cy="279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p:cNvSpPr/>
          <p:nvPr/>
        </p:nvSpPr>
        <p:spPr>
          <a:xfrm>
            <a:off x="2341034" y="2675467"/>
            <a:ext cx="402167" cy="279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p:cNvSpPr/>
          <p:nvPr/>
        </p:nvSpPr>
        <p:spPr>
          <a:xfrm>
            <a:off x="3111500" y="2561167"/>
            <a:ext cx="402167" cy="279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3894666" y="2459566"/>
            <a:ext cx="402167" cy="279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4711701" y="2353733"/>
            <a:ext cx="402167" cy="279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p:cNvSpPr/>
          <p:nvPr/>
        </p:nvSpPr>
        <p:spPr>
          <a:xfrm>
            <a:off x="5473700" y="2239433"/>
            <a:ext cx="436033" cy="258234"/>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p:cNvSpPr/>
          <p:nvPr/>
        </p:nvSpPr>
        <p:spPr>
          <a:xfrm>
            <a:off x="6184900" y="2142066"/>
            <a:ext cx="612000" cy="279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TW" sz="1600" b="1" dirty="0" smtClean="0">
                <a:solidFill>
                  <a:srgbClr val="00245C"/>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3.87</a:t>
            </a:r>
            <a:endParaRPr lang="zh-TW" altLang="en-US" sz="1600" b="1" dirty="0">
              <a:solidFill>
                <a:srgbClr val="00245C"/>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10" name="矩形 9"/>
          <p:cNvSpPr/>
          <p:nvPr/>
        </p:nvSpPr>
        <p:spPr>
          <a:xfrm>
            <a:off x="757766" y="2912532"/>
            <a:ext cx="612000" cy="279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TW" sz="1600" b="1" dirty="0" smtClean="0">
                <a:solidFill>
                  <a:srgbClr val="00245C"/>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2.59</a:t>
            </a:r>
            <a:endParaRPr lang="zh-TW" altLang="en-US" sz="1600" b="1" dirty="0">
              <a:solidFill>
                <a:srgbClr val="00245C"/>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11" name="矩形 10"/>
          <p:cNvSpPr/>
          <p:nvPr/>
        </p:nvSpPr>
        <p:spPr>
          <a:xfrm>
            <a:off x="6955365" y="2954865"/>
            <a:ext cx="612000" cy="279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en-US" altLang="zh-TW" sz="1600" b="1" dirty="0" smtClean="0">
                <a:solidFill>
                  <a:srgbClr val="00245C"/>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2.36</a:t>
            </a:r>
            <a:endParaRPr lang="zh-TW" altLang="en-US" sz="1600" b="1" dirty="0">
              <a:solidFill>
                <a:srgbClr val="00245C"/>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endParaRPr>
          </a:p>
        </p:txBody>
      </p:sp>
      <p:sp>
        <p:nvSpPr>
          <p:cNvPr id="13" name="矩形 12"/>
          <p:cNvSpPr/>
          <p:nvPr/>
        </p:nvSpPr>
        <p:spPr>
          <a:xfrm>
            <a:off x="296333" y="4495800"/>
            <a:ext cx="7518400" cy="1388533"/>
          </a:xfrm>
          <a:prstGeom prst="rect">
            <a:avLst/>
          </a:prstGeom>
          <a:solidFill>
            <a:srgbClr val="FEFE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364069" y="4411133"/>
            <a:ext cx="7239000" cy="1591734"/>
          </a:xfrm>
          <a:prstGeom prst="rect">
            <a:avLst/>
          </a:prstGeom>
        </p:spPr>
      </p:pic>
      <p:pic>
        <p:nvPicPr>
          <p:cNvPr id="14" name="圖片 13"/>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82134" y="1557867"/>
            <a:ext cx="2709334" cy="474134"/>
          </a:xfrm>
          <a:prstGeom prst="rect">
            <a:avLst/>
          </a:prstGeom>
        </p:spPr>
      </p:pic>
      <p:sp>
        <p:nvSpPr>
          <p:cNvPr id="16" name="矩形 15"/>
          <p:cNvSpPr/>
          <p:nvPr/>
        </p:nvSpPr>
        <p:spPr>
          <a:xfrm>
            <a:off x="364069" y="847806"/>
            <a:ext cx="8475130" cy="523220"/>
          </a:xfrm>
          <a:prstGeom prst="rect">
            <a:avLst/>
          </a:prstGeom>
          <a:solidFill>
            <a:srgbClr val="F8F8F8"/>
          </a:solidFill>
        </p:spPr>
        <p:txBody>
          <a:bodyPr wrap="square">
            <a:spAutoFit/>
          </a:bodyPr>
          <a:lstStyle/>
          <a:p>
            <a:r>
              <a:rPr lang="en-US" altLang="zh-TW" sz="1400" dirty="0">
                <a:solidFill>
                  <a:srgbClr val="002060"/>
                </a:solidFill>
                <a:ea typeface="Calibri Light" panose="020F0302020204030204" pitchFamily="34" charset="0"/>
                <a:cs typeface="Calibri Light" panose="020F0302020204030204" pitchFamily="34" charset="0"/>
              </a:rPr>
              <a:t>Specializing in the leasing and development of land and factories, with a business footprint spanning </a:t>
            </a:r>
            <a:endParaRPr lang="en-US" altLang="zh-TW" sz="1400" dirty="0" smtClean="0">
              <a:solidFill>
                <a:srgbClr val="002060"/>
              </a:solidFill>
              <a:ea typeface="Calibri Light" panose="020F0302020204030204" pitchFamily="34" charset="0"/>
              <a:cs typeface="Calibri Light" panose="020F0302020204030204" pitchFamily="34" charset="0"/>
            </a:endParaRPr>
          </a:p>
          <a:p>
            <a:r>
              <a:rPr lang="en-US" altLang="zh-TW" sz="1400" dirty="0" smtClean="0">
                <a:solidFill>
                  <a:srgbClr val="002060"/>
                </a:solidFill>
                <a:ea typeface="Calibri Light" panose="020F0302020204030204" pitchFamily="34" charset="0"/>
                <a:cs typeface="Calibri Light" panose="020F0302020204030204" pitchFamily="34" charset="0"/>
              </a:rPr>
              <a:t>Taipei</a:t>
            </a:r>
            <a:r>
              <a:rPr lang="en-US" altLang="zh-TW" sz="1400" dirty="0">
                <a:solidFill>
                  <a:srgbClr val="002060"/>
                </a:solidFill>
                <a:ea typeface="Calibri Light" panose="020F0302020204030204" pitchFamily="34" charset="0"/>
                <a:cs typeface="Calibri Light" panose="020F0302020204030204" pitchFamily="34" charset="0"/>
              </a:rPr>
              <a:t>, </a:t>
            </a:r>
            <a:r>
              <a:rPr lang="en-US" altLang="zh-TW" sz="1400" dirty="0" smtClean="0">
                <a:solidFill>
                  <a:srgbClr val="002060"/>
                </a:solidFill>
                <a:ea typeface="Calibri Light" panose="020F0302020204030204" pitchFamily="34" charset="0"/>
                <a:cs typeface="Calibri Light" panose="020F0302020204030204" pitchFamily="34" charset="0"/>
              </a:rPr>
              <a:t>Taoyuan</a:t>
            </a:r>
            <a:r>
              <a:rPr lang="en-US" altLang="zh-TW" sz="1400" dirty="0">
                <a:solidFill>
                  <a:srgbClr val="002060"/>
                </a:solidFill>
                <a:ea typeface="Calibri Light" panose="020F0302020204030204" pitchFamily="34" charset="0"/>
                <a:cs typeface="Calibri Light" panose="020F0302020204030204" pitchFamily="34" charset="0"/>
              </a:rPr>
              <a:t>, Kaohsiung, Shanghai, and Yantai.</a:t>
            </a:r>
            <a:endParaRPr lang="zh-TW" altLang="en-US" sz="1400" dirty="0">
              <a:solidFill>
                <a:srgbClr val="002060"/>
              </a:solidFill>
              <a:cs typeface="Calibri Light" panose="020F0302020204030204" pitchFamily="34" charset="0"/>
            </a:endParaRPr>
          </a:p>
        </p:txBody>
      </p:sp>
      <p:sp>
        <p:nvSpPr>
          <p:cNvPr id="17" name="矩形 16"/>
          <p:cNvSpPr/>
          <p:nvPr/>
        </p:nvSpPr>
        <p:spPr>
          <a:xfrm>
            <a:off x="358612" y="162330"/>
            <a:ext cx="6685100" cy="646331"/>
          </a:xfrm>
          <a:prstGeom prst="rect">
            <a:avLst/>
          </a:prstGeom>
          <a:solidFill>
            <a:srgbClr val="F8F8F8"/>
          </a:solidFill>
        </p:spPr>
        <p:txBody>
          <a:bodyPr wrap="none">
            <a:spAutoFit/>
          </a:bodyPr>
          <a:lstStyle/>
          <a:p>
            <a:r>
              <a:rPr lang="en-US" altLang="zh-TW" sz="3600" b="1" dirty="0" smtClean="0">
                <a:solidFill>
                  <a:srgbClr val="0D0D0D"/>
                </a:solidFill>
                <a:latin typeface="微軟正黑體" panose="020B0604030504040204" pitchFamily="34" charset="-120"/>
                <a:ea typeface="微軟正黑體" panose="020B0604030504040204" pitchFamily="34" charset="-120"/>
              </a:rPr>
              <a:t>Asset </a:t>
            </a:r>
            <a:r>
              <a:rPr lang="en-US" altLang="zh-TW" sz="3600" b="1" dirty="0">
                <a:solidFill>
                  <a:srgbClr val="0D0D0D"/>
                </a:solidFill>
                <a:latin typeface="微軟正黑體" panose="020B0604030504040204" pitchFamily="34" charset="-120"/>
                <a:ea typeface="微軟正黑體" panose="020B0604030504040204" pitchFamily="34" charset="-120"/>
              </a:rPr>
              <a:t>Development Business</a:t>
            </a:r>
            <a:endParaRPr lang="zh-TW" altLang="en-US" sz="3600" b="1" dirty="0">
              <a:latin typeface="微軟正黑體" panose="020B0604030504040204" pitchFamily="34" charset="-120"/>
              <a:ea typeface="微軟正黑體" panose="020B0604030504040204" pitchFamily="34" charset="-120"/>
            </a:endParaRPr>
          </a:p>
        </p:txBody>
      </p:sp>
      <p:sp>
        <p:nvSpPr>
          <p:cNvPr id="18" name="矩形 17"/>
          <p:cNvSpPr/>
          <p:nvPr/>
        </p:nvSpPr>
        <p:spPr>
          <a:xfrm>
            <a:off x="968990" y="1562780"/>
            <a:ext cx="4285019" cy="400110"/>
          </a:xfrm>
          <a:prstGeom prst="rect">
            <a:avLst/>
          </a:prstGeom>
          <a:solidFill>
            <a:srgbClr val="F8F8F8"/>
          </a:solidFill>
        </p:spPr>
        <p:txBody>
          <a:bodyPr wrap="none">
            <a:spAutoFit/>
          </a:bodyPr>
          <a:lstStyle/>
          <a:p>
            <a:r>
              <a:rPr lang="en-US" altLang="zh-TW" sz="2000" b="1" dirty="0"/>
              <a:t>Continued expansion of the asset base</a:t>
            </a:r>
            <a:endParaRPr lang="zh-TW" altLang="en-US" sz="2000" b="1" dirty="0"/>
          </a:p>
        </p:txBody>
      </p:sp>
      <p:sp>
        <p:nvSpPr>
          <p:cNvPr id="19" name="矩形 18"/>
          <p:cNvSpPr/>
          <p:nvPr/>
        </p:nvSpPr>
        <p:spPr>
          <a:xfrm>
            <a:off x="7107416" y="1607405"/>
            <a:ext cx="1322706" cy="338554"/>
          </a:xfrm>
          <a:prstGeom prst="rect">
            <a:avLst/>
          </a:prstGeom>
          <a:solidFill>
            <a:srgbClr val="F8F8F8"/>
          </a:solidFill>
        </p:spPr>
        <p:txBody>
          <a:bodyPr wrap="square">
            <a:spAutoFit/>
          </a:bodyPr>
          <a:lstStyle/>
          <a:p>
            <a:r>
              <a:rPr kumimoji="1" lang="en-US" altLang="zh-TW" sz="1600" b="1" dirty="0">
                <a:latin typeface="微軟正黑體" panose="020B0604030504040204" pitchFamily="34" charset="-120"/>
                <a:ea typeface="微軟正黑體" panose="020B0604030504040204" pitchFamily="34" charset="-120"/>
              </a:rPr>
              <a:t>Revenue</a:t>
            </a:r>
            <a:endParaRPr lang="zh-TW" altLang="en-US" sz="1600" dirty="0"/>
          </a:p>
        </p:txBody>
      </p:sp>
      <p:pic>
        <p:nvPicPr>
          <p:cNvPr id="20" name="圖片 19"/>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239" y="6193941"/>
            <a:ext cx="2337795" cy="545230"/>
          </a:xfrm>
          <a:prstGeom prst="rect">
            <a:avLst/>
          </a:prstGeom>
        </p:spPr>
      </p:pic>
      <p:pic>
        <p:nvPicPr>
          <p:cNvPr id="21" name="圖片 20"/>
          <p:cNvPicPr>
            <a:picLocks noChangeAspect="1"/>
          </p:cNvPicPr>
          <p:nvPr/>
        </p:nvPicPr>
        <p:blipFill rotWithShape="1">
          <a:blip r:embed="rId7" cstate="screen">
            <a:extLst>
              <a:ext uri="{28A0092B-C50C-407E-A947-70E740481C1C}">
                <a14:useLocalDpi xmlns:a14="http://schemas.microsoft.com/office/drawing/2010/main"/>
              </a:ext>
            </a:extLst>
          </a:blip>
          <a:srcRect t="-1035"/>
          <a:stretch/>
        </p:blipFill>
        <p:spPr>
          <a:xfrm>
            <a:off x="536902" y="4646792"/>
            <a:ext cx="2151995" cy="1315397"/>
          </a:xfrm>
          <a:prstGeom prst="rect">
            <a:avLst/>
          </a:prstGeom>
        </p:spPr>
      </p:pic>
      <p:pic>
        <p:nvPicPr>
          <p:cNvPr id="22" name="圖片 21"/>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2883048" y="4646792"/>
            <a:ext cx="2230820" cy="1233881"/>
          </a:xfrm>
          <a:prstGeom prst="rect">
            <a:avLst/>
          </a:prstGeom>
        </p:spPr>
      </p:pic>
      <p:pic>
        <p:nvPicPr>
          <p:cNvPr id="23" name="圖片 22"/>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5308019" y="4698615"/>
            <a:ext cx="2050724" cy="1060634"/>
          </a:xfrm>
          <a:prstGeom prst="rect">
            <a:avLst/>
          </a:prstGeom>
        </p:spPr>
      </p:pic>
      <p:sp>
        <p:nvSpPr>
          <p:cNvPr id="24" name="矩形 23"/>
          <p:cNvSpPr/>
          <p:nvPr/>
        </p:nvSpPr>
        <p:spPr>
          <a:xfrm>
            <a:off x="296333" y="2085544"/>
            <a:ext cx="1441420" cy="307777"/>
          </a:xfrm>
          <a:prstGeom prst="rect">
            <a:avLst/>
          </a:prstGeom>
          <a:solidFill>
            <a:schemeClr val="bg1"/>
          </a:solidFill>
        </p:spPr>
        <p:txBody>
          <a:bodyPr wrap="none">
            <a:spAutoFit/>
          </a:bodyPr>
          <a:lstStyle/>
          <a:p>
            <a:r>
              <a:rPr lang="en-US" altLang="zh-TW" sz="1400" dirty="0">
                <a:solidFill>
                  <a:srgbClr val="002060"/>
                </a:solidFill>
              </a:rPr>
              <a:t>(</a:t>
            </a:r>
            <a:r>
              <a:rPr lang="en-US" altLang="zh-TW" sz="1400" dirty="0" smtClean="0">
                <a:solidFill>
                  <a:srgbClr val="002060"/>
                </a:solidFill>
              </a:rPr>
              <a:t>NT</a:t>
            </a:r>
            <a:r>
              <a:rPr lang="en-US" altLang="zh-TW" sz="1400" dirty="0">
                <a:solidFill>
                  <a:srgbClr val="002060"/>
                </a:solidFill>
              </a:rPr>
              <a:t>$ 100 </a:t>
            </a:r>
            <a:r>
              <a:rPr lang="en-US" altLang="zh-TW" sz="1400" dirty="0" smtClean="0">
                <a:solidFill>
                  <a:srgbClr val="002060"/>
                </a:solidFill>
              </a:rPr>
              <a:t>million)</a:t>
            </a:r>
            <a:endParaRPr lang="zh-TW" altLang="en-US" sz="1400" dirty="0">
              <a:solidFill>
                <a:srgbClr val="002060"/>
              </a:solidFill>
            </a:endParaRPr>
          </a:p>
        </p:txBody>
      </p:sp>
      <p:sp>
        <p:nvSpPr>
          <p:cNvPr id="25" name="矩形 24"/>
          <p:cNvSpPr/>
          <p:nvPr/>
        </p:nvSpPr>
        <p:spPr>
          <a:xfrm>
            <a:off x="8434705" y="5515023"/>
            <a:ext cx="549318" cy="276999"/>
          </a:xfrm>
          <a:prstGeom prst="rect">
            <a:avLst/>
          </a:prstGeom>
          <a:solidFill>
            <a:schemeClr val="accent5">
              <a:lumMod val="20000"/>
              <a:lumOff val="80000"/>
            </a:schemeClr>
          </a:solidFill>
        </p:spPr>
        <p:txBody>
          <a:bodyPr wrap="none">
            <a:spAutoFit/>
          </a:bodyPr>
          <a:lstStyle/>
          <a:p>
            <a:r>
              <a:rPr lang="en-US" altLang="zh-TW" sz="1200" dirty="0">
                <a:solidFill>
                  <a:srgbClr val="002060"/>
                </a:solidFill>
                <a:ea typeface="Calibri Light" panose="020F0302020204030204" pitchFamily="34" charset="0"/>
                <a:cs typeface="Calibri Light" panose="020F0302020204030204" pitchFamily="34" charset="0"/>
              </a:rPr>
              <a:t>Taipei</a:t>
            </a:r>
            <a:endParaRPr lang="zh-TW" altLang="en-US" sz="1200" dirty="0">
              <a:solidFill>
                <a:srgbClr val="002060"/>
              </a:solidFill>
            </a:endParaRPr>
          </a:p>
        </p:txBody>
      </p:sp>
      <p:sp>
        <p:nvSpPr>
          <p:cNvPr id="26" name="矩形 25"/>
          <p:cNvSpPr/>
          <p:nvPr/>
        </p:nvSpPr>
        <p:spPr>
          <a:xfrm>
            <a:off x="9022053" y="5515023"/>
            <a:ext cx="729843" cy="276999"/>
          </a:xfrm>
          <a:prstGeom prst="rect">
            <a:avLst/>
          </a:prstGeom>
          <a:solidFill>
            <a:schemeClr val="accent5">
              <a:lumMod val="20000"/>
              <a:lumOff val="80000"/>
            </a:schemeClr>
          </a:solidFill>
        </p:spPr>
        <p:txBody>
          <a:bodyPr wrap="square">
            <a:spAutoFit/>
          </a:bodyPr>
          <a:lstStyle/>
          <a:p>
            <a:r>
              <a:rPr lang="en-US" altLang="zh-TW" sz="1200" dirty="0">
                <a:solidFill>
                  <a:srgbClr val="002060"/>
                </a:solidFill>
                <a:ea typeface="Calibri Light" panose="020F0302020204030204" pitchFamily="34" charset="0"/>
                <a:cs typeface="Calibri Light" panose="020F0302020204030204" pitchFamily="34" charset="0"/>
              </a:rPr>
              <a:t>Taoyuan</a:t>
            </a:r>
            <a:endParaRPr lang="zh-TW" altLang="en-US" sz="1200" dirty="0">
              <a:solidFill>
                <a:srgbClr val="002060"/>
              </a:solidFill>
            </a:endParaRPr>
          </a:p>
        </p:txBody>
      </p:sp>
      <p:sp>
        <p:nvSpPr>
          <p:cNvPr id="27" name="矩形 26"/>
          <p:cNvSpPr/>
          <p:nvPr/>
        </p:nvSpPr>
        <p:spPr>
          <a:xfrm>
            <a:off x="9751896" y="5515023"/>
            <a:ext cx="918671" cy="276999"/>
          </a:xfrm>
          <a:prstGeom prst="rect">
            <a:avLst/>
          </a:prstGeom>
          <a:solidFill>
            <a:schemeClr val="accent5">
              <a:lumMod val="20000"/>
              <a:lumOff val="80000"/>
            </a:schemeClr>
          </a:solidFill>
        </p:spPr>
        <p:txBody>
          <a:bodyPr wrap="square">
            <a:spAutoFit/>
          </a:bodyPr>
          <a:lstStyle/>
          <a:p>
            <a:r>
              <a:rPr lang="en-US" altLang="zh-TW" sz="1200" dirty="0">
                <a:solidFill>
                  <a:srgbClr val="002060"/>
                </a:solidFill>
                <a:ea typeface="Calibri Light" panose="020F0302020204030204" pitchFamily="34" charset="0"/>
                <a:cs typeface="Calibri Light" panose="020F0302020204030204" pitchFamily="34" charset="0"/>
              </a:rPr>
              <a:t>Kaohsiung</a:t>
            </a:r>
            <a:endParaRPr lang="zh-TW" altLang="en-US" sz="1200" dirty="0">
              <a:solidFill>
                <a:srgbClr val="002060"/>
              </a:solidFill>
            </a:endParaRPr>
          </a:p>
        </p:txBody>
      </p:sp>
      <p:sp>
        <p:nvSpPr>
          <p:cNvPr id="28" name="矩形 27"/>
          <p:cNvSpPr/>
          <p:nvPr/>
        </p:nvSpPr>
        <p:spPr>
          <a:xfrm>
            <a:off x="10669276" y="5516250"/>
            <a:ext cx="858084" cy="276999"/>
          </a:xfrm>
          <a:prstGeom prst="rect">
            <a:avLst/>
          </a:prstGeom>
          <a:solidFill>
            <a:schemeClr val="accent5">
              <a:lumMod val="20000"/>
              <a:lumOff val="80000"/>
            </a:schemeClr>
          </a:solidFill>
        </p:spPr>
        <p:txBody>
          <a:bodyPr wrap="square">
            <a:spAutoFit/>
          </a:bodyPr>
          <a:lstStyle/>
          <a:p>
            <a:r>
              <a:rPr lang="en-US" altLang="zh-TW" sz="1200" dirty="0">
                <a:solidFill>
                  <a:srgbClr val="002060"/>
                </a:solidFill>
                <a:ea typeface="Calibri Light" panose="020F0302020204030204" pitchFamily="34" charset="0"/>
                <a:cs typeface="Calibri Light" panose="020F0302020204030204" pitchFamily="34" charset="0"/>
              </a:rPr>
              <a:t>Shanghai</a:t>
            </a:r>
            <a:endParaRPr lang="zh-TW" altLang="en-US" sz="1200" dirty="0">
              <a:solidFill>
                <a:srgbClr val="002060"/>
              </a:solidFill>
            </a:endParaRPr>
          </a:p>
        </p:txBody>
      </p:sp>
      <p:sp>
        <p:nvSpPr>
          <p:cNvPr id="29" name="矩形 28"/>
          <p:cNvSpPr/>
          <p:nvPr/>
        </p:nvSpPr>
        <p:spPr>
          <a:xfrm>
            <a:off x="11527360" y="5521654"/>
            <a:ext cx="578734" cy="276999"/>
          </a:xfrm>
          <a:prstGeom prst="rect">
            <a:avLst/>
          </a:prstGeom>
          <a:solidFill>
            <a:schemeClr val="accent5">
              <a:lumMod val="20000"/>
              <a:lumOff val="80000"/>
            </a:schemeClr>
          </a:solidFill>
        </p:spPr>
        <p:txBody>
          <a:bodyPr wrap="square">
            <a:spAutoFit/>
          </a:bodyPr>
          <a:lstStyle/>
          <a:p>
            <a:r>
              <a:rPr lang="en-US" altLang="zh-TW" sz="1200" dirty="0">
                <a:solidFill>
                  <a:srgbClr val="002060"/>
                </a:solidFill>
                <a:ea typeface="Calibri Light" panose="020F0302020204030204" pitchFamily="34" charset="0"/>
                <a:cs typeface="Calibri Light" panose="020F0302020204030204" pitchFamily="34" charset="0"/>
              </a:rPr>
              <a:t>Yantai</a:t>
            </a:r>
            <a:endParaRPr lang="zh-TW" altLang="en-US" sz="1200" dirty="0">
              <a:solidFill>
                <a:srgbClr val="002060"/>
              </a:solidFill>
            </a:endParaRPr>
          </a:p>
        </p:txBody>
      </p:sp>
      <p:sp>
        <p:nvSpPr>
          <p:cNvPr id="30" name="矩形 29"/>
          <p:cNvSpPr/>
          <p:nvPr/>
        </p:nvSpPr>
        <p:spPr>
          <a:xfrm>
            <a:off x="8513170" y="5119824"/>
            <a:ext cx="2783967" cy="369332"/>
          </a:xfrm>
          <a:prstGeom prst="rect">
            <a:avLst/>
          </a:prstGeom>
          <a:solidFill>
            <a:srgbClr val="F8F8F8"/>
          </a:solidFill>
        </p:spPr>
        <p:txBody>
          <a:bodyPr wrap="none">
            <a:spAutoFit/>
          </a:bodyPr>
          <a:lstStyle/>
          <a:p>
            <a:r>
              <a:rPr lang="en-US" altLang="zh-TW" b="1" dirty="0"/>
              <a:t>Primary Development Sites</a:t>
            </a:r>
            <a:endParaRPr lang="zh-TW" altLang="en-US" b="1" dirty="0"/>
          </a:p>
        </p:txBody>
      </p:sp>
    </p:spTree>
    <p:extLst>
      <p:ext uri="{BB962C8B-B14F-4D97-AF65-F5344CB8AC3E}">
        <p14:creationId xmlns:p14="http://schemas.microsoft.com/office/powerpoint/2010/main" val="8987980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000" y="-3087"/>
            <a:ext cx="12204000" cy="6861087"/>
          </a:xfrm>
          <a:prstGeom prst="rect">
            <a:avLst/>
          </a:prstGeom>
        </p:spPr>
      </p:pic>
      <p:pic>
        <p:nvPicPr>
          <p:cNvPr id="27" name="圖片 26"/>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0792" y="6280316"/>
            <a:ext cx="2628000" cy="468457"/>
          </a:xfrm>
          <a:prstGeom prst="rect">
            <a:avLst/>
          </a:prstGeom>
        </p:spPr>
      </p:pic>
      <p:sp>
        <p:nvSpPr>
          <p:cNvPr id="28" name="Rectangle 27"/>
          <p:cNvSpPr/>
          <p:nvPr/>
        </p:nvSpPr>
        <p:spPr>
          <a:xfrm>
            <a:off x="466460" y="155448"/>
            <a:ext cx="7362760" cy="576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2800" b="1">
                <a:solidFill>
                  <a:srgbClr val="00285A"/>
                </a:solidFill>
                <a:latin typeface="Arial"/>
              </a:rPr>
              <a:t>Asset Development: New Project Overview</a:t>
            </a:r>
          </a:p>
        </p:txBody>
      </p:sp>
      <p:sp>
        <p:nvSpPr>
          <p:cNvPr id="29" name="Rectangle 28"/>
          <p:cNvSpPr/>
          <p:nvPr/>
        </p:nvSpPr>
        <p:spPr>
          <a:xfrm>
            <a:off x="466460" y="768096"/>
            <a:ext cx="9905428"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400" b="0">
                <a:solidFill>
                  <a:srgbClr val="173655"/>
                </a:solidFill>
                <a:latin typeface="Arial"/>
              </a:rPr>
              <a:t>Optimized logistics and industrial facilities, smart management, and renewable energy improve long-term asset operations.</a:t>
            </a:r>
          </a:p>
        </p:txBody>
      </p:sp>
      <p:sp>
        <p:nvSpPr>
          <p:cNvPr id="30" name="Rectangle 29"/>
          <p:cNvSpPr/>
          <p:nvPr/>
        </p:nvSpPr>
        <p:spPr>
          <a:xfrm>
            <a:off x="1179870" y="1444752"/>
            <a:ext cx="3100591" cy="475488"/>
          </a:xfrm>
          <a:prstGeom prst="rect">
            <a:avLst/>
          </a:prstGeom>
          <a:solidFill>
            <a:srgbClr val="00285B"/>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800" b="1" dirty="0" err="1" smtClean="0">
                <a:solidFill>
                  <a:srgbClr val="FFFFFF"/>
                </a:solidFill>
                <a:latin typeface="Arial"/>
              </a:rPr>
              <a:t>Fu</a:t>
            </a:r>
            <a:r>
              <a:rPr lang="en-US" sz="1800" b="1" dirty="0" err="1" smtClean="0">
                <a:solidFill>
                  <a:srgbClr val="FFFFFF"/>
                </a:solidFill>
                <a:latin typeface="Arial"/>
              </a:rPr>
              <a:t>k</a:t>
            </a:r>
            <a:r>
              <a:rPr sz="1800" b="1" dirty="0" err="1" smtClean="0">
                <a:solidFill>
                  <a:srgbClr val="FFFFFF"/>
                </a:solidFill>
                <a:latin typeface="Arial"/>
              </a:rPr>
              <a:t>ang</a:t>
            </a:r>
            <a:r>
              <a:rPr sz="1800" b="1" dirty="0" smtClean="0">
                <a:solidFill>
                  <a:srgbClr val="FFFFFF"/>
                </a:solidFill>
                <a:latin typeface="Arial"/>
              </a:rPr>
              <a:t> </a:t>
            </a:r>
            <a:r>
              <a:rPr sz="1800" b="1" dirty="0">
                <a:solidFill>
                  <a:srgbClr val="FFFFFF"/>
                </a:solidFill>
                <a:latin typeface="Arial"/>
              </a:rPr>
              <a:t>Logistics Center</a:t>
            </a:r>
          </a:p>
        </p:txBody>
      </p:sp>
      <p:sp>
        <p:nvSpPr>
          <p:cNvPr id="31" name="Rectangle 30"/>
          <p:cNvSpPr/>
          <p:nvPr/>
        </p:nvSpPr>
        <p:spPr>
          <a:xfrm>
            <a:off x="4353632" y="1463040"/>
            <a:ext cx="1490844" cy="393192"/>
          </a:xfrm>
          <a:prstGeom prst="rect">
            <a:avLst/>
          </a:prstGeom>
          <a:solidFill>
            <a:srgbClr val="E3EFF7"/>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ctr">
              <a:spcBef>
                <a:spcPts val="0"/>
              </a:spcBef>
              <a:spcAft>
                <a:spcPts val="0"/>
              </a:spcAft>
            </a:pPr>
            <a:r>
              <a:rPr sz="1100" b="1">
                <a:solidFill>
                  <a:srgbClr val="00285A"/>
                </a:solidFill>
                <a:latin typeface="Arial"/>
              </a:rPr>
              <a:t>Logistics &amp;</a:t>
            </a:r>
          </a:p>
          <a:p>
            <a:pPr algn="ctr">
              <a:spcBef>
                <a:spcPts val="0"/>
              </a:spcBef>
              <a:spcAft>
                <a:spcPts val="0"/>
              </a:spcAft>
            </a:pPr>
            <a:r>
              <a:rPr sz="1100" b="1">
                <a:solidFill>
                  <a:srgbClr val="00285A"/>
                </a:solidFill>
                <a:latin typeface="Arial"/>
              </a:rPr>
              <a:t>Warehousing</a:t>
            </a:r>
          </a:p>
        </p:txBody>
      </p:sp>
      <p:sp>
        <p:nvSpPr>
          <p:cNvPr id="32" name="Rectangle 31"/>
          <p:cNvSpPr/>
          <p:nvPr/>
        </p:nvSpPr>
        <p:spPr>
          <a:xfrm>
            <a:off x="7033494" y="1435608"/>
            <a:ext cx="3109737" cy="484632"/>
          </a:xfrm>
          <a:prstGeom prst="rect">
            <a:avLst/>
          </a:prstGeom>
          <a:solidFill>
            <a:srgbClr val="C8101E"/>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2100" b="1">
                <a:solidFill>
                  <a:srgbClr val="FFFFFF"/>
                </a:solidFill>
                <a:latin typeface="Arial"/>
              </a:rPr>
              <a:t>Qidu Factory &amp; Office</a:t>
            </a:r>
          </a:p>
        </p:txBody>
      </p:sp>
      <p:sp>
        <p:nvSpPr>
          <p:cNvPr id="33" name="Rectangle 32"/>
          <p:cNvSpPr/>
          <p:nvPr/>
        </p:nvSpPr>
        <p:spPr>
          <a:xfrm>
            <a:off x="10298718" y="1463040"/>
            <a:ext cx="1472552" cy="402336"/>
          </a:xfrm>
          <a:prstGeom prst="rect">
            <a:avLst/>
          </a:prstGeom>
          <a:solidFill>
            <a:srgbClr val="FBE5E9"/>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ctr">
              <a:spcBef>
                <a:spcPts val="0"/>
              </a:spcBef>
              <a:spcAft>
                <a:spcPts val="0"/>
              </a:spcAft>
            </a:pPr>
            <a:r>
              <a:rPr sz="1100" b="1">
                <a:solidFill>
                  <a:srgbClr val="C8101E"/>
                </a:solidFill>
                <a:latin typeface="Arial"/>
              </a:rPr>
              <a:t>Factory &amp; Office</a:t>
            </a:r>
          </a:p>
          <a:p>
            <a:pPr algn="ctr">
              <a:spcBef>
                <a:spcPts val="0"/>
              </a:spcBef>
              <a:spcAft>
                <a:spcPts val="0"/>
              </a:spcAft>
            </a:pPr>
            <a:r>
              <a:rPr sz="1100" b="1">
                <a:solidFill>
                  <a:srgbClr val="C8101E"/>
                </a:solidFill>
                <a:latin typeface="Arial"/>
              </a:rPr>
              <a:t>Development</a:t>
            </a:r>
          </a:p>
        </p:txBody>
      </p:sp>
      <p:sp>
        <p:nvSpPr>
          <p:cNvPr id="34" name="Rectangle 33"/>
          <p:cNvSpPr/>
          <p:nvPr/>
        </p:nvSpPr>
        <p:spPr>
          <a:xfrm>
            <a:off x="1015237" y="3639312"/>
            <a:ext cx="2533521" cy="512064"/>
          </a:xfrm>
          <a:prstGeom prst="rect">
            <a:avLst/>
          </a:prstGeom>
          <a:solidFill>
            <a:srgbClr val="F8FBFE"/>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200" b="0">
                <a:solidFill>
                  <a:srgbClr val="00285A"/>
                </a:solidFill>
                <a:latin typeface="Arial"/>
              </a:rPr>
              <a:t>Building plan: Four above-ground floors; steel-frame structure</a:t>
            </a:r>
          </a:p>
        </p:txBody>
      </p:sp>
      <p:sp>
        <p:nvSpPr>
          <p:cNvPr id="35" name="Rectangle 34"/>
          <p:cNvSpPr/>
          <p:nvPr/>
        </p:nvSpPr>
        <p:spPr>
          <a:xfrm>
            <a:off x="4097536" y="3639312"/>
            <a:ext cx="1756087" cy="512064"/>
          </a:xfrm>
          <a:prstGeom prst="rect">
            <a:avLst/>
          </a:prstGeom>
          <a:solidFill>
            <a:srgbClr val="F8FBFE"/>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200" b="1">
                <a:solidFill>
                  <a:srgbClr val="00285A"/>
                </a:solidFill>
                <a:latin typeface="Arial"/>
              </a:rPr>
              <a:t>Gross floor area:</a:t>
            </a:r>
          </a:p>
          <a:p>
            <a:pPr algn="l">
              <a:spcBef>
                <a:spcPts val="0"/>
              </a:spcBef>
              <a:spcAft>
                <a:spcPts val="0"/>
              </a:spcAft>
            </a:pPr>
            <a:r>
              <a:rPr sz="1200" b="1">
                <a:solidFill>
                  <a:srgbClr val="00285A"/>
                </a:solidFill>
                <a:latin typeface="Arial"/>
              </a:rPr>
              <a:t>23,553 ping</a:t>
            </a:r>
          </a:p>
        </p:txBody>
      </p:sp>
      <p:sp>
        <p:nvSpPr>
          <p:cNvPr id="36" name="Rectangle 35"/>
          <p:cNvSpPr/>
          <p:nvPr/>
        </p:nvSpPr>
        <p:spPr>
          <a:xfrm>
            <a:off x="6978616" y="3630168"/>
            <a:ext cx="4673752" cy="283464"/>
          </a:xfrm>
          <a:prstGeom prst="rect">
            <a:avLst/>
          </a:prstGeom>
          <a:solidFill>
            <a:srgbClr val="F8FBFE"/>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200" b="0">
                <a:solidFill>
                  <a:srgbClr val="00285A"/>
                </a:solidFill>
                <a:latin typeface="Arial"/>
              </a:rPr>
              <a:t>Building plan: Two-story steel-frame factory and office</a:t>
            </a:r>
          </a:p>
        </p:txBody>
      </p:sp>
      <p:sp>
        <p:nvSpPr>
          <p:cNvPr id="37" name="Rectangle 36"/>
          <p:cNvSpPr/>
          <p:nvPr/>
        </p:nvSpPr>
        <p:spPr>
          <a:xfrm>
            <a:off x="6978616" y="3922776"/>
            <a:ext cx="4673752" cy="283464"/>
          </a:xfrm>
          <a:prstGeom prst="rect">
            <a:avLst/>
          </a:prstGeom>
          <a:solidFill>
            <a:srgbClr val="F8FBFE"/>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200" b="0">
                <a:solidFill>
                  <a:srgbClr val="00285A"/>
                </a:solidFill>
                <a:latin typeface="Arial"/>
              </a:rPr>
              <a:t>Warehouse clear height: 8 m (partial); site area: 1,930 ping</a:t>
            </a:r>
          </a:p>
        </p:txBody>
      </p:sp>
      <p:sp>
        <p:nvSpPr>
          <p:cNvPr id="38" name="Rectangle 37"/>
          <p:cNvSpPr/>
          <p:nvPr/>
        </p:nvSpPr>
        <p:spPr>
          <a:xfrm>
            <a:off x="960360" y="4343400"/>
            <a:ext cx="4801800" cy="448056"/>
          </a:xfrm>
          <a:prstGeom prst="rect">
            <a:avLst/>
          </a:prstGeom>
          <a:solidFill>
            <a:srgbClr val="F3F8FC"/>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900" b="1">
                <a:solidFill>
                  <a:srgbClr val="00285A"/>
                </a:solidFill>
                <a:latin typeface="Arial"/>
              </a:rPr>
              <a:t>Leasing Began in April 2026</a:t>
            </a:r>
          </a:p>
        </p:txBody>
      </p:sp>
      <p:sp>
        <p:nvSpPr>
          <p:cNvPr id="39" name="Rectangle 38"/>
          <p:cNvSpPr/>
          <p:nvPr/>
        </p:nvSpPr>
        <p:spPr>
          <a:xfrm>
            <a:off x="530484" y="4791456"/>
            <a:ext cx="448168" cy="1170432"/>
          </a:xfrm>
          <a:prstGeom prst="rect">
            <a:avLst/>
          </a:prstGeom>
          <a:solidFill>
            <a:srgbClr val="F3F8FC"/>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endParaRPr/>
          </a:p>
        </p:txBody>
      </p:sp>
      <p:sp>
        <p:nvSpPr>
          <p:cNvPr id="41" name="Rectangle 40"/>
          <p:cNvSpPr/>
          <p:nvPr/>
        </p:nvSpPr>
        <p:spPr>
          <a:xfrm>
            <a:off x="6942031" y="4352544"/>
            <a:ext cx="4792654" cy="438912"/>
          </a:xfrm>
          <a:prstGeom prst="rect">
            <a:avLst/>
          </a:prstGeom>
          <a:solidFill>
            <a:srgbClr val="FDF1F2"/>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800" b="1">
                <a:solidFill>
                  <a:srgbClr val="C8101E"/>
                </a:solidFill>
                <a:latin typeface="Arial"/>
              </a:rPr>
              <a:t>Occupancy Permit Obtained in July 2026</a:t>
            </a:r>
          </a:p>
        </p:txBody>
      </p:sp>
      <p:sp>
        <p:nvSpPr>
          <p:cNvPr id="42" name="Rectangle 41"/>
          <p:cNvSpPr/>
          <p:nvPr/>
        </p:nvSpPr>
        <p:spPr>
          <a:xfrm>
            <a:off x="6365815" y="4791456"/>
            <a:ext cx="475606" cy="1170432"/>
          </a:xfrm>
          <a:prstGeom prst="rect">
            <a:avLst/>
          </a:prstGeom>
          <a:solidFill>
            <a:srgbClr val="FDF1F2"/>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endParaRPr/>
          </a:p>
        </p:txBody>
      </p:sp>
      <p:sp>
        <p:nvSpPr>
          <p:cNvPr id="43" name="Rectangle 42"/>
          <p:cNvSpPr/>
          <p:nvPr/>
        </p:nvSpPr>
        <p:spPr>
          <a:xfrm>
            <a:off x="6685935" y="4791456"/>
            <a:ext cx="5030457" cy="1170432"/>
          </a:xfrm>
          <a:prstGeom prst="rect">
            <a:avLst/>
          </a:prstGeom>
          <a:solidFill>
            <a:srgbClr val="FDF1F2"/>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200" b="0" dirty="0">
                <a:solidFill>
                  <a:srgbClr val="173655"/>
                </a:solidFill>
                <a:latin typeface="Arial"/>
              </a:rPr>
              <a:t>• Tenant: MiTAC Information Technology Corp</a:t>
            </a:r>
            <a:r>
              <a:rPr sz="1200" b="0" dirty="0" smtClean="0">
                <a:solidFill>
                  <a:srgbClr val="173655"/>
                </a:solidFill>
                <a:latin typeface="Arial"/>
              </a:rPr>
              <a:t>.</a:t>
            </a:r>
            <a:endParaRPr lang="en-US" sz="1200" b="0" dirty="0" smtClean="0">
              <a:solidFill>
                <a:srgbClr val="173655"/>
              </a:solidFill>
              <a:latin typeface="Arial"/>
            </a:endParaRPr>
          </a:p>
          <a:p>
            <a:r>
              <a:rPr lang="en-US" altLang="zh-TW" sz="1200" b="1" dirty="0">
                <a:solidFill>
                  <a:schemeClr val="tx2">
                    <a:lumMod val="50000"/>
                  </a:schemeClr>
                </a:solidFill>
                <a:latin typeface="微軟正黑體" panose="020B0604030504040204" pitchFamily="34" charset="-120"/>
                <a:ea typeface="微軟正黑體" panose="020B0604030504040204" pitchFamily="34" charset="-120"/>
              </a:rPr>
              <a:t>Operating Status:</a:t>
            </a:r>
          </a:p>
          <a:p>
            <a:pPr algn="l">
              <a:spcBef>
                <a:spcPts val="0"/>
              </a:spcBef>
              <a:spcAft>
                <a:spcPts val="0"/>
              </a:spcAft>
            </a:pPr>
            <a:r>
              <a:rPr sz="1200" b="0" dirty="0" smtClean="0">
                <a:solidFill>
                  <a:srgbClr val="173655"/>
                </a:solidFill>
                <a:latin typeface="Arial"/>
              </a:rPr>
              <a:t>• </a:t>
            </a:r>
            <a:r>
              <a:rPr sz="1200" b="0" dirty="0">
                <a:solidFill>
                  <a:srgbClr val="173655"/>
                </a:solidFill>
                <a:latin typeface="Arial"/>
              </a:rPr>
              <a:t>Leasing began in September 2026.</a:t>
            </a:r>
          </a:p>
          <a:p>
            <a:pPr algn="l">
              <a:spcBef>
                <a:spcPts val="0"/>
              </a:spcBef>
              <a:spcAft>
                <a:spcPts val="0"/>
              </a:spcAft>
            </a:pPr>
            <a:r>
              <a:rPr sz="1200" b="0" dirty="0">
                <a:solidFill>
                  <a:srgbClr val="173655"/>
                </a:solidFill>
                <a:latin typeface="Arial"/>
              </a:rPr>
              <a:t>• Expected FY2026 revenue: NT$5.2 million.</a:t>
            </a:r>
          </a:p>
        </p:txBody>
      </p:sp>
      <p:sp>
        <p:nvSpPr>
          <p:cNvPr id="20" name="TextBox 5"/>
          <p:cNvSpPr txBox="1"/>
          <p:nvPr/>
        </p:nvSpPr>
        <p:spPr>
          <a:xfrm>
            <a:off x="677424" y="4791456"/>
            <a:ext cx="5098456" cy="1169551"/>
          </a:xfrm>
          <a:prstGeom prst="rect">
            <a:avLst/>
          </a:prstGeom>
          <a:solidFill>
            <a:srgbClr val="F8F8F8"/>
          </a:solidFill>
        </p:spPr>
        <p:txBody>
          <a:bodyPr wrap="square">
            <a:spAutoFit/>
          </a:bodyPr>
          <a:lstStyle/>
          <a:p>
            <a:pPr marL="285750" indent="-285750">
              <a:buFont typeface="Arial" panose="020B0604020202020204" pitchFamily="34" charset="0"/>
              <a:buChar char="•"/>
            </a:pPr>
            <a:r>
              <a:rPr sz="1400" dirty="0" smtClean="0">
                <a:solidFill>
                  <a:schemeClr val="accent5">
                    <a:lumMod val="50000"/>
                  </a:schemeClr>
                </a:solidFill>
              </a:rPr>
              <a:t>Operating </a:t>
            </a:r>
            <a:r>
              <a:rPr sz="1400" dirty="0">
                <a:solidFill>
                  <a:schemeClr val="accent5">
                    <a:lumMod val="50000"/>
                  </a:schemeClr>
                </a:solidFill>
              </a:rPr>
              <a:t>Model: Adopted BOO model, signing the "Lien Hwa </a:t>
            </a:r>
            <a:r>
              <a:rPr sz="1400" dirty="0" err="1">
                <a:solidFill>
                  <a:schemeClr val="accent5">
                    <a:lumMod val="50000"/>
                  </a:schemeClr>
                </a:solidFill>
              </a:rPr>
              <a:t>Fukang</a:t>
            </a:r>
            <a:r>
              <a:rPr sz="1400" dirty="0">
                <a:solidFill>
                  <a:schemeClr val="accent5">
                    <a:lumMod val="50000"/>
                  </a:schemeClr>
                </a:solidFill>
              </a:rPr>
              <a:t> Logistics Center Asset Development Joint Construction Agreement" with Ally Logistics Property (ALP</a:t>
            </a:r>
            <a:r>
              <a:rPr sz="1400" dirty="0" smtClean="0">
                <a:solidFill>
                  <a:schemeClr val="accent5">
                    <a:lumMod val="50000"/>
                  </a:schemeClr>
                </a:solidFill>
              </a:rPr>
              <a:t>).</a:t>
            </a:r>
            <a:endParaRPr lang="en-US" sz="1400" dirty="0" smtClean="0">
              <a:solidFill>
                <a:schemeClr val="accent5">
                  <a:lumMod val="50000"/>
                </a:schemeClr>
              </a:solidFill>
            </a:endParaRPr>
          </a:p>
          <a:p>
            <a:pPr marL="285750" indent="-285750">
              <a:buFont typeface="Arial" panose="020B0604020202020204" pitchFamily="34" charset="0"/>
              <a:buChar char="•"/>
            </a:pPr>
            <a:endParaRPr lang="en-US" sz="1400" dirty="0" smtClean="0">
              <a:solidFill>
                <a:schemeClr val="accent5">
                  <a:lumMod val="50000"/>
                </a:schemeClr>
              </a:solidFill>
            </a:endParaRPr>
          </a:p>
          <a:p>
            <a:pPr marL="285750" indent="-285750">
              <a:buFont typeface="Arial" panose="020B0604020202020204" pitchFamily="34" charset="0"/>
              <a:buChar char="•"/>
            </a:pPr>
            <a:r>
              <a:rPr sz="1400" dirty="0" smtClean="0">
                <a:solidFill>
                  <a:schemeClr val="accent5">
                    <a:lumMod val="50000"/>
                  </a:schemeClr>
                </a:solidFill>
              </a:rPr>
              <a:t>Expected </a:t>
            </a:r>
            <a:r>
              <a:rPr sz="1400" dirty="0">
                <a:solidFill>
                  <a:schemeClr val="accent5">
                    <a:lumMod val="50000"/>
                  </a:schemeClr>
                </a:solidFill>
              </a:rPr>
              <a:t>revenue contribution: NT$120 million in 2026.</a:t>
            </a:r>
          </a:p>
        </p:txBody>
      </p:sp>
    </p:spTree>
    <p:extLst>
      <p:ext uri="{BB962C8B-B14F-4D97-AF65-F5344CB8AC3E}">
        <p14:creationId xmlns:p14="http://schemas.microsoft.com/office/powerpoint/2010/main" val="2108076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1"/>
            <a:ext cx="12185522" cy="6858000"/>
          </a:xfrm>
          <a:prstGeom prst="rect">
            <a:avLst/>
          </a:prstGeom>
        </p:spPr>
      </p:pic>
      <p:pic>
        <p:nvPicPr>
          <p:cNvPr id="3" name="圖片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29498" y="6264180"/>
            <a:ext cx="2412000" cy="414027"/>
          </a:xfrm>
          <a:prstGeom prst="rect">
            <a:avLst/>
          </a:prstGeom>
        </p:spPr>
      </p:pic>
      <p:sp>
        <p:nvSpPr>
          <p:cNvPr id="4" name="矩形 3"/>
          <p:cNvSpPr/>
          <p:nvPr/>
        </p:nvSpPr>
        <p:spPr>
          <a:xfrm>
            <a:off x="330598" y="711626"/>
            <a:ext cx="7810102" cy="7361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TW" sz="2800" b="1" dirty="0">
                <a:solidFill>
                  <a:srgbClr val="002060"/>
                </a:solidFill>
                <a:latin typeface="Microsoft YaHei" panose="020B0503020204020204" pitchFamily="34" charset="-122"/>
                <a:ea typeface="Microsoft YaHei" panose="020B0503020204020204" pitchFamily="34" charset="-122"/>
              </a:rPr>
              <a:t>MiTAC Information Technology Corp. </a:t>
            </a:r>
          </a:p>
        </p:txBody>
      </p:sp>
      <p:pic>
        <p:nvPicPr>
          <p:cNvPr id="5" name="圖片 4"/>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3239" y="0"/>
            <a:ext cx="784161" cy="711626"/>
          </a:xfrm>
          <a:prstGeom prst="rect">
            <a:avLst/>
          </a:prstGeom>
        </p:spPr>
      </p:pic>
      <p:sp>
        <p:nvSpPr>
          <p:cNvPr id="6" name="矩形 5"/>
          <p:cNvSpPr/>
          <p:nvPr/>
        </p:nvSpPr>
        <p:spPr>
          <a:xfrm>
            <a:off x="904617" y="244741"/>
            <a:ext cx="3159070" cy="400110"/>
          </a:xfrm>
          <a:prstGeom prst="rect">
            <a:avLst/>
          </a:prstGeom>
          <a:solidFill>
            <a:srgbClr val="002060"/>
          </a:solidFill>
        </p:spPr>
        <p:txBody>
          <a:bodyPr wrap="none">
            <a:spAutoFit/>
          </a:bodyPr>
          <a:lstStyle/>
          <a:p>
            <a:pPr>
              <a:spcBef>
                <a:spcPct val="0"/>
              </a:spcBef>
            </a:pPr>
            <a:r>
              <a:rPr lang="en-US" altLang="zh-TW" sz="2000" b="1" dirty="0" smtClean="0">
                <a:solidFill>
                  <a:schemeClr val="bg1"/>
                </a:solidFill>
                <a:ea typeface="微軟正黑體" panose="020B0604030504040204" pitchFamily="34" charset="-120"/>
              </a:rPr>
              <a:t>System </a:t>
            </a:r>
            <a:r>
              <a:rPr lang="en-US" altLang="zh-TW" sz="2000" b="1" dirty="0">
                <a:solidFill>
                  <a:schemeClr val="bg1"/>
                </a:solidFill>
                <a:ea typeface="微軟正黑體" panose="020B0604030504040204" pitchFamily="34" charset="-120"/>
              </a:rPr>
              <a:t>Integration Business</a:t>
            </a:r>
          </a:p>
        </p:txBody>
      </p:sp>
    </p:spTree>
    <p:extLst>
      <p:ext uri="{BB962C8B-B14F-4D97-AF65-F5344CB8AC3E}">
        <p14:creationId xmlns:p14="http://schemas.microsoft.com/office/powerpoint/2010/main" val="22994499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3842"/>
            <a:ext cx="12204000" cy="6856991"/>
          </a:xfrm>
          <a:prstGeom prst="rect">
            <a:avLst/>
          </a:prstGeom>
        </p:spPr>
      </p:pic>
      <p:sp>
        <p:nvSpPr>
          <p:cNvPr id="3" name="Rectangle 2"/>
          <p:cNvSpPr/>
          <p:nvPr/>
        </p:nvSpPr>
        <p:spPr>
          <a:xfrm>
            <a:off x="558800" y="172720"/>
            <a:ext cx="108712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4" name="Rectangle 3"/>
          <p:cNvSpPr/>
          <p:nvPr/>
        </p:nvSpPr>
        <p:spPr>
          <a:xfrm>
            <a:off x="406400" y="3423920"/>
            <a:ext cx="2519680" cy="35560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sz="1200"/>
          </a:p>
        </p:txBody>
      </p:sp>
      <p:sp>
        <p:nvSpPr>
          <p:cNvPr id="5" name="Rectangle 4"/>
          <p:cNvSpPr/>
          <p:nvPr/>
        </p:nvSpPr>
        <p:spPr>
          <a:xfrm>
            <a:off x="3413760" y="3423920"/>
            <a:ext cx="2489200" cy="35560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sz="1200"/>
          </a:p>
        </p:txBody>
      </p:sp>
      <p:sp>
        <p:nvSpPr>
          <p:cNvPr id="6" name="Rectangle 5"/>
          <p:cNvSpPr/>
          <p:nvPr/>
        </p:nvSpPr>
        <p:spPr>
          <a:xfrm>
            <a:off x="6299200" y="3423920"/>
            <a:ext cx="2529840" cy="35560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sz="1200"/>
          </a:p>
        </p:txBody>
      </p:sp>
      <p:sp>
        <p:nvSpPr>
          <p:cNvPr id="7" name="Rectangle 6"/>
          <p:cNvSpPr/>
          <p:nvPr/>
        </p:nvSpPr>
        <p:spPr>
          <a:xfrm>
            <a:off x="9316720" y="3423920"/>
            <a:ext cx="2529840" cy="35560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sz="1200"/>
          </a:p>
        </p:txBody>
      </p:sp>
      <p:sp>
        <p:nvSpPr>
          <p:cNvPr id="8" name="Rectangle 7"/>
          <p:cNvSpPr/>
          <p:nvPr/>
        </p:nvSpPr>
        <p:spPr>
          <a:xfrm>
            <a:off x="558800" y="172720"/>
            <a:ext cx="10871200" cy="650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2800" b="1" dirty="0">
                <a:solidFill>
                  <a:srgbClr val="082B59"/>
                </a:solidFill>
                <a:latin typeface="Arial"/>
              </a:rPr>
              <a:t>Four Businesses × AI Agents: From SI to Agentic SI</a:t>
            </a:r>
          </a:p>
        </p:txBody>
      </p:sp>
      <p:sp>
        <p:nvSpPr>
          <p:cNvPr id="9" name="Rectangle 8"/>
          <p:cNvSpPr/>
          <p:nvPr/>
        </p:nvSpPr>
        <p:spPr>
          <a:xfrm>
            <a:off x="558800" y="812800"/>
            <a:ext cx="1027176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sz="1400" b="0" dirty="0">
                <a:solidFill>
                  <a:srgbClr val="082B59"/>
                </a:solidFill>
                <a:latin typeface="Arial"/>
              </a:rPr>
              <a:t>Integrating AI agents across four businesses to build smarter, </a:t>
            </a:r>
            <a:r>
              <a:rPr lang="en-US" sz="1400" dirty="0">
                <a:solidFill>
                  <a:srgbClr val="082B59"/>
                </a:solidFill>
                <a:latin typeface="Arial"/>
              </a:rPr>
              <a:t>integrated system </a:t>
            </a:r>
            <a:r>
              <a:rPr lang="en-US" sz="1400" dirty="0" smtClean="0">
                <a:solidFill>
                  <a:srgbClr val="082B59"/>
                </a:solidFill>
                <a:latin typeface="Arial"/>
              </a:rPr>
              <a:t>services</a:t>
            </a:r>
            <a:r>
              <a:rPr lang="zh-TW" altLang="en-US" sz="1400" dirty="0" smtClean="0">
                <a:solidFill>
                  <a:srgbClr val="082B59"/>
                </a:solidFill>
                <a:latin typeface="Arial"/>
              </a:rPr>
              <a:t> </a:t>
            </a:r>
            <a:r>
              <a:rPr sz="1400" b="0" dirty="0" smtClean="0">
                <a:solidFill>
                  <a:srgbClr val="082B59"/>
                </a:solidFill>
                <a:latin typeface="Arial"/>
              </a:rPr>
              <a:t>for </a:t>
            </a:r>
            <a:r>
              <a:rPr sz="1400" b="0" dirty="0">
                <a:solidFill>
                  <a:srgbClr val="082B59"/>
                </a:solidFill>
                <a:latin typeface="Arial"/>
              </a:rPr>
              <a:t>enterprise transformation.</a:t>
            </a:r>
          </a:p>
        </p:txBody>
      </p:sp>
      <p:sp>
        <p:nvSpPr>
          <p:cNvPr id="10" name="Rectangle 9"/>
          <p:cNvSpPr/>
          <p:nvPr/>
        </p:nvSpPr>
        <p:spPr>
          <a:xfrm>
            <a:off x="1178560" y="2936240"/>
            <a:ext cx="1747520" cy="335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500" b="1">
                <a:solidFill>
                  <a:srgbClr val="082B59"/>
                </a:solidFill>
                <a:latin typeface="Arial"/>
              </a:rPr>
              <a:t>Smart Transportation</a:t>
            </a:r>
          </a:p>
        </p:txBody>
      </p:sp>
      <p:sp>
        <p:nvSpPr>
          <p:cNvPr id="11" name="Rectangle 10"/>
          <p:cNvSpPr/>
          <p:nvPr/>
        </p:nvSpPr>
        <p:spPr>
          <a:xfrm>
            <a:off x="558800" y="3413760"/>
            <a:ext cx="2367280" cy="35560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lang="en-US" sz="1200" dirty="0">
                <a:solidFill>
                  <a:srgbClr val="082B59"/>
                </a:solidFill>
                <a:latin typeface="Arial"/>
              </a:rPr>
              <a:t>Smart rail and ticketing systems</a:t>
            </a:r>
            <a:endParaRPr sz="1200" b="0" dirty="0">
              <a:solidFill>
                <a:srgbClr val="082B59"/>
              </a:solidFill>
              <a:latin typeface="Arial"/>
            </a:endParaRPr>
          </a:p>
        </p:txBody>
      </p:sp>
      <p:sp>
        <p:nvSpPr>
          <p:cNvPr id="12" name="Rectangle 11"/>
          <p:cNvSpPr/>
          <p:nvPr/>
        </p:nvSpPr>
        <p:spPr>
          <a:xfrm>
            <a:off x="4135120" y="2936240"/>
            <a:ext cx="1788160" cy="335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500" b="1">
                <a:solidFill>
                  <a:srgbClr val="082B59"/>
                </a:solidFill>
                <a:latin typeface="Arial"/>
              </a:rPr>
              <a:t>Application Systems</a:t>
            </a:r>
          </a:p>
        </p:txBody>
      </p:sp>
      <p:sp>
        <p:nvSpPr>
          <p:cNvPr id="13" name="Rectangle 12"/>
          <p:cNvSpPr/>
          <p:nvPr/>
        </p:nvSpPr>
        <p:spPr>
          <a:xfrm>
            <a:off x="3561080" y="3398520"/>
            <a:ext cx="2194560" cy="3454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200" b="0" dirty="0">
                <a:solidFill>
                  <a:srgbClr val="082B59"/>
                </a:solidFill>
                <a:latin typeface="Arial"/>
              </a:rPr>
              <a:t>Smart government </a:t>
            </a:r>
            <a:r>
              <a:rPr sz="1200" b="0" dirty="0" smtClean="0">
                <a:solidFill>
                  <a:srgbClr val="082B59"/>
                </a:solidFill>
                <a:latin typeface="Arial"/>
              </a:rPr>
              <a:t>and</a:t>
            </a:r>
            <a:r>
              <a:rPr lang="zh-TW" altLang="en-US" sz="1200" b="0" dirty="0" smtClean="0">
                <a:solidFill>
                  <a:srgbClr val="082B59"/>
                </a:solidFill>
                <a:latin typeface="Arial"/>
              </a:rPr>
              <a:t> </a:t>
            </a:r>
            <a:endParaRPr lang="en-US" altLang="zh-TW" sz="1200" b="0" dirty="0" smtClean="0">
              <a:solidFill>
                <a:srgbClr val="082B59"/>
              </a:solidFill>
              <a:latin typeface="Arial"/>
            </a:endParaRPr>
          </a:p>
          <a:p>
            <a:pPr algn="ctr">
              <a:spcBef>
                <a:spcPts val="0"/>
              </a:spcBef>
              <a:spcAft>
                <a:spcPts val="0"/>
              </a:spcAft>
            </a:pPr>
            <a:r>
              <a:rPr lang="en-US" sz="1200" dirty="0" smtClean="0">
                <a:solidFill>
                  <a:srgbClr val="082B59"/>
                </a:solidFill>
                <a:latin typeface="Arial"/>
              </a:rPr>
              <a:t>software development</a:t>
            </a:r>
            <a:r>
              <a:rPr lang="zh-TW" altLang="en-US" sz="1200" dirty="0" smtClean="0">
                <a:solidFill>
                  <a:srgbClr val="082B59"/>
                </a:solidFill>
                <a:latin typeface="Arial"/>
              </a:rPr>
              <a:t> </a:t>
            </a:r>
            <a:endParaRPr sz="1200" b="0" dirty="0">
              <a:solidFill>
                <a:srgbClr val="082B59"/>
              </a:solidFill>
              <a:latin typeface="Arial"/>
            </a:endParaRPr>
          </a:p>
        </p:txBody>
      </p:sp>
      <p:sp>
        <p:nvSpPr>
          <p:cNvPr id="14" name="Rectangle 13"/>
          <p:cNvSpPr/>
          <p:nvPr/>
        </p:nvSpPr>
        <p:spPr>
          <a:xfrm>
            <a:off x="7051040" y="2905225"/>
            <a:ext cx="1778000" cy="43206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lang="en-US" sz="1500" b="1" dirty="0">
                <a:solidFill>
                  <a:srgbClr val="082B59"/>
                </a:solidFill>
                <a:latin typeface="Arial"/>
              </a:rPr>
              <a:t>Drones and Smart Security</a:t>
            </a:r>
            <a:endParaRPr sz="1500" b="1" dirty="0">
              <a:solidFill>
                <a:srgbClr val="082B59"/>
              </a:solidFill>
              <a:latin typeface="Arial"/>
            </a:endParaRPr>
          </a:p>
        </p:txBody>
      </p:sp>
      <p:sp>
        <p:nvSpPr>
          <p:cNvPr id="15" name="Rectangle 14"/>
          <p:cNvSpPr/>
          <p:nvPr/>
        </p:nvSpPr>
        <p:spPr>
          <a:xfrm>
            <a:off x="6299200" y="3449052"/>
            <a:ext cx="2540000" cy="3454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200" b="0" dirty="0">
                <a:solidFill>
                  <a:srgbClr val="082B59"/>
                </a:solidFill>
                <a:latin typeface="Arial"/>
              </a:rPr>
              <a:t>Security technology and smart surveillance</a:t>
            </a:r>
          </a:p>
        </p:txBody>
      </p:sp>
      <p:sp>
        <p:nvSpPr>
          <p:cNvPr id="16" name="Rectangle 15"/>
          <p:cNvSpPr/>
          <p:nvPr/>
        </p:nvSpPr>
        <p:spPr>
          <a:xfrm>
            <a:off x="9875520" y="2936240"/>
            <a:ext cx="1981200" cy="335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lang="en-US" sz="1400" b="1" dirty="0">
                <a:solidFill>
                  <a:srgbClr val="082B59"/>
                </a:solidFill>
                <a:latin typeface="Arial"/>
              </a:rPr>
              <a:t>Digital Transformation &amp; AI Applications</a:t>
            </a:r>
            <a:endParaRPr sz="1400" b="1" dirty="0">
              <a:solidFill>
                <a:srgbClr val="082B59"/>
              </a:solidFill>
              <a:latin typeface="Arial"/>
            </a:endParaRPr>
          </a:p>
        </p:txBody>
      </p:sp>
      <p:sp>
        <p:nvSpPr>
          <p:cNvPr id="17" name="Rectangle 16"/>
          <p:cNvSpPr/>
          <p:nvPr/>
        </p:nvSpPr>
        <p:spPr>
          <a:xfrm>
            <a:off x="9672320" y="3423920"/>
            <a:ext cx="2387600" cy="3454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200" b="0">
                <a:solidFill>
                  <a:srgbClr val="082B59"/>
                </a:solidFill>
                <a:latin typeface="Arial"/>
              </a:rPr>
              <a:t>Data applications and intelligent services</a:t>
            </a:r>
          </a:p>
        </p:txBody>
      </p:sp>
      <p:sp>
        <p:nvSpPr>
          <p:cNvPr id="18" name="Rectangle 17"/>
          <p:cNvSpPr/>
          <p:nvPr/>
        </p:nvSpPr>
        <p:spPr>
          <a:xfrm>
            <a:off x="5669280" y="4277360"/>
            <a:ext cx="2286000" cy="48768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700" b="1">
                <a:solidFill>
                  <a:srgbClr val="082B59"/>
                </a:solidFill>
                <a:latin typeface="Arial"/>
              </a:rPr>
              <a:t>Industry Use Cases</a:t>
            </a:r>
          </a:p>
        </p:txBody>
      </p:sp>
      <p:sp>
        <p:nvSpPr>
          <p:cNvPr id="19" name="Rectangle 18"/>
          <p:cNvSpPr/>
          <p:nvPr/>
        </p:nvSpPr>
        <p:spPr>
          <a:xfrm>
            <a:off x="3474720" y="5090160"/>
            <a:ext cx="1402080" cy="314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400" b="1" dirty="0">
                <a:solidFill>
                  <a:srgbClr val="082B59"/>
                </a:solidFill>
                <a:latin typeface="Arial"/>
              </a:rPr>
              <a:t>Domain Knowledge</a:t>
            </a:r>
          </a:p>
        </p:txBody>
      </p:sp>
      <p:sp>
        <p:nvSpPr>
          <p:cNvPr id="20" name="Rectangle 19"/>
          <p:cNvSpPr/>
          <p:nvPr/>
        </p:nvSpPr>
        <p:spPr>
          <a:xfrm>
            <a:off x="5842000" y="5090160"/>
            <a:ext cx="1137920" cy="314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400" b="1">
                <a:solidFill>
                  <a:srgbClr val="082B59"/>
                </a:solidFill>
                <a:latin typeface="Arial"/>
              </a:rPr>
              <a:t>Customer Data</a:t>
            </a:r>
          </a:p>
        </p:txBody>
      </p:sp>
      <p:sp>
        <p:nvSpPr>
          <p:cNvPr id="21" name="Rectangle 20"/>
          <p:cNvSpPr/>
          <p:nvPr/>
        </p:nvSpPr>
        <p:spPr>
          <a:xfrm>
            <a:off x="8382000" y="5090160"/>
            <a:ext cx="1341120" cy="314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400" b="1">
                <a:solidFill>
                  <a:srgbClr val="082B59"/>
                </a:solidFill>
                <a:latin typeface="Arial"/>
              </a:rPr>
              <a:t>Workflows</a:t>
            </a:r>
          </a:p>
        </p:txBody>
      </p:sp>
      <p:sp>
        <p:nvSpPr>
          <p:cNvPr id="22" name="Rectangle 21"/>
          <p:cNvSpPr/>
          <p:nvPr/>
        </p:nvSpPr>
        <p:spPr>
          <a:xfrm>
            <a:off x="2153920" y="5679440"/>
            <a:ext cx="8890000" cy="396240"/>
          </a:xfrm>
          <a:prstGeom prst="rect">
            <a:avLst/>
          </a:prstGeom>
          <a:solidFill>
            <a:srgbClr val="154F93"/>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400" b="1" dirty="0">
                <a:solidFill>
                  <a:srgbClr val="FFFFFF"/>
                </a:solidFill>
                <a:latin typeface="Arial"/>
              </a:rPr>
              <a:t>AI agents integrate domain knowledge with customer data into operational workflows, driving execution of specific tasks and business </a:t>
            </a:r>
            <a:r>
              <a:rPr lang="en-US" sz="1400" b="1" dirty="0" smtClean="0">
                <a:solidFill>
                  <a:srgbClr val="FFFFFF"/>
                </a:solidFill>
                <a:latin typeface="Arial"/>
              </a:rPr>
              <a:t>upgrades</a:t>
            </a:r>
            <a:r>
              <a:rPr sz="1400" b="1" dirty="0" smtClean="0">
                <a:solidFill>
                  <a:srgbClr val="FFFFFF"/>
                </a:solidFill>
                <a:latin typeface="Arial"/>
              </a:rPr>
              <a:t>.</a:t>
            </a:r>
            <a:endParaRPr sz="1400" b="1" dirty="0">
              <a:solidFill>
                <a:srgbClr val="FFFFFF"/>
              </a:solidFill>
              <a:latin typeface="Arial"/>
            </a:endParaRPr>
          </a:p>
        </p:txBody>
      </p:sp>
      <p:pic>
        <p:nvPicPr>
          <p:cNvPr id="24" name="圖片 23"/>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6275315"/>
            <a:ext cx="2412000" cy="414027"/>
          </a:xfrm>
          <a:prstGeom prst="rect">
            <a:avLst/>
          </a:prstGeom>
        </p:spPr>
      </p:pic>
    </p:spTree>
    <p:extLst>
      <p:ext uri="{BB962C8B-B14F-4D97-AF65-F5344CB8AC3E}">
        <p14:creationId xmlns:p14="http://schemas.microsoft.com/office/powerpoint/2010/main" val="38508175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9" y="-30"/>
            <a:ext cx="12204000" cy="6868412"/>
          </a:xfrm>
          <a:prstGeom prst="rect">
            <a:avLst/>
          </a:prstGeom>
        </p:spPr>
      </p:pic>
      <p:sp>
        <p:nvSpPr>
          <p:cNvPr id="3" name="Rectangle 2"/>
          <p:cNvSpPr/>
          <p:nvPr/>
        </p:nvSpPr>
        <p:spPr>
          <a:xfrm>
            <a:off x="619760" y="345440"/>
            <a:ext cx="10932160" cy="528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2600" b="1">
                <a:solidFill>
                  <a:srgbClr val="082B59"/>
                </a:solidFill>
                <a:latin typeface="Arial"/>
              </a:rPr>
              <a:t>AI Agent Use Cases Across Core Operations and Industry Verticals</a:t>
            </a:r>
          </a:p>
        </p:txBody>
      </p:sp>
      <p:sp>
        <p:nvSpPr>
          <p:cNvPr id="4" name="Rectangle 3"/>
          <p:cNvSpPr/>
          <p:nvPr/>
        </p:nvSpPr>
        <p:spPr>
          <a:xfrm>
            <a:off x="1310640" y="1371600"/>
            <a:ext cx="1178560" cy="48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700" b="1" dirty="0">
                <a:solidFill>
                  <a:srgbClr val="082B59"/>
                </a:solidFill>
                <a:latin typeface="Arial"/>
              </a:rPr>
              <a:t>Operations</a:t>
            </a:r>
          </a:p>
        </p:txBody>
      </p:sp>
      <p:sp>
        <p:nvSpPr>
          <p:cNvPr id="5" name="Rectangle 4"/>
          <p:cNvSpPr/>
          <p:nvPr/>
        </p:nvSpPr>
        <p:spPr>
          <a:xfrm>
            <a:off x="3667760" y="1395128"/>
            <a:ext cx="1178560" cy="48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700" b="1">
                <a:solidFill>
                  <a:srgbClr val="082B59"/>
                </a:solidFill>
                <a:latin typeface="Arial"/>
              </a:rPr>
              <a:t>Sales</a:t>
            </a:r>
          </a:p>
        </p:txBody>
      </p:sp>
      <p:sp>
        <p:nvSpPr>
          <p:cNvPr id="6" name="Rectangle 5"/>
          <p:cNvSpPr/>
          <p:nvPr/>
        </p:nvSpPr>
        <p:spPr>
          <a:xfrm>
            <a:off x="6024880" y="1409833"/>
            <a:ext cx="1049688" cy="48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700" b="1">
                <a:solidFill>
                  <a:srgbClr val="082B59"/>
                </a:solidFill>
                <a:latin typeface="Arial"/>
              </a:rPr>
              <a:t>HR</a:t>
            </a:r>
          </a:p>
        </p:txBody>
      </p:sp>
      <p:sp>
        <p:nvSpPr>
          <p:cNvPr id="7" name="Rectangle 6"/>
          <p:cNvSpPr/>
          <p:nvPr/>
        </p:nvSpPr>
        <p:spPr>
          <a:xfrm>
            <a:off x="8503920" y="1391920"/>
            <a:ext cx="792480" cy="48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700" b="1" dirty="0">
                <a:solidFill>
                  <a:srgbClr val="082B59"/>
                </a:solidFill>
                <a:latin typeface="Arial"/>
              </a:rPr>
              <a:t>R&amp;D</a:t>
            </a:r>
          </a:p>
        </p:txBody>
      </p:sp>
      <p:sp>
        <p:nvSpPr>
          <p:cNvPr id="8" name="Rectangle 7"/>
          <p:cNvSpPr/>
          <p:nvPr/>
        </p:nvSpPr>
        <p:spPr>
          <a:xfrm>
            <a:off x="10769600" y="1391920"/>
            <a:ext cx="1137920" cy="487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700" b="1">
                <a:solidFill>
                  <a:srgbClr val="082B59"/>
                </a:solidFill>
                <a:latin typeface="Arial"/>
              </a:rPr>
              <a:t>Finance</a:t>
            </a:r>
          </a:p>
        </p:txBody>
      </p:sp>
      <p:sp>
        <p:nvSpPr>
          <p:cNvPr id="9" name="Rectangle 8"/>
          <p:cNvSpPr/>
          <p:nvPr/>
        </p:nvSpPr>
        <p:spPr>
          <a:xfrm>
            <a:off x="792480" y="2143760"/>
            <a:ext cx="1818640" cy="1209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300" b="0" dirty="0">
                <a:solidFill>
                  <a:srgbClr val="082B59"/>
                </a:solidFill>
                <a:latin typeface="Arial"/>
              </a:rPr>
              <a:t>Intelligent workflow tracking</a:t>
            </a:r>
          </a:p>
          <a:p>
            <a:pPr algn="l">
              <a:spcBef>
                <a:spcPts val="0"/>
              </a:spcBef>
              <a:spcAft>
                <a:spcPts val="0"/>
              </a:spcAft>
            </a:pPr>
            <a:r>
              <a:rPr sz="1300" b="0" dirty="0">
                <a:solidFill>
                  <a:srgbClr val="082B59"/>
                </a:solidFill>
                <a:latin typeface="Arial"/>
              </a:rPr>
              <a:t>Automatic anomaly alerts</a:t>
            </a:r>
          </a:p>
        </p:txBody>
      </p:sp>
      <p:sp>
        <p:nvSpPr>
          <p:cNvPr id="10" name="Rectangle 9"/>
          <p:cNvSpPr/>
          <p:nvPr/>
        </p:nvSpPr>
        <p:spPr>
          <a:xfrm>
            <a:off x="3120189" y="2197768"/>
            <a:ext cx="1675331" cy="1155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300" b="0" dirty="0">
                <a:solidFill>
                  <a:srgbClr val="082B59"/>
                </a:solidFill>
              </a:rPr>
              <a:t>High-conversion copy generation</a:t>
            </a:r>
          </a:p>
          <a:p>
            <a:pPr algn="l">
              <a:spcBef>
                <a:spcPts val="0"/>
              </a:spcBef>
              <a:spcAft>
                <a:spcPts val="0"/>
              </a:spcAft>
            </a:pPr>
            <a:r>
              <a:rPr sz="1300" b="0" dirty="0">
                <a:solidFill>
                  <a:srgbClr val="082B59"/>
                </a:solidFill>
              </a:rPr>
              <a:t>Customer intent analysis and support</a:t>
            </a:r>
          </a:p>
        </p:txBody>
      </p:sp>
      <p:sp>
        <p:nvSpPr>
          <p:cNvPr id="11" name="Rectangle 10"/>
          <p:cNvSpPr/>
          <p:nvPr/>
        </p:nvSpPr>
        <p:spPr>
          <a:xfrm>
            <a:off x="5462337" y="2143760"/>
            <a:ext cx="1732548" cy="111679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300" b="0" dirty="0">
                <a:solidFill>
                  <a:srgbClr val="082B59"/>
                </a:solidFill>
              </a:rPr>
              <a:t>Smart résumé </a:t>
            </a:r>
            <a:r>
              <a:rPr sz="1300" b="0" dirty="0" smtClean="0">
                <a:solidFill>
                  <a:srgbClr val="082B59"/>
                </a:solidFill>
              </a:rPr>
              <a:t>screening</a:t>
            </a:r>
            <a:endParaRPr lang="en-US" sz="1300" b="0" dirty="0" smtClean="0">
              <a:solidFill>
                <a:srgbClr val="082B59"/>
              </a:solidFill>
            </a:endParaRPr>
          </a:p>
          <a:p>
            <a:pPr algn="l">
              <a:spcBef>
                <a:spcPts val="0"/>
              </a:spcBef>
              <a:spcAft>
                <a:spcPts val="0"/>
              </a:spcAft>
            </a:pPr>
            <a:endParaRPr lang="en-US" sz="1300" b="0" dirty="0" smtClean="0">
              <a:solidFill>
                <a:srgbClr val="082B59"/>
              </a:solidFill>
            </a:endParaRPr>
          </a:p>
          <a:p>
            <a:pPr algn="l">
              <a:spcBef>
                <a:spcPts val="0"/>
              </a:spcBef>
              <a:spcAft>
                <a:spcPts val="0"/>
              </a:spcAft>
            </a:pPr>
            <a:r>
              <a:rPr sz="1300" b="0" dirty="0" smtClean="0">
                <a:solidFill>
                  <a:srgbClr val="082B59"/>
                </a:solidFill>
              </a:rPr>
              <a:t>Attendance </a:t>
            </a:r>
            <a:r>
              <a:rPr sz="1300" b="0" dirty="0">
                <a:solidFill>
                  <a:srgbClr val="082B59"/>
                </a:solidFill>
              </a:rPr>
              <a:t>policy Q&amp;A and training</a:t>
            </a:r>
          </a:p>
        </p:txBody>
      </p:sp>
      <p:sp>
        <p:nvSpPr>
          <p:cNvPr id="12" name="Rectangle 11"/>
          <p:cNvSpPr/>
          <p:nvPr/>
        </p:nvSpPr>
        <p:spPr>
          <a:xfrm>
            <a:off x="7861702" y="2194560"/>
            <a:ext cx="1739498" cy="107699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300" b="0" dirty="0">
                <a:solidFill>
                  <a:srgbClr val="082B59"/>
                </a:solidFill>
              </a:rPr>
              <a:t>Patent document analysis</a:t>
            </a:r>
          </a:p>
          <a:p>
            <a:r>
              <a:rPr lang="en-US" sz="1300" dirty="0">
                <a:solidFill>
                  <a:srgbClr val="082B59"/>
                </a:solidFill>
              </a:rPr>
              <a:t>Code review, optimization, and literature summarization</a:t>
            </a:r>
            <a:endParaRPr sz="1300" b="0" dirty="0">
              <a:solidFill>
                <a:srgbClr val="082B59"/>
              </a:solidFill>
            </a:endParaRPr>
          </a:p>
        </p:txBody>
      </p:sp>
      <p:sp>
        <p:nvSpPr>
          <p:cNvPr id="13" name="Rectangle 12"/>
          <p:cNvSpPr/>
          <p:nvPr/>
        </p:nvSpPr>
        <p:spPr>
          <a:xfrm>
            <a:off x="10151980" y="2225040"/>
            <a:ext cx="1755540" cy="104651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300" b="0" dirty="0">
                <a:solidFill>
                  <a:srgbClr val="082B59"/>
                </a:solidFill>
              </a:rPr>
              <a:t>Automated document OCR</a:t>
            </a:r>
          </a:p>
          <a:p>
            <a:pPr algn="l">
              <a:spcBef>
                <a:spcPts val="0"/>
              </a:spcBef>
              <a:spcAft>
                <a:spcPts val="0"/>
              </a:spcAft>
            </a:pPr>
            <a:r>
              <a:rPr sz="1300" b="0" dirty="0">
                <a:solidFill>
                  <a:srgbClr val="082B59"/>
                </a:solidFill>
              </a:rPr>
              <a:t>Financial report anomaly monitoring</a:t>
            </a:r>
          </a:p>
        </p:txBody>
      </p:sp>
      <p:sp>
        <p:nvSpPr>
          <p:cNvPr id="14" name="Rectangle 13"/>
          <p:cNvSpPr/>
          <p:nvPr/>
        </p:nvSpPr>
        <p:spPr>
          <a:xfrm>
            <a:off x="1432560" y="3820160"/>
            <a:ext cx="2357120" cy="4876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700" b="1">
                <a:solidFill>
                  <a:srgbClr val="082B59"/>
                </a:solidFill>
                <a:latin typeface="Arial"/>
              </a:rPr>
              <a:t>Smart Rail</a:t>
            </a:r>
          </a:p>
        </p:txBody>
      </p:sp>
      <p:sp>
        <p:nvSpPr>
          <p:cNvPr id="15" name="Rectangle 14"/>
          <p:cNvSpPr/>
          <p:nvPr/>
        </p:nvSpPr>
        <p:spPr>
          <a:xfrm>
            <a:off x="5115560" y="3820160"/>
            <a:ext cx="2854960" cy="4876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700" b="1" dirty="0" smtClean="0">
                <a:solidFill>
                  <a:srgbClr val="082B59"/>
                </a:solidFill>
                <a:latin typeface="Arial"/>
              </a:rPr>
              <a:t>Proactive </a:t>
            </a:r>
            <a:r>
              <a:rPr lang="en-US" sz="1700" b="1" dirty="0">
                <a:solidFill>
                  <a:srgbClr val="082B59"/>
                </a:solidFill>
                <a:latin typeface="Arial"/>
              </a:rPr>
              <a:t>AI Advisor for ESG GHG Inventory</a:t>
            </a:r>
            <a:endParaRPr sz="1700" b="1" dirty="0">
              <a:solidFill>
                <a:srgbClr val="082B59"/>
              </a:solidFill>
              <a:latin typeface="Arial"/>
            </a:endParaRPr>
          </a:p>
        </p:txBody>
      </p:sp>
      <p:sp>
        <p:nvSpPr>
          <p:cNvPr id="16" name="Rectangle 15"/>
          <p:cNvSpPr/>
          <p:nvPr/>
        </p:nvSpPr>
        <p:spPr>
          <a:xfrm>
            <a:off x="9296400" y="3820160"/>
            <a:ext cx="2489200" cy="4876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700" b="1">
                <a:solidFill>
                  <a:srgbClr val="082B59"/>
                </a:solidFill>
                <a:latin typeface="Arial"/>
              </a:rPr>
              <a:t>Smart Education Solutions</a:t>
            </a:r>
          </a:p>
        </p:txBody>
      </p:sp>
      <p:sp>
        <p:nvSpPr>
          <p:cNvPr id="17" name="Rectangle 16"/>
          <p:cNvSpPr/>
          <p:nvPr/>
        </p:nvSpPr>
        <p:spPr>
          <a:xfrm>
            <a:off x="934720" y="4622800"/>
            <a:ext cx="2865120" cy="1341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100" b="0" dirty="0">
                <a:solidFill>
                  <a:srgbClr val="082B59"/>
                </a:solidFill>
                <a:latin typeface="Arial"/>
              </a:rPr>
              <a:t>Predictive maintenance helps identify equipment status.</a:t>
            </a:r>
          </a:p>
          <a:p>
            <a:pPr algn="l">
              <a:spcBef>
                <a:spcPts val="0"/>
              </a:spcBef>
              <a:spcAft>
                <a:spcPts val="0"/>
              </a:spcAft>
            </a:pPr>
            <a:endParaRPr sz="1100" b="0" dirty="0">
              <a:solidFill>
                <a:srgbClr val="082B59"/>
              </a:solidFill>
              <a:latin typeface="Arial"/>
            </a:endParaRPr>
          </a:p>
          <a:p>
            <a:r>
              <a:rPr sz="1100" b="0" dirty="0">
                <a:solidFill>
                  <a:srgbClr val="082B59"/>
                </a:solidFill>
                <a:latin typeface="Arial"/>
              </a:rPr>
              <a:t>Smart Kiosk unmanned platform </a:t>
            </a:r>
            <a:r>
              <a:rPr lang="en-US" sz="1100" dirty="0">
                <a:solidFill>
                  <a:srgbClr val="082B59"/>
                </a:solidFill>
                <a:latin typeface="Arial"/>
              </a:rPr>
              <a:t>supports deep semantic sign language </a:t>
            </a:r>
            <a:r>
              <a:rPr lang="en-US" sz="1100" dirty="0" smtClean="0">
                <a:solidFill>
                  <a:srgbClr val="082B59"/>
                </a:solidFill>
                <a:latin typeface="Arial"/>
              </a:rPr>
              <a:t>recognition.</a:t>
            </a:r>
            <a:endParaRPr sz="1100" b="0" dirty="0">
              <a:solidFill>
                <a:srgbClr val="082B59"/>
              </a:solidFill>
              <a:latin typeface="Arial"/>
            </a:endParaRPr>
          </a:p>
        </p:txBody>
      </p:sp>
      <p:sp>
        <p:nvSpPr>
          <p:cNvPr id="18" name="Rectangle 17"/>
          <p:cNvSpPr/>
          <p:nvPr/>
        </p:nvSpPr>
        <p:spPr>
          <a:xfrm>
            <a:off x="4795520" y="4622800"/>
            <a:ext cx="3037840" cy="1341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100" b="0">
                <a:solidFill>
                  <a:srgbClr val="082B59"/>
                </a:solidFill>
                <a:latin typeface="Arial"/>
              </a:rPr>
              <a:t>Accelerates corporate net-zero transition and supports CBAM compliance.</a:t>
            </a:r>
          </a:p>
          <a:p>
            <a:pPr algn="l">
              <a:spcBef>
                <a:spcPts val="0"/>
              </a:spcBef>
              <a:spcAft>
                <a:spcPts val="0"/>
              </a:spcAft>
            </a:pPr>
            <a:endParaRPr sz="1100" b="0">
              <a:solidFill>
                <a:srgbClr val="082B59"/>
              </a:solidFill>
              <a:latin typeface="Arial"/>
            </a:endParaRPr>
          </a:p>
          <a:p>
            <a:pPr algn="l">
              <a:spcBef>
                <a:spcPts val="0"/>
              </a:spcBef>
              <a:spcAft>
                <a:spcPts val="0"/>
              </a:spcAft>
            </a:pPr>
            <a:r>
              <a:rPr sz="1100" b="0">
                <a:solidFill>
                  <a:srgbClr val="082B59"/>
                </a:solidFill>
                <a:latin typeface="Arial"/>
              </a:rPr>
              <a:t>Combines IoT energy data with an ISO 14064 regulatory knowledge base.</a:t>
            </a:r>
          </a:p>
        </p:txBody>
      </p:sp>
      <p:sp>
        <p:nvSpPr>
          <p:cNvPr id="19" name="Rectangle 18"/>
          <p:cNvSpPr/>
          <p:nvPr/>
        </p:nvSpPr>
        <p:spPr>
          <a:xfrm>
            <a:off x="8778240" y="4622800"/>
            <a:ext cx="2936240" cy="1341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100" b="0" dirty="0">
                <a:solidFill>
                  <a:srgbClr val="082B59"/>
                </a:solidFill>
                <a:latin typeface="Arial"/>
              </a:rPr>
              <a:t>AI creates personalized learning diagnostics and academic guidance.</a:t>
            </a:r>
          </a:p>
          <a:p>
            <a:pPr algn="l">
              <a:spcBef>
                <a:spcPts val="0"/>
              </a:spcBef>
              <a:spcAft>
                <a:spcPts val="0"/>
              </a:spcAft>
            </a:pPr>
            <a:endParaRPr sz="1100" b="0" dirty="0">
              <a:solidFill>
                <a:srgbClr val="082B59"/>
              </a:solidFill>
              <a:latin typeface="Arial"/>
            </a:endParaRPr>
          </a:p>
          <a:p>
            <a:r>
              <a:rPr lang="en-US" sz="1100" dirty="0">
                <a:solidFill>
                  <a:srgbClr val="082B59"/>
                </a:solidFill>
                <a:latin typeface="Arial"/>
              </a:rPr>
              <a:t>Ensures on-premises execution to protect student data privacy while reducing teachers' workload.</a:t>
            </a:r>
            <a:endParaRPr sz="1100" b="0" dirty="0">
              <a:solidFill>
                <a:srgbClr val="082B59"/>
              </a:solidFill>
              <a:latin typeface="Arial"/>
            </a:endParaRPr>
          </a:p>
        </p:txBody>
      </p:sp>
      <p:pic>
        <p:nvPicPr>
          <p:cNvPr id="21" name="圖片 20"/>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6275315"/>
            <a:ext cx="2611120" cy="448207"/>
          </a:xfrm>
          <a:prstGeom prst="rect">
            <a:avLst/>
          </a:prstGeom>
        </p:spPr>
      </p:pic>
    </p:spTree>
    <p:extLst>
      <p:ext uri="{BB962C8B-B14F-4D97-AF65-F5344CB8AC3E}">
        <p14:creationId xmlns:p14="http://schemas.microsoft.com/office/powerpoint/2010/main" val="10501408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024" y="0"/>
            <a:ext cx="12204000" cy="6861087"/>
          </a:xfrm>
          <a:prstGeom prst="rect">
            <a:avLst/>
          </a:prstGeom>
        </p:spPr>
      </p:pic>
      <p:pic>
        <p:nvPicPr>
          <p:cNvPr id="3" name="圖片 2"/>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03032" y="2339995"/>
            <a:ext cx="11613985" cy="969736"/>
          </a:xfrm>
          <a:prstGeom prst="roundRect">
            <a:avLst/>
          </a:prstGeom>
        </p:spPr>
      </p:pic>
      <p:pic>
        <p:nvPicPr>
          <p:cNvPr id="4" name="圖片 3"/>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433137" y="183741"/>
            <a:ext cx="8277726" cy="1974307"/>
          </a:xfrm>
          <a:prstGeom prst="rect">
            <a:avLst/>
          </a:prstGeom>
        </p:spPr>
      </p:pic>
      <p:sp>
        <p:nvSpPr>
          <p:cNvPr id="6" name="TextBox 49"/>
          <p:cNvSpPr txBox="1"/>
          <p:nvPr/>
        </p:nvSpPr>
        <p:spPr>
          <a:xfrm>
            <a:off x="10131553" y="1602690"/>
            <a:ext cx="1785464" cy="646331"/>
          </a:xfrm>
          <a:prstGeom prst="rect">
            <a:avLst/>
          </a:prstGeom>
          <a:solidFill>
            <a:schemeClr val="bg1"/>
          </a:solidFill>
        </p:spPr>
        <p:txBody>
          <a:bodyPr wrap="square" lIns="0" tIns="0" rIns="0" bIns="0" anchor="t">
            <a:spAutoFit/>
          </a:bodyPr>
          <a:lstStyle/>
          <a:p>
            <a:r>
              <a:rPr lang="en-US" altLang="zh-TW" sz="1400" dirty="0" smtClean="0"/>
              <a:t>Commercial </a:t>
            </a:r>
            <a:r>
              <a:rPr lang="en-US" altLang="zh-TW" sz="1400" dirty="0"/>
              <a:t>Operation / </a:t>
            </a:r>
            <a:endParaRPr lang="en-US" altLang="zh-TW" sz="1400" dirty="0" smtClean="0"/>
          </a:p>
          <a:p>
            <a:r>
              <a:rPr lang="en-US" altLang="zh-TW" sz="1400" dirty="0" smtClean="0"/>
              <a:t>Equipment </a:t>
            </a:r>
            <a:r>
              <a:rPr lang="en-US" altLang="zh-TW" sz="1400" dirty="0"/>
              <a:t>Registration </a:t>
            </a:r>
            <a:endParaRPr lang="en-US" altLang="zh-TW" sz="1400" dirty="0" smtClean="0"/>
          </a:p>
          <a:p>
            <a:r>
              <a:rPr lang="en-US" altLang="zh-TW" sz="1400" dirty="0" smtClean="0"/>
              <a:t>Complete</a:t>
            </a:r>
            <a:endParaRPr lang="zh-TW" altLang="en-US" sz="1400" dirty="0"/>
          </a:p>
        </p:txBody>
      </p:sp>
      <p:sp>
        <p:nvSpPr>
          <p:cNvPr id="7" name="TextBox 49"/>
          <p:cNvSpPr txBox="1"/>
          <p:nvPr/>
        </p:nvSpPr>
        <p:spPr>
          <a:xfrm>
            <a:off x="10131553" y="1170894"/>
            <a:ext cx="1178131" cy="431796"/>
          </a:xfrm>
          <a:prstGeom prst="rect">
            <a:avLst/>
          </a:prstGeom>
          <a:solidFill>
            <a:schemeClr val="bg1"/>
          </a:solidFill>
        </p:spPr>
        <p:txBody>
          <a:bodyPr wrap="square" lIns="0" tIns="0" rIns="0" bIns="0" anchor="t">
            <a:spAutoFit/>
          </a:bodyPr>
          <a:lstStyle/>
          <a:p>
            <a:r>
              <a:rPr lang="en-US" altLang="zh-TW" sz="1400" b="1" dirty="0"/>
              <a:t>Operational </a:t>
            </a:r>
            <a:endParaRPr lang="en-US" altLang="zh-TW" sz="1400" b="1" dirty="0" smtClean="0"/>
          </a:p>
          <a:p>
            <a:r>
              <a:rPr lang="en-US" altLang="zh-TW" sz="1400" b="1" dirty="0" smtClean="0"/>
              <a:t>Highlight</a:t>
            </a:r>
            <a:r>
              <a:rPr lang="zh-TW" altLang="en-US" sz="1400" b="1" dirty="0" smtClean="0"/>
              <a:t>：</a:t>
            </a:r>
            <a:endParaRPr lang="en-US" altLang="zh-TW" sz="1400" b="1" dirty="0" smtClean="0"/>
          </a:p>
        </p:txBody>
      </p:sp>
      <p:sp>
        <p:nvSpPr>
          <p:cNvPr id="8" name="TextBox 56"/>
          <p:cNvSpPr txBox="1"/>
          <p:nvPr/>
        </p:nvSpPr>
        <p:spPr>
          <a:xfrm>
            <a:off x="930276" y="4868422"/>
            <a:ext cx="5017114" cy="430887"/>
          </a:xfrm>
          <a:prstGeom prst="rect">
            <a:avLst/>
          </a:prstGeom>
          <a:solidFill>
            <a:srgbClr val="F8F8F8"/>
          </a:solidFill>
        </p:spPr>
        <p:txBody>
          <a:bodyPr wrap="square" lIns="0" tIns="0" rIns="0" bIns="0" anchor="t">
            <a:spAutoFit/>
          </a:bodyPr>
          <a:lstStyle/>
          <a:p>
            <a:r>
              <a:rPr lang="en-US" altLang="zh-TW" sz="1400" dirty="0"/>
              <a:t>Power Sales </a:t>
            </a:r>
            <a:r>
              <a:rPr lang="en-US" altLang="zh-TW" sz="1400" dirty="0" smtClean="0"/>
              <a:t>Status</a:t>
            </a:r>
            <a:r>
              <a:rPr lang="zh-TW" altLang="en-US" sz="1400" dirty="0" smtClean="0"/>
              <a:t>：</a:t>
            </a:r>
            <a:r>
              <a:rPr lang="en-US" altLang="zh-TW" sz="1400" dirty="0" smtClean="0"/>
              <a:t>All </a:t>
            </a:r>
            <a:r>
              <a:rPr lang="en-US" altLang="zh-TW" sz="1400" dirty="0"/>
              <a:t>three sites have commenced </a:t>
            </a:r>
            <a:r>
              <a:rPr lang="en-US" altLang="zh-TW" sz="1400" dirty="0" smtClean="0"/>
              <a:t>commercial power </a:t>
            </a:r>
            <a:r>
              <a:rPr lang="en-US" altLang="zh-TW" sz="1400" dirty="0"/>
              <a:t>sales to </a:t>
            </a:r>
            <a:r>
              <a:rPr lang="en-US" altLang="zh-TW" sz="1400" dirty="0" smtClean="0"/>
              <a:t>TPC</a:t>
            </a:r>
            <a:endParaRPr lang="zh-TW" altLang="en-US" sz="1400" b="1" dirty="0">
              <a:ln w="6350">
                <a:noFill/>
              </a:ln>
              <a:solidFill>
                <a:schemeClr val="accent5">
                  <a:lumMod val="50000"/>
                </a:schemeClr>
              </a:solidFill>
              <a:latin typeface="Noto Sans TC" panose="020B0200000000000000" pitchFamily="34" charset="-120"/>
              <a:ea typeface="Noto Sans TC" panose="020B0200000000000000" pitchFamily="34" charset="-120"/>
            </a:endParaRPr>
          </a:p>
        </p:txBody>
      </p:sp>
      <p:sp>
        <p:nvSpPr>
          <p:cNvPr id="11" name="矩形 10"/>
          <p:cNvSpPr/>
          <p:nvPr/>
        </p:nvSpPr>
        <p:spPr>
          <a:xfrm>
            <a:off x="930276" y="5328786"/>
            <a:ext cx="4929103" cy="400110"/>
          </a:xfrm>
          <a:prstGeom prst="rect">
            <a:avLst/>
          </a:prstGeom>
          <a:solidFill>
            <a:srgbClr val="F8F8F8"/>
          </a:solidFill>
        </p:spPr>
        <p:txBody>
          <a:bodyPr wrap="square">
            <a:spAutoFit/>
          </a:bodyPr>
          <a:lstStyle/>
          <a:p>
            <a:r>
              <a:rPr lang="en-US" altLang="zh-TW" sz="1400" b="1" dirty="0">
                <a:solidFill>
                  <a:srgbClr val="334155"/>
                </a:solidFill>
                <a:latin typeface="Noto Sans TC"/>
              </a:rPr>
              <a:t>Average </a:t>
            </a:r>
            <a:r>
              <a:rPr lang="en-US" altLang="zh-TW" sz="1400" b="1" dirty="0"/>
              <a:t>Solar </a:t>
            </a:r>
            <a:r>
              <a:rPr lang="en-US" altLang="zh-TW" sz="1400" b="1" dirty="0">
                <a:solidFill>
                  <a:srgbClr val="334155"/>
                </a:solidFill>
                <a:latin typeface="Noto Sans TC"/>
              </a:rPr>
              <a:t>Power Generation: </a:t>
            </a:r>
            <a:r>
              <a:rPr lang="en-US" altLang="zh-TW" sz="2000" b="1" dirty="0">
                <a:solidFill>
                  <a:srgbClr val="334155"/>
                </a:solidFill>
                <a:latin typeface="Noto Sans TC"/>
              </a:rPr>
              <a:t>1,540K</a:t>
            </a:r>
            <a:r>
              <a:rPr lang="en-US" altLang="zh-TW" sz="1400" b="1" dirty="0">
                <a:solidFill>
                  <a:srgbClr val="334155"/>
                </a:solidFill>
                <a:latin typeface="Noto Sans TC"/>
              </a:rPr>
              <a:t> kWh / year</a:t>
            </a:r>
          </a:p>
        </p:txBody>
      </p:sp>
      <p:sp>
        <p:nvSpPr>
          <p:cNvPr id="12" name="TextBox 58"/>
          <p:cNvSpPr txBox="1"/>
          <p:nvPr/>
        </p:nvSpPr>
        <p:spPr>
          <a:xfrm>
            <a:off x="6845578" y="4693827"/>
            <a:ext cx="2311400" cy="492443"/>
          </a:xfrm>
          <a:prstGeom prst="rect">
            <a:avLst/>
          </a:prstGeom>
          <a:solidFill>
            <a:srgbClr val="FCFCFC"/>
          </a:solidFill>
        </p:spPr>
        <p:txBody>
          <a:bodyPr wrap="square" lIns="0" tIns="0" rIns="0" bIns="0" anchor="t">
            <a:spAutoFit/>
          </a:bodyPr>
          <a:lstStyle/>
          <a:p>
            <a:r>
              <a:rPr lang="en-US" altLang="zh-TW" sz="1400" dirty="0"/>
              <a:t>Land Area</a:t>
            </a:r>
            <a:r>
              <a:rPr lang="en-US" altLang="zh-TW" dirty="0"/>
              <a:t>: </a:t>
            </a:r>
            <a:r>
              <a:rPr lang="en-US" altLang="zh-TW" b="1" dirty="0"/>
              <a:t>2,683.18</a:t>
            </a:r>
            <a:r>
              <a:rPr lang="en-US" altLang="zh-TW" dirty="0"/>
              <a:t> </a:t>
            </a:r>
            <a:r>
              <a:rPr lang="en-US" altLang="zh-TW" sz="1400" dirty="0" smtClean="0"/>
              <a:t>Ping</a:t>
            </a:r>
          </a:p>
          <a:p>
            <a:endParaRPr sz="1400" b="0" i="0" u="none" dirty="0">
              <a:solidFill>
                <a:srgbClr val="334155"/>
              </a:solidFill>
              <a:latin typeface="Noto Sans TC"/>
            </a:endParaRPr>
          </a:p>
        </p:txBody>
      </p:sp>
      <p:sp>
        <p:nvSpPr>
          <p:cNvPr id="13" name="TextBox 59"/>
          <p:cNvSpPr txBox="1"/>
          <p:nvPr/>
        </p:nvSpPr>
        <p:spPr>
          <a:xfrm>
            <a:off x="6846637" y="5083865"/>
            <a:ext cx="4596619" cy="276999"/>
          </a:xfrm>
          <a:prstGeom prst="rect">
            <a:avLst/>
          </a:prstGeom>
          <a:solidFill>
            <a:srgbClr val="F8F8F8"/>
          </a:solidFill>
        </p:spPr>
        <p:txBody>
          <a:bodyPr wrap="square" lIns="0" tIns="0" rIns="0" bIns="0" anchor="t">
            <a:spAutoFit/>
          </a:bodyPr>
          <a:lstStyle/>
          <a:p>
            <a:r>
              <a:rPr lang="en-US" altLang="zh-TW" sz="1400" b="1" dirty="0"/>
              <a:t>Average Solar Power Generation</a:t>
            </a:r>
            <a:r>
              <a:rPr lang="en-US" altLang="zh-TW" b="1" dirty="0"/>
              <a:t>: </a:t>
            </a:r>
            <a:r>
              <a:rPr lang="zh-TW" altLang="en-US" b="1" dirty="0" smtClean="0"/>
              <a:t> </a:t>
            </a:r>
            <a:r>
              <a:rPr lang="en-US" altLang="zh-TW" b="1" dirty="0"/>
              <a:t>1,730K kWh </a:t>
            </a:r>
            <a:r>
              <a:rPr lang="en-US" altLang="zh-TW" sz="1400" b="1" dirty="0"/>
              <a:t>/ </a:t>
            </a:r>
            <a:r>
              <a:rPr lang="en-US" altLang="zh-TW" sz="1400" b="1" dirty="0" smtClean="0"/>
              <a:t>year</a:t>
            </a:r>
            <a:endParaRPr sz="1400" b="0" i="0" u="none" dirty="0">
              <a:solidFill>
                <a:srgbClr val="334155"/>
              </a:solidFill>
              <a:latin typeface="Noto Sans TC"/>
            </a:endParaRPr>
          </a:p>
        </p:txBody>
      </p:sp>
      <p:sp>
        <p:nvSpPr>
          <p:cNvPr id="14" name="TextBox 60"/>
          <p:cNvSpPr txBox="1"/>
          <p:nvPr/>
        </p:nvSpPr>
        <p:spPr>
          <a:xfrm>
            <a:off x="6848773" y="5470375"/>
            <a:ext cx="4749670" cy="369332"/>
          </a:xfrm>
          <a:prstGeom prst="rect">
            <a:avLst/>
          </a:prstGeom>
          <a:solidFill>
            <a:srgbClr val="F8F8F8"/>
          </a:solidFill>
        </p:spPr>
        <p:txBody>
          <a:bodyPr wrap="square" lIns="0" tIns="0" rIns="0" bIns="0" anchor="t">
            <a:spAutoFit/>
          </a:bodyPr>
          <a:lstStyle/>
          <a:p>
            <a:r>
              <a:rPr lang="en-US" altLang="zh-TW" sz="1200" dirty="0"/>
              <a:t>Latest Status: County government equipment registration completed; </a:t>
            </a:r>
            <a:endParaRPr lang="en-US" altLang="zh-TW" sz="1200" dirty="0" smtClean="0"/>
          </a:p>
          <a:p>
            <a:r>
              <a:rPr lang="en-US" altLang="zh-TW" sz="1200" dirty="0" smtClean="0"/>
              <a:t>commercial </a:t>
            </a:r>
            <a:r>
              <a:rPr lang="en-US" altLang="zh-TW" sz="1200" dirty="0"/>
              <a:t>power sales expected to commence in October this year</a:t>
            </a:r>
            <a:endParaRPr sz="1200" b="1" i="0" u="none" dirty="0">
              <a:solidFill>
                <a:srgbClr val="0B2545"/>
              </a:solidFill>
              <a:latin typeface="Noto Sans TC"/>
            </a:endParaRPr>
          </a:p>
        </p:txBody>
      </p:sp>
      <p:pic>
        <p:nvPicPr>
          <p:cNvPr id="15" name="圖片 14"/>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2419800" y="5984795"/>
            <a:ext cx="8240685" cy="367361"/>
          </a:xfrm>
          <a:prstGeom prst="roundRect">
            <a:avLst/>
          </a:prstGeom>
          <a:ln>
            <a:noFill/>
          </a:ln>
        </p:spPr>
      </p:pic>
      <p:pic>
        <p:nvPicPr>
          <p:cNvPr id="16" name="圖片 15"/>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8024" y="6240141"/>
            <a:ext cx="2411776" cy="365600"/>
          </a:xfrm>
          <a:prstGeom prst="rect">
            <a:avLst/>
          </a:prstGeom>
        </p:spPr>
      </p:pic>
      <p:pic>
        <p:nvPicPr>
          <p:cNvPr id="18" name="圖片 17"/>
          <p:cNvPicPr>
            <a:picLocks noChangeAspect="1"/>
          </p:cNvPicPr>
          <p:nvPr/>
        </p:nvPicPr>
        <p:blipFill rotWithShape="1">
          <a:blip r:embed="rId8"/>
          <a:srcRect t="17121"/>
          <a:stretch/>
        </p:blipFill>
        <p:spPr>
          <a:xfrm>
            <a:off x="570658" y="116834"/>
            <a:ext cx="3110729" cy="702109"/>
          </a:xfrm>
          <a:prstGeom prst="rect">
            <a:avLst/>
          </a:prstGeom>
        </p:spPr>
      </p:pic>
      <p:sp>
        <p:nvSpPr>
          <p:cNvPr id="19" name="Rectangle 21"/>
          <p:cNvSpPr/>
          <p:nvPr/>
        </p:nvSpPr>
        <p:spPr>
          <a:xfrm>
            <a:off x="3535084" y="161188"/>
            <a:ext cx="4824612"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lang="zh-TW" altLang="en-US" sz="2200" b="1" dirty="0" smtClean="0">
                <a:solidFill>
                  <a:srgbClr val="00285A"/>
                </a:solidFill>
                <a:latin typeface="Arial" panose="020B0604020202020204" pitchFamily="34" charset="0"/>
                <a:cs typeface="Arial" panose="020B0604020202020204" pitchFamily="34" charset="0"/>
              </a:rPr>
              <a:t>－</a:t>
            </a:r>
            <a:r>
              <a:rPr sz="2200" b="1" dirty="0" smtClean="0">
                <a:solidFill>
                  <a:srgbClr val="00285A"/>
                </a:solidFill>
                <a:latin typeface="Arial" panose="020B0604020202020204" pitchFamily="34" charset="0"/>
                <a:cs typeface="Arial" panose="020B0604020202020204" pitchFamily="34" charset="0"/>
              </a:rPr>
              <a:t>Solar </a:t>
            </a:r>
            <a:r>
              <a:rPr sz="2200" b="1" dirty="0">
                <a:solidFill>
                  <a:srgbClr val="00285A"/>
                </a:solidFill>
                <a:latin typeface="Arial" panose="020B0604020202020204" pitchFamily="34" charset="0"/>
                <a:cs typeface="Arial" panose="020B0604020202020204" pitchFamily="34" charset="0"/>
              </a:rPr>
              <a:t>Power Generation System</a:t>
            </a:r>
          </a:p>
        </p:txBody>
      </p:sp>
      <p:sp>
        <p:nvSpPr>
          <p:cNvPr id="17" name="矩形 16"/>
          <p:cNvSpPr/>
          <p:nvPr/>
        </p:nvSpPr>
        <p:spPr>
          <a:xfrm>
            <a:off x="8620807" y="182986"/>
            <a:ext cx="2403478" cy="646331"/>
          </a:xfrm>
          <a:prstGeom prst="rect">
            <a:avLst/>
          </a:prstGeom>
        </p:spPr>
        <p:txBody>
          <a:bodyPr wrap="none">
            <a:spAutoFit/>
          </a:bodyPr>
          <a:lstStyle/>
          <a:p>
            <a:pPr fontAlgn="t"/>
            <a:r>
              <a:rPr lang="en-US" altLang="zh-TW" b="1" dirty="0">
                <a:ln w="0"/>
                <a:solidFill>
                  <a:schemeClr val="accent1"/>
                </a:solidFill>
                <a:effectLst>
                  <a:outerShdw blurRad="38100" dist="25400" dir="5400000" algn="ctr" rotWithShape="0">
                    <a:srgbClr val="6E747A">
                      <a:alpha val="43000"/>
                    </a:srgbClr>
                  </a:outerShdw>
                </a:effectLst>
                <a:latin typeface="Segoe UI" panose="020B0502040204020203" pitchFamily="34" charset="0"/>
              </a:rPr>
              <a:t>Operating </a:t>
            </a:r>
            <a:endParaRPr lang="en-US" altLang="zh-TW" b="1" dirty="0" smtClean="0">
              <a:ln w="0"/>
              <a:solidFill>
                <a:schemeClr val="accent1"/>
              </a:solidFill>
              <a:effectLst>
                <a:outerShdw blurRad="38100" dist="25400" dir="5400000" algn="ctr" rotWithShape="0">
                  <a:srgbClr val="6E747A">
                    <a:alpha val="43000"/>
                  </a:srgbClr>
                </a:outerShdw>
              </a:effectLst>
              <a:latin typeface="Segoe UI" panose="020B0502040204020203" pitchFamily="34" charset="0"/>
            </a:endParaRPr>
          </a:p>
          <a:p>
            <a:pPr fontAlgn="t"/>
            <a:r>
              <a:rPr lang="en-US" altLang="zh-TW" b="1" dirty="0" smtClean="0">
                <a:ln w="0"/>
                <a:solidFill>
                  <a:schemeClr val="accent1"/>
                </a:solidFill>
                <a:effectLst>
                  <a:outerShdw blurRad="38100" dist="25400" dir="5400000" algn="ctr" rotWithShape="0">
                    <a:srgbClr val="6E747A">
                      <a:alpha val="43000"/>
                    </a:srgbClr>
                  </a:outerShdw>
                </a:effectLst>
                <a:latin typeface="Segoe UI" panose="020B0502040204020203" pitchFamily="34" charset="0"/>
              </a:rPr>
              <a:t>Solar </a:t>
            </a:r>
            <a:r>
              <a:rPr lang="en-US" altLang="zh-TW" b="1" dirty="0">
                <a:ln w="0"/>
                <a:solidFill>
                  <a:schemeClr val="accent1"/>
                </a:solidFill>
                <a:effectLst>
                  <a:outerShdw blurRad="38100" dist="25400" dir="5400000" algn="ctr" rotWithShape="0">
                    <a:srgbClr val="6E747A">
                      <a:alpha val="43000"/>
                    </a:srgbClr>
                  </a:outerShdw>
                </a:effectLst>
                <a:latin typeface="Segoe UI" panose="020B0502040204020203" pitchFamily="34" charset="0"/>
              </a:rPr>
              <a:t>Power Projects</a:t>
            </a:r>
          </a:p>
        </p:txBody>
      </p:sp>
    </p:spTree>
    <p:extLst>
      <p:ext uri="{BB962C8B-B14F-4D97-AF65-F5344CB8AC3E}">
        <p14:creationId xmlns:p14="http://schemas.microsoft.com/office/powerpoint/2010/main" val="31365914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2000" y="-3087"/>
            <a:ext cx="12204000" cy="6861087"/>
          </a:xfrm>
          <a:prstGeom prst="rect">
            <a:avLst/>
          </a:prstGeom>
        </p:spPr>
      </p:pic>
      <p:pic>
        <p:nvPicPr>
          <p:cNvPr id="21" name="圖片 2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024" y="6124074"/>
            <a:ext cx="2411776" cy="481667"/>
          </a:xfrm>
          <a:prstGeom prst="rect">
            <a:avLst/>
          </a:prstGeom>
        </p:spPr>
      </p:pic>
      <p:sp>
        <p:nvSpPr>
          <p:cNvPr id="23" name="Rectangle 22"/>
          <p:cNvSpPr/>
          <p:nvPr/>
        </p:nvSpPr>
        <p:spPr>
          <a:xfrm>
            <a:off x="355211" y="867313"/>
            <a:ext cx="10905359" cy="370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r>
              <a:rPr lang="zh-TW" altLang="en-US" sz="1500" dirty="0" smtClean="0">
                <a:solidFill>
                  <a:srgbClr val="173655"/>
                </a:solidFill>
                <a:latin typeface="Arial"/>
              </a:rPr>
              <a:t> </a:t>
            </a:r>
            <a:r>
              <a:rPr lang="en-US" altLang="zh-TW" sz="1500" dirty="0" smtClean="0">
                <a:solidFill>
                  <a:srgbClr val="173655"/>
                </a:solidFill>
                <a:latin typeface="Arial"/>
              </a:rPr>
              <a:t>Balancing </a:t>
            </a:r>
            <a:r>
              <a:rPr lang="en-US" altLang="zh-TW" sz="1500" dirty="0">
                <a:solidFill>
                  <a:srgbClr val="173655"/>
                </a:solidFill>
                <a:latin typeface="Arial"/>
              </a:rPr>
              <a:t>space efficiency with green energy integration to </a:t>
            </a:r>
            <a:r>
              <a:rPr lang="zh-TW" altLang="en-US" sz="1500" dirty="0" smtClean="0">
                <a:solidFill>
                  <a:srgbClr val="173655"/>
                </a:solidFill>
                <a:latin typeface="Arial"/>
              </a:rPr>
              <a:t> </a:t>
            </a:r>
            <a:r>
              <a:rPr lang="en-US" sz="1500" dirty="0" smtClean="0">
                <a:solidFill>
                  <a:srgbClr val="173655"/>
                </a:solidFill>
                <a:latin typeface="Arial"/>
              </a:rPr>
              <a:t>strengthen </a:t>
            </a:r>
            <a:r>
              <a:rPr lang="en-US" sz="1500" dirty="0">
                <a:solidFill>
                  <a:srgbClr val="173655"/>
                </a:solidFill>
                <a:latin typeface="Arial"/>
              </a:rPr>
              <a:t>the foundation of asset operations.</a:t>
            </a:r>
          </a:p>
        </p:txBody>
      </p:sp>
      <p:sp>
        <p:nvSpPr>
          <p:cNvPr id="24" name="Rectangle 23"/>
          <p:cNvSpPr/>
          <p:nvPr/>
        </p:nvSpPr>
        <p:spPr>
          <a:xfrm>
            <a:off x="1170724" y="1481328"/>
            <a:ext cx="2972543" cy="521208"/>
          </a:xfrm>
          <a:prstGeom prst="rect">
            <a:avLst/>
          </a:prstGeom>
          <a:solidFill>
            <a:srgbClr val="00285B"/>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800" b="1" dirty="0" err="1" smtClean="0">
                <a:solidFill>
                  <a:srgbClr val="FFFFFF"/>
                </a:solidFill>
                <a:latin typeface="Arial"/>
              </a:rPr>
              <a:t>Fu</a:t>
            </a:r>
            <a:r>
              <a:rPr lang="en-US" sz="1800" b="1" dirty="0" err="1" smtClean="0">
                <a:solidFill>
                  <a:srgbClr val="FFFFFF"/>
                </a:solidFill>
                <a:latin typeface="Arial"/>
              </a:rPr>
              <a:t>k</a:t>
            </a:r>
            <a:r>
              <a:rPr sz="1800" b="1" dirty="0" err="1" smtClean="0">
                <a:solidFill>
                  <a:srgbClr val="FFFFFF"/>
                </a:solidFill>
                <a:latin typeface="Arial"/>
              </a:rPr>
              <a:t>ang</a:t>
            </a:r>
            <a:r>
              <a:rPr sz="1800" b="1" dirty="0" smtClean="0">
                <a:solidFill>
                  <a:srgbClr val="FFFFFF"/>
                </a:solidFill>
                <a:latin typeface="Arial"/>
              </a:rPr>
              <a:t> </a:t>
            </a:r>
            <a:r>
              <a:rPr sz="1800" b="1" dirty="0">
                <a:solidFill>
                  <a:srgbClr val="FFFFFF"/>
                </a:solidFill>
                <a:latin typeface="Arial"/>
              </a:rPr>
              <a:t>Logistics Center</a:t>
            </a:r>
          </a:p>
        </p:txBody>
      </p:sp>
      <p:sp>
        <p:nvSpPr>
          <p:cNvPr id="22" name="Rectangle 21"/>
          <p:cNvSpPr/>
          <p:nvPr/>
        </p:nvSpPr>
        <p:spPr>
          <a:xfrm>
            <a:off x="3359701" y="227233"/>
            <a:ext cx="4824612" cy="6035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lang="zh-TW" altLang="en-US" sz="2200" b="1" dirty="0" smtClean="0">
                <a:solidFill>
                  <a:srgbClr val="00285A"/>
                </a:solidFill>
                <a:latin typeface="Arial" panose="020B0604020202020204" pitchFamily="34" charset="0"/>
                <a:cs typeface="Arial" panose="020B0604020202020204" pitchFamily="34" charset="0"/>
              </a:rPr>
              <a:t>－</a:t>
            </a:r>
            <a:r>
              <a:rPr sz="2200" b="1" dirty="0" smtClean="0">
                <a:solidFill>
                  <a:srgbClr val="00285A"/>
                </a:solidFill>
                <a:latin typeface="Arial" panose="020B0604020202020204" pitchFamily="34" charset="0"/>
                <a:cs typeface="Arial" panose="020B0604020202020204" pitchFamily="34" charset="0"/>
              </a:rPr>
              <a:t>Solar </a:t>
            </a:r>
            <a:r>
              <a:rPr sz="2200" b="1" dirty="0">
                <a:solidFill>
                  <a:srgbClr val="00285A"/>
                </a:solidFill>
                <a:latin typeface="Arial" panose="020B0604020202020204" pitchFamily="34" charset="0"/>
                <a:cs typeface="Arial" panose="020B0604020202020204" pitchFamily="34" charset="0"/>
              </a:rPr>
              <a:t>Power Generation System</a:t>
            </a:r>
          </a:p>
        </p:txBody>
      </p:sp>
      <p:sp>
        <p:nvSpPr>
          <p:cNvPr id="25" name="Rectangle 24"/>
          <p:cNvSpPr/>
          <p:nvPr/>
        </p:nvSpPr>
        <p:spPr>
          <a:xfrm>
            <a:off x="4344486" y="1490472"/>
            <a:ext cx="1490844" cy="448056"/>
          </a:xfrm>
          <a:prstGeom prst="rect">
            <a:avLst/>
          </a:prstGeom>
          <a:solidFill>
            <a:srgbClr val="E3EFF7"/>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ctr">
              <a:spcBef>
                <a:spcPts val="0"/>
              </a:spcBef>
              <a:spcAft>
                <a:spcPts val="0"/>
              </a:spcAft>
            </a:pPr>
            <a:r>
              <a:rPr sz="1050" b="1">
                <a:solidFill>
                  <a:srgbClr val="00285A"/>
                </a:solidFill>
                <a:latin typeface="Arial"/>
              </a:rPr>
              <a:t>Construction Permit</a:t>
            </a:r>
          </a:p>
          <a:p>
            <a:pPr algn="ctr">
              <a:spcBef>
                <a:spcPts val="0"/>
              </a:spcBef>
              <a:spcAft>
                <a:spcPts val="0"/>
              </a:spcAft>
            </a:pPr>
            <a:r>
              <a:rPr sz="1050" b="1">
                <a:solidFill>
                  <a:srgbClr val="00285A"/>
                </a:solidFill>
                <a:latin typeface="Arial"/>
              </a:rPr>
              <a:t>Application Pending</a:t>
            </a:r>
          </a:p>
        </p:txBody>
      </p:sp>
      <p:sp>
        <p:nvSpPr>
          <p:cNvPr id="26" name="Rectangle 25"/>
          <p:cNvSpPr/>
          <p:nvPr/>
        </p:nvSpPr>
        <p:spPr>
          <a:xfrm>
            <a:off x="7033494" y="1481328"/>
            <a:ext cx="2094499" cy="521208"/>
          </a:xfrm>
          <a:prstGeom prst="rect">
            <a:avLst/>
          </a:prstGeom>
          <a:solidFill>
            <a:srgbClr val="C8101E"/>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400" b="1">
                <a:solidFill>
                  <a:srgbClr val="FFFFFF"/>
                </a:solidFill>
                <a:latin typeface="Arial"/>
              </a:rPr>
              <a:t>Qidu Factory &amp; Office</a:t>
            </a:r>
          </a:p>
        </p:txBody>
      </p:sp>
      <p:sp>
        <p:nvSpPr>
          <p:cNvPr id="27" name="Rectangle 26"/>
          <p:cNvSpPr/>
          <p:nvPr/>
        </p:nvSpPr>
        <p:spPr>
          <a:xfrm>
            <a:off x="9374943" y="1490472"/>
            <a:ext cx="2368888" cy="448056"/>
          </a:xfrm>
          <a:prstGeom prst="rect">
            <a:avLst/>
          </a:prstGeom>
          <a:solidFill>
            <a:srgbClr val="FBE6E8"/>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ctr">
              <a:spcBef>
                <a:spcPts val="0"/>
              </a:spcBef>
              <a:spcAft>
                <a:spcPts val="0"/>
              </a:spcAft>
            </a:pPr>
            <a:r>
              <a:rPr sz="1050" b="1">
                <a:solidFill>
                  <a:srgbClr val="C8101E"/>
                </a:solidFill>
                <a:latin typeface="Arial"/>
              </a:rPr>
              <a:t>PPA with Taipower</a:t>
            </a:r>
          </a:p>
          <a:p>
            <a:pPr algn="ctr">
              <a:spcBef>
                <a:spcPts val="0"/>
              </a:spcBef>
              <a:spcAft>
                <a:spcPts val="0"/>
              </a:spcAft>
            </a:pPr>
            <a:r>
              <a:rPr sz="1050" b="1">
                <a:solidFill>
                  <a:srgbClr val="C8101E"/>
                </a:solidFill>
                <a:latin typeface="Arial"/>
              </a:rPr>
              <a:t>Signing in Progress</a:t>
            </a:r>
          </a:p>
        </p:txBody>
      </p:sp>
      <p:sp>
        <p:nvSpPr>
          <p:cNvPr id="28" name="Rectangle 27"/>
          <p:cNvSpPr/>
          <p:nvPr/>
        </p:nvSpPr>
        <p:spPr>
          <a:xfrm>
            <a:off x="1179870" y="4215384"/>
            <a:ext cx="4628021" cy="640080"/>
          </a:xfrm>
          <a:prstGeom prst="rect">
            <a:avLst/>
          </a:prstGeom>
          <a:solidFill>
            <a:srgbClr val="F3F8FC"/>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600" b="1" dirty="0">
                <a:solidFill>
                  <a:srgbClr val="00285A"/>
                </a:solidFill>
                <a:latin typeface="Arial"/>
              </a:rPr>
              <a:t>Average solar generation: </a:t>
            </a:r>
            <a:r>
              <a:rPr sz="2400" b="1" dirty="0">
                <a:solidFill>
                  <a:srgbClr val="00285A"/>
                </a:solidFill>
                <a:latin typeface="Arial"/>
              </a:rPr>
              <a:t>3,400K</a:t>
            </a:r>
            <a:r>
              <a:rPr sz="1600" b="1" dirty="0">
                <a:solidFill>
                  <a:srgbClr val="00285A"/>
                </a:solidFill>
                <a:latin typeface="Arial"/>
              </a:rPr>
              <a:t> kWh/year</a:t>
            </a:r>
          </a:p>
        </p:txBody>
      </p:sp>
      <p:sp>
        <p:nvSpPr>
          <p:cNvPr id="29" name="Rectangle 28"/>
          <p:cNvSpPr/>
          <p:nvPr/>
        </p:nvSpPr>
        <p:spPr>
          <a:xfrm>
            <a:off x="1189017" y="4928616"/>
            <a:ext cx="4637167" cy="356616"/>
          </a:xfrm>
          <a:prstGeom prst="rect">
            <a:avLst/>
          </a:prstGeom>
          <a:solidFill>
            <a:srgbClr val="F3F8FC"/>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500" b="1">
                <a:solidFill>
                  <a:srgbClr val="00285A"/>
                </a:solidFill>
                <a:latin typeface="Arial"/>
              </a:rPr>
              <a:t>Operating status</a:t>
            </a:r>
          </a:p>
        </p:txBody>
      </p:sp>
      <p:sp>
        <p:nvSpPr>
          <p:cNvPr id="30" name="Rectangle 29"/>
          <p:cNvSpPr/>
          <p:nvPr/>
        </p:nvSpPr>
        <p:spPr>
          <a:xfrm>
            <a:off x="1189017" y="5266944"/>
            <a:ext cx="4802709" cy="640080"/>
          </a:xfrm>
          <a:prstGeom prst="rect">
            <a:avLst/>
          </a:prstGeom>
          <a:solidFill>
            <a:srgbClr val="F3F8FC"/>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250" b="0" dirty="0">
                <a:solidFill>
                  <a:srgbClr val="173655"/>
                </a:solidFill>
                <a:latin typeface="Arial"/>
              </a:rPr>
              <a:t>• Aug 2026: MOEA power business establishment permit </a:t>
            </a:r>
            <a:r>
              <a:rPr sz="1250" b="0" dirty="0" smtClean="0">
                <a:solidFill>
                  <a:srgbClr val="173655"/>
                </a:solidFill>
                <a:latin typeface="Arial"/>
              </a:rPr>
              <a:t>received</a:t>
            </a:r>
            <a:r>
              <a:rPr sz="1250" b="0" dirty="0">
                <a:solidFill>
                  <a:srgbClr val="173655"/>
                </a:solidFill>
                <a:latin typeface="Arial"/>
              </a:rPr>
              <a:t>.</a:t>
            </a:r>
          </a:p>
          <a:p>
            <a:pPr algn="l">
              <a:spcBef>
                <a:spcPts val="0"/>
              </a:spcBef>
              <a:spcAft>
                <a:spcPts val="0"/>
              </a:spcAft>
            </a:pPr>
            <a:r>
              <a:rPr sz="1250" b="0" dirty="0">
                <a:solidFill>
                  <a:srgbClr val="173655"/>
                </a:solidFill>
                <a:latin typeface="Arial"/>
              </a:rPr>
              <a:t>• Sep 2026: Construction permit application filed.</a:t>
            </a:r>
          </a:p>
        </p:txBody>
      </p:sp>
      <p:sp>
        <p:nvSpPr>
          <p:cNvPr id="31" name="Rectangle 30"/>
          <p:cNvSpPr/>
          <p:nvPr/>
        </p:nvSpPr>
        <p:spPr>
          <a:xfrm>
            <a:off x="7143249" y="4215384"/>
            <a:ext cx="4573143" cy="640080"/>
          </a:xfrm>
          <a:prstGeom prst="rect">
            <a:avLst/>
          </a:prstGeom>
          <a:solidFill>
            <a:srgbClr val="F3F8FC"/>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600" b="1" dirty="0">
                <a:solidFill>
                  <a:srgbClr val="00285A"/>
                </a:solidFill>
                <a:latin typeface="Arial"/>
              </a:rPr>
              <a:t>Average solar generation: </a:t>
            </a:r>
            <a:r>
              <a:rPr sz="2000" b="1" dirty="0">
                <a:solidFill>
                  <a:srgbClr val="00285A"/>
                </a:solidFill>
                <a:latin typeface="Arial"/>
              </a:rPr>
              <a:t>466K</a:t>
            </a:r>
            <a:r>
              <a:rPr sz="1600" b="1" dirty="0">
                <a:solidFill>
                  <a:srgbClr val="00285A"/>
                </a:solidFill>
                <a:latin typeface="Arial"/>
              </a:rPr>
              <a:t> kWh/year</a:t>
            </a:r>
          </a:p>
        </p:txBody>
      </p:sp>
      <p:sp>
        <p:nvSpPr>
          <p:cNvPr id="32" name="Rectangle 31"/>
          <p:cNvSpPr/>
          <p:nvPr/>
        </p:nvSpPr>
        <p:spPr>
          <a:xfrm>
            <a:off x="7152396" y="4928616"/>
            <a:ext cx="4573143" cy="356616"/>
          </a:xfrm>
          <a:prstGeom prst="rect">
            <a:avLst/>
          </a:prstGeom>
          <a:solidFill>
            <a:srgbClr val="F3F8FC"/>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500" b="1">
                <a:solidFill>
                  <a:srgbClr val="00285A"/>
                </a:solidFill>
                <a:latin typeface="Arial"/>
              </a:rPr>
              <a:t>Operating status</a:t>
            </a:r>
          </a:p>
        </p:txBody>
      </p:sp>
      <p:sp>
        <p:nvSpPr>
          <p:cNvPr id="33" name="Rectangle 32"/>
          <p:cNvSpPr/>
          <p:nvPr/>
        </p:nvSpPr>
        <p:spPr>
          <a:xfrm>
            <a:off x="7152396" y="5266944"/>
            <a:ext cx="4573143" cy="640080"/>
          </a:xfrm>
          <a:prstGeom prst="rect">
            <a:avLst/>
          </a:prstGeom>
          <a:solidFill>
            <a:srgbClr val="F3F8FC"/>
          </a:solidFill>
          <a:ln>
            <a:noFill/>
          </a:ln>
        </p:spPr>
        <p:style>
          <a:lnRef idx="1">
            <a:schemeClr val="accent1"/>
          </a:lnRef>
          <a:fillRef idx="3">
            <a:schemeClr val="accent1"/>
          </a:fillRef>
          <a:effectRef idx="2">
            <a:schemeClr val="accent1"/>
          </a:effectRef>
          <a:fontRef idx="minor">
            <a:schemeClr val="lt1"/>
          </a:fontRef>
        </p:style>
        <p:txBody>
          <a:bodyPr wrap="square" lIns="18292" tIns="0" rIns="18292" bIns="0" rtlCol="0" anchor="ctr"/>
          <a:lstStyle/>
          <a:p>
            <a:pPr algn="l">
              <a:spcBef>
                <a:spcPts val="0"/>
              </a:spcBef>
              <a:spcAft>
                <a:spcPts val="0"/>
              </a:spcAft>
            </a:pPr>
            <a:r>
              <a:rPr sz="1250" b="0">
                <a:solidFill>
                  <a:srgbClr val="173655"/>
                </a:solidFill>
                <a:latin typeface="Arial"/>
              </a:rPr>
              <a:t>Construction completed; signing a power purchase agreement with Taipower is in progress.</a:t>
            </a:r>
          </a:p>
        </p:txBody>
      </p:sp>
      <p:sp>
        <p:nvSpPr>
          <p:cNvPr id="16" name="文字方塊 15"/>
          <p:cNvSpPr txBox="1"/>
          <p:nvPr/>
        </p:nvSpPr>
        <p:spPr>
          <a:xfrm>
            <a:off x="8080743" y="282538"/>
            <a:ext cx="3216968" cy="584775"/>
          </a:xfrm>
          <a:prstGeom prst="rect">
            <a:avLst/>
          </a:prstGeom>
          <a:solidFill>
            <a:schemeClr val="bg1"/>
          </a:solidFill>
        </p:spPr>
        <p:txBody>
          <a:bodyPr wrap="square" rtlCol="0">
            <a:spAutoFit/>
          </a:bodyPr>
          <a:lstStyle/>
          <a:p>
            <a:r>
              <a:rPr lang="en-US" altLang="zh-TW" sz="1600" b="1" dirty="0">
                <a:ln w="0"/>
                <a:solidFill>
                  <a:schemeClr val="accent1"/>
                </a:solidFill>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rPr>
              <a:t>Projects Under Construction &amp; </a:t>
            </a:r>
            <a:endParaRPr lang="en-US" altLang="zh-TW" sz="1600" b="1" dirty="0" smtClean="0">
              <a:ln w="0"/>
              <a:solidFill>
                <a:schemeClr val="accent1"/>
              </a:solidFill>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a:p>
            <a:r>
              <a:rPr lang="en-US" altLang="zh-TW" sz="1600" b="1" dirty="0" smtClean="0">
                <a:ln w="0"/>
                <a:solidFill>
                  <a:schemeClr val="accent1"/>
                </a:solidFill>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rPr>
              <a:t>Scheduled </a:t>
            </a:r>
            <a:r>
              <a:rPr lang="en-US" altLang="zh-TW" sz="1600" b="1" dirty="0">
                <a:ln w="0"/>
                <a:solidFill>
                  <a:schemeClr val="accent1"/>
                </a:solidFill>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rPr>
              <a:t>for Operation</a:t>
            </a:r>
            <a:endParaRPr lang="zh-TW" altLang="en-US" sz="1600" b="1" dirty="0">
              <a:ln w="0"/>
              <a:solidFill>
                <a:schemeClr val="accent1"/>
              </a:solidFill>
              <a:effectLst>
                <a:outerShdw blurRad="38100" dist="25400" dir="5400000" algn="ctr" rotWithShape="0">
                  <a:srgbClr val="6E747A">
                    <a:alpha val="43000"/>
                  </a:srgbClr>
                </a:outerShdw>
              </a:effectLst>
              <a:latin typeface="微軟正黑體" panose="020B0604030504040204" pitchFamily="34" charset="-120"/>
              <a:ea typeface="微軟正黑體" panose="020B0604030504040204" pitchFamily="34" charset="-120"/>
            </a:endParaRPr>
          </a:p>
        </p:txBody>
      </p:sp>
      <p:pic>
        <p:nvPicPr>
          <p:cNvPr id="17" name="圖片 16"/>
          <p:cNvPicPr>
            <a:picLocks noChangeAspect="1"/>
          </p:cNvPicPr>
          <p:nvPr/>
        </p:nvPicPr>
        <p:blipFill rotWithShape="1">
          <a:blip r:embed="rId5"/>
          <a:srcRect t="17121"/>
          <a:stretch/>
        </p:blipFill>
        <p:spPr>
          <a:xfrm>
            <a:off x="355211" y="187544"/>
            <a:ext cx="3110729" cy="702109"/>
          </a:xfrm>
          <a:prstGeom prst="rect">
            <a:avLst/>
          </a:prstGeom>
        </p:spPr>
      </p:pic>
    </p:spTree>
    <p:extLst>
      <p:ext uri="{BB962C8B-B14F-4D97-AF65-F5344CB8AC3E}">
        <p14:creationId xmlns:p14="http://schemas.microsoft.com/office/powerpoint/2010/main" val="218084969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355600" y="3111500"/>
            <a:ext cx="5029200" cy="1905000"/>
          </a:xfrm>
          <a:prstGeom prst="rect">
            <a:avLst/>
          </a:prstGeom>
          <a:solidFill>
            <a:srgbClr val="FDF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pic>
        <p:nvPicPr>
          <p:cNvPr id="7" name="圖片 6"/>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26581"/>
            <a:ext cx="12204000" cy="6811534"/>
          </a:xfrm>
          <a:prstGeom prst="rect">
            <a:avLst/>
          </a:prstGeom>
        </p:spPr>
      </p:pic>
      <p:sp>
        <p:nvSpPr>
          <p:cNvPr id="8" name="矩形 7"/>
          <p:cNvSpPr/>
          <p:nvPr/>
        </p:nvSpPr>
        <p:spPr>
          <a:xfrm>
            <a:off x="7600940" y="4425434"/>
            <a:ext cx="3775393" cy="400110"/>
          </a:xfrm>
          <a:prstGeom prst="rect">
            <a:avLst/>
          </a:prstGeom>
          <a:solidFill>
            <a:srgbClr val="F8F7FD"/>
          </a:solidFill>
        </p:spPr>
        <p:txBody>
          <a:bodyPr wrap="none">
            <a:spAutoFit/>
          </a:bodyPr>
          <a:lstStyle/>
          <a:p>
            <a:endParaRPr/>
          </a:p>
        </p:txBody>
      </p:sp>
      <p:sp>
        <p:nvSpPr>
          <p:cNvPr id="9" name="矩形 8"/>
          <p:cNvSpPr/>
          <p:nvPr/>
        </p:nvSpPr>
        <p:spPr>
          <a:xfrm>
            <a:off x="996940" y="2114034"/>
            <a:ext cx="2696755" cy="738664"/>
          </a:xfrm>
          <a:prstGeom prst="rect">
            <a:avLst/>
          </a:prstGeom>
          <a:solidFill>
            <a:srgbClr val="F8F7FD"/>
          </a:solidFill>
        </p:spPr>
        <p:txBody>
          <a:bodyPr wrap="square">
            <a:spAutoFit/>
          </a:bodyPr>
          <a:lstStyle/>
          <a:p>
            <a:endParaRPr/>
          </a:p>
        </p:txBody>
      </p:sp>
      <p:sp>
        <p:nvSpPr>
          <p:cNvPr id="11" name="矩形 10"/>
          <p:cNvSpPr/>
          <p:nvPr/>
        </p:nvSpPr>
        <p:spPr>
          <a:xfrm>
            <a:off x="7584470" y="3218934"/>
            <a:ext cx="3050835" cy="461665"/>
          </a:xfrm>
          <a:prstGeom prst="rect">
            <a:avLst/>
          </a:prstGeom>
          <a:solidFill>
            <a:srgbClr val="F8F7FD"/>
          </a:solidFill>
        </p:spPr>
        <p:txBody>
          <a:bodyPr wrap="none">
            <a:spAutoFit/>
          </a:bodyPr>
          <a:lstStyle/>
          <a:p>
            <a:endParaRPr/>
          </a:p>
        </p:txBody>
      </p:sp>
      <p:sp>
        <p:nvSpPr>
          <p:cNvPr id="2" name="矩形 1"/>
          <p:cNvSpPr/>
          <p:nvPr/>
        </p:nvSpPr>
        <p:spPr>
          <a:xfrm>
            <a:off x="2794000" y="956733"/>
            <a:ext cx="2963333" cy="347134"/>
          </a:xfrm>
          <a:prstGeom prst="rect">
            <a:avLst/>
          </a:prstGeom>
          <a:solidFill>
            <a:srgbClr val="F9F8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sp>
        <p:nvSpPr>
          <p:cNvPr id="4" name="矩形 3"/>
          <p:cNvSpPr/>
          <p:nvPr/>
        </p:nvSpPr>
        <p:spPr>
          <a:xfrm>
            <a:off x="10019489" y="6420255"/>
            <a:ext cx="2172511" cy="437745"/>
          </a:xfrm>
          <a:prstGeom prst="rect">
            <a:avLst/>
          </a:prstGeom>
          <a:solidFill>
            <a:srgbClr val="EDE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pic>
        <p:nvPicPr>
          <p:cNvPr id="12" name="圖片 11"/>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2000" y="6327118"/>
            <a:ext cx="12204000" cy="530882"/>
          </a:xfrm>
          <a:prstGeom prst="rect">
            <a:avLst/>
          </a:prstGeom>
        </p:spPr>
      </p:pic>
      <p:sp>
        <p:nvSpPr>
          <p:cNvPr id="16" name="矩形 15"/>
          <p:cNvSpPr/>
          <p:nvPr/>
        </p:nvSpPr>
        <p:spPr>
          <a:xfrm>
            <a:off x="778933" y="3149600"/>
            <a:ext cx="10845800" cy="1811868"/>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sp>
        <p:nvSpPr>
          <p:cNvPr id="5" name="矩形 4"/>
          <p:cNvSpPr/>
          <p:nvPr/>
        </p:nvSpPr>
        <p:spPr>
          <a:xfrm>
            <a:off x="4868333" y="3107267"/>
            <a:ext cx="2599267" cy="1938866"/>
          </a:xfrm>
          <a:prstGeom prst="rect">
            <a:avLst/>
          </a:prstGeom>
          <a:solidFill>
            <a:srgbClr val="F4F5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sp>
        <p:nvSpPr>
          <p:cNvPr id="15" name="矩形 14"/>
          <p:cNvSpPr/>
          <p:nvPr/>
        </p:nvSpPr>
        <p:spPr>
          <a:xfrm>
            <a:off x="880532" y="3716867"/>
            <a:ext cx="2116667" cy="1100666"/>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pic>
        <p:nvPicPr>
          <p:cNvPr id="14" name="圖片 13"/>
          <p:cNvPicPr>
            <a:picLocks noChangeAspect="1"/>
          </p:cNvPicPr>
          <p:nvPr/>
        </p:nvPicPr>
        <p:blipFill rotWithShape="1">
          <a:blip r:embed="rId4" cstate="email">
            <a:clrChange>
              <a:clrFrom>
                <a:srgbClr val="FCFCFC"/>
              </a:clrFrom>
              <a:clrTo>
                <a:srgbClr val="FCFCFC">
                  <a:alpha val="0"/>
                </a:srgbClr>
              </a:clrTo>
            </a:clrChange>
            <a:extLst>
              <a:ext uri="{28A0092B-C50C-407E-A947-70E740481C1C}">
                <a14:useLocalDpi xmlns:a14="http://schemas.microsoft.com/office/drawing/2010/main"/>
              </a:ext>
            </a:extLst>
          </a:blip>
          <a:srcRect/>
          <a:stretch/>
        </p:blipFill>
        <p:spPr>
          <a:xfrm>
            <a:off x="1769531" y="3547533"/>
            <a:ext cx="3920067" cy="1371600"/>
          </a:xfrm>
          <a:prstGeom prst="rect">
            <a:avLst/>
          </a:prstGeom>
        </p:spPr>
      </p:pic>
      <p:sp>
        <p:nvSpPr>
          <p:cNvPr id="10" name="矩形 9"/>
          <p:cNvSpPr/>
          <p:nvPr/>
        </p:nvSpPr>
        <p:spPr>
          <a:xfrm>
            <a:off x="1107472" y="3240000"/>
            <a:ext cx="2435282" cy="461665"/>
          </a:xfrm>
          <a:prstGeom prst="rect">
            <a:avLst/>
          </a:prstGeom>
          <a:solidFill>
            <a:srgbClr val="F6F7FC"/>
          </a:solidFill>
        </p:spPr>
        <p:txBody>
          <a:bodyPr wrap="none">
            <a:spAutoFit/>
          </a:bodyPr>
          <a:lstStyle/>
          <a:p>
            <a:endParaRPr/>
          </a:p>
        </p:txBody>
      </p:sp>
      <p:pic>
        <p:nvPicPr>
          <p:cNvPr id="17" name="圖片 16"/>
          <p:cNvPicPr>
            <a:picLocks noChangeAspect="1"/>
          </p:cNvPicPr>
          <p:nvPr/>
        </p:nvPicPr>
        <p:blipFill rotWithShape="1">
          <a:blip r:embed="rId5" cstate="email">
            <a:clrChange>
              <a:clrFrom>
                <a:srgbClr val="FAFBFD"/>
              </a:clrFrom>
              <a:clrTo>
                <a:srgbClr val="FAFBFD">
                  <a:alpha val="0"/>
                </a:srgbClr>
              </a:clrTo>
            </a:clrChange>
            <a:extLst>
              <a:ext uri="{28A0092B-C50C-407E-A947-70E740481C1C}">
                <a14:useLocalDpi xmlns:a14="http://schemas.microsoft.com/office/drawing/2010/main"/>
              </a:ext>
            </a:extLst>
          </a:blip>
          <a:srcRect/>
          <a:stretch/>
        </p:blipFill>
        <p:spPr>
          <a:xfrm>
            <a:off x="6646334" y="3158066"/>
            <a:ext cx="4131733" cy="1727200"/>
          </a:xfrm>
          <a:prstGeom prst="rect">
            <a:avLst/>
          </a:prstGeom>
        </p:spPr>
      </p:pic>
      <p:sp>
        <p:nvSpPr>
          <p:cNvPr id="20" name="矩形 19"/>
          <p:cNvSpPr/>
          <p:nvPr/>
        </p:nvSpPr>
        <p:spPr>
          <a:xfrm>
            <a:off x="6195937" y="3240000"/>
            <a:ext cx="2435282" cy="461665"/>
          </a:xfrm>
          <a:prstGeom prst="rect">
            <a:avLst/>
          </a:prstGeom>
          <a:solidFill>
            <a:srgbClr val="F6F7FC"/>
          </a:solidFill>
        </p:spPr>
        <p:txBody>
          <a:bodyPr wrap="none">
            <a:spAutoFit/>
          </a:bodyPr>
          <a:lstStyle/>
          <a:p>
            <a:endParaRPr/>
          </a:p>
        </p:txBody>
      </p:sp>
      <p:sp>
        <p:nvSpPr>
          <p:cNvPr id="21" name="矩形 20"/>
          <p:cNvSpPr/>
          <p:nvPr/>
        </p:nvSpPr>
        <p:spPr>
          <a:xfrm>
            <a:off x="2250471" y="4366067"/>
            <a:ext cx="8933995" cy="461665"/>
          </a:xfrm>
          <a:prstGeom prst="rect">
            <a:avLst/>
          </a:prstGeom>
          <a:solidFill>
            <a:srgbClr val="F6F7FC"/>
          </a:solidFill>
        </p:spPr>
        <p:txBody>
          <a:bodyPr wrap="square">
            <a:spAutoFit/>
          </a:bodyPr>
          <a:lstStyle/>
          <a:p>
            <a:endParaRPr/>
          </a:p>
        </p:txBody>
      </p:sp>
      <p:sp>
        <p:nvSpPr>
          <p:cNvPr id="22" name="Rectangle 21"/>
          <p:cNvSpPr/>
          <p:nvPr/>
        </p:nvSpPr>
        <p:spPr>
          <a:xfrm>
            <a:off x="1026160" y="2509520"/>
            <a:ext cx="2174240" cy="426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23" name="Rectangle 22"/>
          <p:cNvSpPr/>
          <p:nvPr/>
        </p:nvSpPr>
        <p:spPr>
          <a:xfrm>
            <a:off x="753560" y="6309360"/>
            <a:ext cx="1686560" cy="46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24" name="Rectangle 23"/>
          <p:cNvSpPr/>
          <p:nvPr/>
        </p:nvSpPr>
        <p:spPr>
          <a:xfrm>
            <a:off x="3352800" y="5689600"/>
            <a:ext cx="4003040" cy="619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26" name="Rectangle 25"/>
          <p:cNvSpPr/>
          <p:nvPr/>
        </p:nvSpPr>
        <p:spPr>
          <a:xfrm>
            <a:off x="629920" y="986708"/>
            <a:ext cx="4009724" cy="4063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900" dirty="0">
                <a:solidFill>
                  <a:srgbClr val="222222"/>
                </a:solidFill>
                <a:latin typeface="Arial"/>
              </a:rPr>
              <a:t>Obtained Power Retailing License</a:t>
            </a:r>
            <a:endParaRPr sz="1900" b="0" dirty="0">
              <a:solidFill>
                <a:srgbClr val="222222"/>
              </a:solidFill>
              <a:latin typeface="Arial"/>
            </a:endParaRPr>
          </a:p>
        </p:txBody>
      </p:sp>
      <p:sp>
        <p:nvSpPr>
          <p:cNvPr id="27" name="Rectangle 26"/>
          <p:cNvSpPr/>
          <p:nvPr/>
        </p:nvSpPr>
        <p:spPr>
          <a:xfrm>
            <a:off x="1056640" y="1650999"/>
            <a:ext cx="2143760" cy="50568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500" b="1" dirty="0">
                <a:solidFill>
                  <a:srgbClr val="082B59"/>
                </a:solidFill>
                <a:latin typeface="Arial"/>
              </a:rPr>
              <a:t>Obtained Power </a:t>
            </a:r>
            <a:endParaRPr lang="en-US" sz="1500" b="1" dirty="0" smtClean="0">
              <a:solidFill>
                <a:srgbClr val="082B59"/>
              </a:solidFill>
              <a:latin typeface="Arial"/>
            </a:endParaRPr>
          </a:p>
          <a:p>
            <a:r>
              <a:rPr lang="en-US" sz="1500" b="1" dirty="0" smtClean="0">
                <a:solidFill>
                  <a:srgbClr val="082B59"/>
                </a:solidFill>
                <a:latin typeface="Arial"/>
              </a:rPr>
              <a:t>Retailing </a:t>
            </a:r>
            <a:r>
              <a:rPr lang="en-US" sz="1500" b="1" dirty="0">
                <a:solidFill>
                  <a:srgbClr val="082B59"/>
                </a:solidFill>
                <a:latin typeface="Arial"/>
              </a:rPr>
              <a:t>License</a:t>
            </a:r>
          </a:p>
        </p:txBody>
      </p:sp>
      <p:sp>
        <p:nvSpPr>
          <p:cNvPr id="25" name="Rectangle 24"/>
          <p:cNvSpPr/>
          <p:nvPr/>
        </p:nvSpPr>
        <p:spPr>
          <a:xfrm>
            <a:off x="3562438" y="153644"/>
            <a:ext cx="8597810" cy="9688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zh-TW" altLang="en-US" sz="2200" b="1" dirty="0">
                <a:solidFill>
                  <a:srgbClr val="09659A"/>
                </a:solidFill>
                <a:latin typeface="Arial"/>
              </a:rPr>
              <a:t>－</a:t>
            </a:r>
            <a:r>
              <a:rPr lang="en-US" sz="2200" b="1" dirty="0" smtClean="0">
                <a:solidFill>
                  <a:srgbClr val="09659A"/>
                </a:solidFill>
                <a:latin typeface="Arial"/>
              </a:rPr>
              <a:t>Breakthrough </a:t>
            </a:r>
            <a:r>
              <a:rPr lang="en-US" sz="2200" b="1" dirty="0">
                <a:solidFill>
                  <a:srgbClr val="09659A"/>
                </a:solidFill>
                <a:latin typeface="Arial"/>
              </a:rPr>
              <a:t>in Renewable Energy Power Retailing Business</a:t>
            </a:r>
            <a:endParaRPr sz="2200" b="1" dirty="0">
              <a:solidFill>
                <a:srgbClr val="09659A"/>
              </a:solidFill>
              <a:latin typeface="Arial"/>
            </a:endParaRPr>
          </a:p>
        </p:txBody>
      </p:sp>
      <p:sp>
        <p:nvSpPr>
          <p:cNvPr id="28" name="Rectangle 27"/>
          <p:cNvSpPr/>
          <p:nvPr/>
        </p:nvSpPr>
        <p:spPr>
          <a:xfrm>
            <a:off x="1046480" y="2540000"/>
            <a:ext cx="2496274" cy="36963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marL="285750" indent="-285750">
              <a:buFont typeface="Arial" panose="020B0604020202020204" pitchFamily="34" charset="0"/>
              <a:buChar char="•"/>
            </a:pPr>
            <a:r>
              <a:rPr lang="en-US" sz="1400" dirty="0" smtClean="0">
                <a:solidFill>
                  <a:srgbClr val="111111"/>
                </a:solidFill>
              </a:rPr>
              <a:t>Obtained </a:t>
            </a:r>
            <a:r>
              <a:rPr lang="en-US" sz="1400" dirty="0">
                <a:solidFill>
                  <a:srgbClr val="111111"/>
                </a:solidFill>
              </a:rPr>
              <a:t>on Sep 21, 2026</a:t>
            </a:r>
            <a:endParaRPr sz="1400" dirty="0">
              <a:solidFill>
                <a:srgbClr val="111111"/>
              </a:solidFill>
            </a:endParaRPr>
          </a:p>
        </p:txBody>
      </p:sp>
      <p:sp>
        <p:nvSpPr>
          <p:cNvPr id="29" name="Rectangle 28"/>
          <p:cNvSpPr/>
          <p:nvPr/>
        </p:nvSpPr>
        <p:spPr>
          <a:xfrm>
            <a:off x="4582160" y="1727200"/>
            <a:ext cx="1854735" cy="443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500" b="1">
                <a:solidFill>
                  <a:srgbClr val="082B59"/>
                </a:solidFill>
                <a:latin typeface="Arial"/>
              </a:rPr>
              <a:t>Preparatory Work</a:t>
            </a:r>
          </a:p>
        </p:txBody>
      </p:sp>
      <p:sp>
        <p:nvSpPr>
          <p:cNvPr id="30" name="Rectangle 29"/>
          <p:cNvSpPr/>
          <p:nvPr/>
        </p:nvSpPr>
        <p:spPr>
          <a:xfrm>
            <a:off x="4530774" y="2214858"/>
            <a:ext cx="2784425" cy="63662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200" dirty="0">
                <a:solidFill>
                  <a:srgbClr val="222222"/>
                </a:solidFill>
                <a:latin typeface="Arial"/>
              </a:rPr>
              <a:t>Conducting preparatory work for renewable energy </a:t>
            </a:r>
            <a:r>
              <a:rPr lang="en-US" sz="1200" dirty="0" smtClean="0">
                <a:solidFill>
                  <a:srgbClr val="222222"/>
                </a:solidFill>
                <a:latin typeface="Arial"/>
              </a:rPr>
              <a:t>PPAs </a:t>
            </a:r>
            <a:r>
              <a:rPr lang="en-US" sz="1200" dirty="0">
                <a:solidFill>
                  <a:srgbClr val="222222"/>
                </a:solidFill>
                <a:latin typeface="Arial"/>
              </a:rPr>
              <a:t>and electricity sales</a:t>
            </a:r>
            <a:endParaRPr sz="1200" b="0" dirty="0">
              <a:solidFill>
                <a:srgbClr val="222222"/>
              </a:solidFill>
              <a:latin typeface="Arial"/>
            </a:endParaRPr>
          </a:p>
        </p:txBody>
      </p:sp>
      <p:sp>
        <p:nvSpPr>
          <p:cNvPr id="31" name="Rectangle 30"/>
          <p:cNvSpPr/>
          <p:nvPr/>
        </p:nvSpPr>
        <p:spPr>
          <a:xfrm>
            <a:off x="3383280" y="5323840"/>
            <a:ext cx="3434080" cy="436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600" b="1">
                <a:solidFill>
                  <a:srgbClr val="082B59"/>
                </a:solidFill>
                <a:latin typeface="Arial"/>
              </a:rPr>
              <a:t>Continuing Project Expansion</a:t>
            </a:r>
          </a:p>
        </p:txBody>
      </p:sp>
      <p:sp>
        <p:nvSpPr>
          <p:cNvPr id="32" name="Rectangle 31"/>
          <p:cNvSpPr/>
          <p:nvPr/>
        </p:nvSpPr>
        <p:spPr>
          <a:xfrm>
            <a:off x="3352800" y="5709920"/>
            <a:ext cx="3962400" cy="599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100" dirty="0">
                <a:solidFill>
                  <a:srgbClr val="222222"/>
                </a:solidFill>
                <a:latin typeface="Arial"/>
              </a:rPr>
              <a:t>Continuously developing new solar sites to increase renewable energy procurement and sales </a:t>
            </a:r>
            <a:r>
              <a:rPr lang="en-US" sz="1100" dirty="0" smtClean="0">
                <a:solidFill>
                  <a:srgbClr val="222222"/>
                </a:solidFill>
                <a:latin typeface="Arial"/>
              </a:rPr>
              <a:t>volumes.</a:t>
            </a:r>
            <a:endParaRPr sz="1100" b="0" dirty="0">
              <a:solidFill>
                <a:srgbClr val="222222"/>
              </a:solidFill>
              <a:latin typeface="Arial"/>
            </a:endParaRPr>
          </a:p>
        </p:txBody>
      </p:sp>
      <p:sp>
        <p:nvSpPr>
          <p:cNvPr id="33" name="Rectangle 32"/>
          <p:cNvSpPr/>
          <p:nvPr/>
        </p:nvSpPr>
        <p:spPr>
          <a:xfrm>
            <a:off x="7650480" y="5628640"/>
            <a:ext cx="2103120" cy="426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500" b="1">
                <a:solidFill>
                  <a:srgbClr val="082B59"/>
                </a:solidFill>
                <a:latin typeface="Arial"/>
              </a:rPr>
              <a:t>Long-Term Strategy</a:t>
            </a:r>
          </a:p>
        </p:txBody>
      </p:sp>
      <p:sp>
        <p:nvSpPr>
          <p:cNvPr id="34" name="Rectangle 33"/>
          <p:cNvSpPr/>
          <p:nvPr/>
        </p:nvSpPr>
        <p:spPr>
          <a:xfrm>
            <a:off x="1056640" y="3200400"/>
            <a:ext cx="3135211" cy="49658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dirty="0">
                <a:solidFill>
                  <a:srgbClr val="111111"/>
                </a:solidFill>
                <a:latin typeface="Arial"/>
              </a:rPr>
              <a:t>2027 Electricity Sales Volume</a:t>
            </a:r>
            <a:endParaRPr dirty="0">
              <a:solidFill>
                <a:srgbClr val="111111"/>
              </a:solidFill>
              <a:latin typeface="Arial"/>
            </a:endParaRPr>
          </a:p>
        </p:txBody>
      </p:sp>
      <p:sp>
        <p:nvSpPr>
          <p:cNvPr id="36" name="Rectangle 35"/>
          <p:cNvSpPr/>
          <p:nvPr/>
        </p:nvSpPr>
        <p:spPr>
          <a:xfrm>
            <a:off x="6817360" y="4423246"/>
            <a:ext cx="4673600" cy="35195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r"/>
            <a:r>
              <a:rPr lang="en-US" sz="1400" b="1" dirty="0">
                <a:solidFill>
                  <a:srgbClr val="082B59"/>
                </a:solidFill>
              </a:rPr>
              <a:t>Post-power generation of the </a:t>
            </a:r>
            <a:r>
              <a:rPr lang="en-US" sz="1400" b="1" dirty="0" err="1" smtClean="0">
                <a:solidFill>
                  <a:srgbClr val="082B59"/>
                </a:solidFill>
              </a:rPr>
              <a:t>Fukang</a:t>
            </a:r>
            <a:r>
              <a:rPr lang="en-US" sz="1400" b="1" dirty="0" smtClean="0">
                <a:solidFill>
                  <a:srgbClr val="082B59"/>
                </a:solidFill>
              </a:rPr>
              <a:t> </a:t>
            </a:r>
            <a:r>
              <a:rPr lang="en-US" sz="1400" b="1" dirty="0">
                <a:solidFill>
                  <a:srgbClr val="082B59"/>
                </a:solidFill>
              </a:rPr>
              <a:t>Logistics Center solar site</a:t>
            </a:r>
            <a:endParaRPr sz="1400" b="1" dirty="0">
              <a:solidFill>
                <a:srgbClr val="082B59"/>
              </a:solidFill>
            </a:endParaRPr>
          </a:p>
        </p:txBody>
      </p:sp>
      <p:sp>
        <p:nvSpPr>
          <p:cNvPr id="3" name="矩形 2"/>
          <p:cNvSpPr/>
          <p:nvPr/>
        </p:nvSpPr>
        <p:spPr>
          <a:xfrm>
            <a:off x="967107" y="2186320"/>
            <a:ext cx="2828018" cy="400110"/>
          </a:xfrm>
          <a:prstGeom prst="rect">
            <a:avLst/>
          </a:prstGeom>
        </p:spPr>
        <p:txBody>
          <a:bodyPr wrap="none">
            <a:spAutoFit/>
          </a:bodyPr>
          <a:lstStyle/>
          <a:p>
            <a:r>
              <a:rPr lang="en-US" altLang="zh-TW" sz="2000" b="1" dirty="0"/>
              <a:t>Feng Yao Energy Co., Ltd.</a:t>
            </a:r>
            <a:endParaRPr lang="zh-TW" altLang="en-US" sz="2000" b="1" dirty="0"/>
          </a:p>
        </p:txBody>
      </p:sp>
      <p:sp>
        <p:nvSpPr>
          <p:cNvPr id="38" name="Rectangle 33"/>
          <p:cNvSpPr/>
          <p:nvPr/>
        </p:nvSpPr>
        <p:spPr>
          <a:xfrm>
            <a:off x="6317153" y="3184017"/>
            <a:ext cx="3135211" cy="49658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dirty="0" smtClean="0">
                <a:solidFill>
                  <a:srgbClr val="111111"/>
                </a:solidFill>
                <a:latin typeface="Arial"/>
              </a:rPr>
              <a:t>2028 </a:t>
            </a:r>
            <a:r>
              <a:rPr lang="en-US" dirty="0">
                <a:solidFill>
                  <a:srgbClr val="111111"/>
                </a:solidFill>
                <a:latin typeface="Arial"/>
              </a:rPr>
              <a:t>Electricity Sales Volume</a:t>
            </a:r>
            <a:endParaRPr dirty="0">
              <a:solidFill>
                <a:srgbClr val="111111"/>
              </a:solidFill>
              <a:latin typeface="Arial"/>
            </a:endParaRPr>
          </a:p>
        </p:txBody>
      </p:sp>
      <p:pic>
        <p:nvPicPr>
          <p:cNvPr id="39" name="圖片 38"/>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8024" y="6240140"/>
            <a:ext cx="2411776" cy="494773"/>
          </a:xfrm>
          <a:prstGeom prst="rect">
            <a:avLst/>
          </a:prstGeom>
        </p:spPr>
      </p:pic>
      <p:pic>
        <p:nvPicPr>
          <p:cNvPr id="35" name="圖片 34"/>
          <p:cNvPicPr>
            <a:picLocks noChangeAspect="1"/>
          </p:cNvPicPr>
          <p:nvPr/>
        </p:nvPicPr>
        <p:blipFill>
          <a:blip r:embed="rId7"/>
          <a:stretch>
            <a:fillRect/>
          </a:stretch>
        </p:blipFill>
        <p:spPr>
          <a:xfrm>
            <a:off x="582966" y="139442"/>
            <a:ext cx="3110729" cy="847147"/>
          </a:xfrm>
          <a:prstGeom prst="rect">
            <a:avLst/>
          </a:prstGeom>
        </p:spPr>
      </p:pic>
    </p:spTree>
    <p:extLst>
      <p:ext uri="{BB962C8B-B14F-4D97-AF65-F5344CB8AC3E}">
        <p14:creationId xmlns:p14="http://schemas.microsoft.com/office/powerpoint/2010/main" val="149439149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sp>
        <p:nvSpPr>
          <p:cNvPr id="4" name="矩形 3"/>
          <p:cNvSpPr/>
          <p:nvPr/>
        </p:nvSpPr>
        <p:spPr>
          <a:xfrm>
            <a:off x="2400300" y="6451600"/>
            <a:ext cx="1498600" cy="4064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53298" y="6340381"/>
            <a:ext cx="2268000" cy="389310"/>
          </a:xfrm>
          <a:prstGeom prst="rect">
            <a:avLst/>
          </a:prstGeom>
        </p:spPr>
      </p:pic>
      <p:pic>
        <p:nvPicPr>
          <p:cNvPr id="5" name="圖片 4"/>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773464" y="1103078"/>
            <a:ext cx="3524431" cy="647733"/>
          </a:xfrm>
          <a:prstGeom prst="rect">
            <a:avLst/>
          </a:prstGeom>
        </p:spPr>
      </p:pic>
      <p:grpSp>
        <p:nvGrpSpPr>
          <p:cNvPr id="11" name="群組 10"/>
          <p:cNvGrpSpPr/>
          <p:nvPr/>
        </p:nvGrpSpPr>
        <p:grpSpPr>
          <a:xfrm>
            <a:off x="6096000" y="938468"/>
            <a:ext cx="3327400" cy="812343"/>
            <a:chOff x="6096000" y="932701"/>
            <a:chExt cx="3327400" cy="987065"/>
          </a:xfrm>
        </p:grpSpPr>
        <p:sp>
          <p:nvSpPr>
            <p:cNvPr id="7" name="文字方塊 6"/>
            <p:cNvSpPr txBox="1"/>
            <p:nvPr/>
          </p:nvSpPr>
          <p:spPr>
            <a:xfrm>
              <a:off x="6096000" y="932701"/>
              <a:ext cx="3327400" cy="340734"/>
            </a:xfrm>
            <a:prstGeom prst="rect">
              <a:avLst/>
            </a:prstGeom>
            <a:solidFill>
              <a:srgbClr val="FEFEFE"/>
            </a:solidFill>
          </p:spPr>
          <p:txBody>
            <a:bodyPr wrap="square" rtlCol="0">
              <a:spAutoFit/>
            </a:bodyPr>
            <a:lstStyle/>
            <a:p>
              <a:pPr>
                <a:lnSpc>
                  <a:spcPct val="150000"/>
                </a:lnSpc>
              </a:pPr>
              <a:r>
                <a:rPr lang="en-US" altLang="zh-TW" sz="1200" dirty="0">
                  <a:ea typeface="Calibri" panose="020F0502020204030204" pitchFamily="34" charset="0"/>
                  <a:cs typeface="Calibri" panose="020F0502020204030204" pitchFamily="34" charset="0"/>
                </a:rPr>
                <a:t>Phase 1: 334 kW (Utilization Rate &gt;95</a:t>
              </a:r>
              <a:r>
                <a:rPr lang="en-US" altLang="zh-TW" sz="1200" dirty="0" smtClean="0">
                  <a:ea typeface="Calibri" panose="020F0502020204030204" pitchFamily="34" charset="0"/>
                  <a:cs typeface="Calibri" panose="020F0502020204030204" pitchFamily="34" charset="0"/>
                </a:rPr>
                <a:t>%)</a:t>
              </a:r>
            </a:p>
          </p:txBody>
        </p:sp>
        <p:sp>
          <p:nvSpPr>
            <p:cNvPr id="9" name="文字方塊 8"/>
            <p:cNvSpPr txBox="1"/>
            <p:nvPr/>
          </p:nvSpPr>
          <p:spPr>
            <a:xfrm>
              <a:off x="6096000" y="1273435"/>
              <a:ext cx="2802386" cy="646331"/>
            </a:xfrm>
            <a:prstGeom prst="rect">
              <a:avLst/>
            </a:prstGeom>
            <a:solidFill>
              <a:srgbClr val="FEFEFE"/>
            </a:solidFill>
          </p:spPr>
          <p:txBody>
            <a:bodyPr wrap="square" rtlCol="0">
              <a:spAutoFit/>
            </a:bodyPr>
            <a:lstStyle/>
            <a:p>
              <a:pPr>
                <a:lnSpc>
                  <a:spcPct val="150000"/>
                </a:lnSpc>
              </a:pPr>
              <a:r>
                <a:rPr lang="en-US" altLang="zh-TW" sz="1200" dirty="0" smtClean="0">
                  <a:ea typeface="Calibri" panose="020F0502020204030204" pitchFamily="34" charset="0"/>
                  <a:cs typeface="Calibri" panose="020F0502020204030204" pitchFamily="34" charset="0"/>
                </a:rPr>
                <a:t>Phase </a:t>
              </a:r>
              <a:r>
                <a:rPr lang="en-US" altLang="zh-TW" sz="1200" dirty="0">
                  <a:ea typeface="Calibri" panose="020F0502020204030204" pitchFamily="34" charset="0"/>
                  <a:cs typeface="Calibri" panose="020F0502020204030204" pitchFamily="34" charset="0"/>
                </a:rPr>
                <a:t>2: 1 MW </a:t>
              </a:r>
              <a:endParaRPr lang="en-US" altLang="zh-TW" sz="1200" dirty="0" smtClean="0">
                <a:ea typeface="Calibri" panose="020F0502020204030204" pitchFamily="34" charset="0"/>
                <a:cs typeface="Calibri" panose="020F0502020204030204" pitchFamily="34" charset="0"/>
              </a:endParaRPr>
            </a:p>
            <a:p>
              <a:pPr>
                <a:lnSpc>
                  <a:spcPct val="150000"/>
                </a:lnSpc>
              </a:pPr>
              <a:r>
                <a:rPr lang="en-US" altLang="zh-TW" sz="1200" dirty="0" smtClean="0">
                  <a:ea typeface="Calibri" panose="020F0502020204030204" pitchFamily="34" charset="0"/>
                  <a:cs typeface="Calibri" panose="020F0502020204030204" pitchFamily="34" charset="0"/>
                </a:rPr>
                <a:t>(</a:t>
              </a:r>
              <a:r>
                <a:rPr lang="en-US" altLang="zh-TW" sz="1200" dirty="0">
                  <a:ea typeface="Calibri" panose="020F0502020204030204" pitchFamily="34" charset="0"/>
                  <a:cs typeface="Calibri" panose="020F0502020204030204" pitchFamily="34" charset="0"/>
                </a:rPr>
                <a:t>Scheduled for Completion in Q4 2026)</a:t>
              </a:r>
              <a:endParaRPr lang="zh-TW" altLang="en-US" sz="1200" dirty="0">
                <a:ea typeface="Noto Sans TC ExtraBold" panose="020B0200000000000000" pitchFamily="34" charset="-120"/>
                <a:cs typeface="Calibri" panose="020F0502020204030204" pitchFamily="34" charset="0"/>
              </a:endParaRPr>
            </a:p>
          </p:txBody>
        </p:sp>
      </p:grpSp>
      <p:sp>
        <p:nvSpPr>
          <p:cNvPr id="12" name="文字方塊 11">
            <a:extLst>
              <a:ext uri="{FF2B5EF4-FFF2-40B4-BE49-F238E27FC236}">
                <a16:creationId xmlns="" xmlns:a16="http://schemas.microsoft.com/office/drawing/2014/main" id="{CE7AD2D9-2B63-4228-A5E9-B564A6D3D04F}"/>
              </a:ext>
            </a:extLst>
          </p:cNvPr>
          <p:cNvSpPr txBox="1"/>
          <p:nvPr/>
        </p:nvSpPr>
        <p:spPr>
          <a:xfrm>
            <a:off x="6891444" y="380504"/>
            <a:ext cx="4581870" cy="338554"/>
          </a:xfrm>
          <a:prstGeom prst="rect">
            <a:avLst/>
          </a:prstGeom>
          <a:solidFill>
            <a:schemeClr val="bg1"/>
          </a:solidFill>
        </p:spPr>
        <p:txBody>
          <a:bodyPr wrap="square" rtlCol="0">
            <a:spAutoFit/>
          </a:bodyPr>
          <a:lstStyle/>
          <a:p>
            <a:r>
              <a:rPr lang="en-US" altLang="zh-TW" sz="1600" b="1" dirty="0">
                <a:solidFill>
                  <a:srgbClr val="00B0F0"/>
                </a:solidFill>
                <a:latin typeface="Calibri" panose="020F0502020204030204" pitchFamily="34" charset="0"/>
                <a:ea typeface="Calibri" panose="020F0502020204030204" pitchFamily="34" charset="0"/>
                <a:cs typeface="Calibri" panose="020F0502020204030204" pitchFamily="34" charset="0"/>
              </a:rPr>
              <a:t>Biogas Biomass Energy </a:t>
            </a:r>
            <a:r>
              <a:rPr lang="en-US" altLang="zh-TW" sz="1600" b="1" dirty="0" smtClean="0">
                <a:solidFill>
                  <a:srgbClr val="00B0F0"/>
                </a:solidFill>
                <a:latin typeface="Calibri" panose="020F0502020204030204" pitchFamily="34" charset="0"/>
                <a:ea typeface="Calibri" panose="020F0502020204030204" pitchFamily="34" charset="0"/>
                <a:cs typeface="Calibri" panose="020F0502020204030204" pitchFamily="34" charset="0"/>
              </a:rPr>
              <a:t>Centers</a:t>
            </a:r>
            <a:r>
              <a:rPr lang="zh-TW" altLang="en-US" sz="1600" b="1" dirty="0" smtClean="0">
                <a:solidFill>
                  <a:srgbClr val="00B0F0"/>
                </a:solidFill>
                <a:latin typeface="Calibri" panose="020F0502020204030204" pitchFamily="34" charset="0"/>
                <a:ea typeface="Calibri" panose="020F0502020204030204" pitchFamily="34" charset="0"/>
                <a:cs typeface="Calibri" panose="020F0502020204030204" pitchFamily="34" charset="0"/>
              </a:rPr>
              <a:t> </a:t>
            </a:r>
            <a:r>
              <a:rPr lang="en-US" altLang="zh-TW" sz="1600" dirty="0">
                <a:latin typeface="Calibri" panose="020F0502020204030204" pitchFamily="34" charset="0"/>
                <a:ea typeface="Calibri" panose="020F0502020204030204" pitchFamily="34" charset="0"/>
                <a:cs typeface="Calibri" panose="020F0502020204030204" pitchFamily="34" charset="0"/>
              </a:rPr>
              <a:t>/</a:t>
            </a:r>
            <a:r>
              <a:rPr lang="zh-TW" altLang="en-US" sz="1600" dirty="0" smtClean="0">
                <a:latin typeface="Calibri" panose="020F0502020204030204" pitchFamily="34" charset="0"/>
                <a:ea typeface="微軟正黑體" panose="020B0604030504040204" pitchFamily="34" charset="-120"/>
                <a:cs typeface="Calibri" panose="020F0502020204030204" pitchFamily="34" charset="0"/>
              </a:rPr>
              <a:t> </a:t>
            </a:r>
            <a:r>
              <a:rPr lang="en-US" altLang="zh-TW" sz="1600" b="1" dirty="0">
                <a:solidFill>
                  <a:srgbClr val="00B0F0"/>
                </a:solidFill>
                <a:latin typeface="Calibri" panose="020F0502020204030204" pitchFamily="34" charset="0"/>
                <a:ea typeface="Calibri" panose="020F0502020204030204" pitchFamily="34" charset="0"/>
                <a:cs typeface="Calibri" panose="020F0502020204030204" pitchFamily="34" charset="0"/>
              </a:rPr>
              <a:t>TXI BAWENG INC.</a:t>
            </a:r>
            <a:endParaRPr lang="zh-TW" altLang="en-US" sz="1600" b="1" dirty="0">
              <a:solidFill>
                <a:srgbClr val="00B0F0"/>
              </a:solidFill>
              <a:latin typeface="Calibri" panose="020F0502020204030204" pitchFamily="34" charset="0"/>
              <a:cs typeface="Calibri" panose="020F0502020204030204" pitchFamily="34" charset="0"/>
            </a:endParaRPr>
          </a:p>
        </p:txBody>
      </p:sp>
      <p:pic>
        <p:nvPicPr>
          <p:cNvPr id="6" name="圖片 5"/>
          <p:cNvPicPr>
            <a:picLocks noChangeAspect="1"/>
          </p:cNvPicPr>
          <p:nvPr/>
        </p:nvPicPr>
        <p:blipFill>
          <a:blip r:embed="rId6"/>
          <a:stretch>
            <a:fillRect/>
          </a:stretch>
        </p:blipFill>
        <p:spPr>
          <a:xfrm>
            <a:off x="299861" y="21226"/>
            <a:ext cx="5270760" cy="829645"/>
          </a:xfrm>
          <a:prstGeom prst="rect">
            <a:avLst/>
          </a:prstGeom>
        </p:spPr>
      </p:pic>
    </p:spTree>
    <p:extLst>
      <p:ext uri="{BB962C8B-B14F-4D97-AF65-F5344CB8AC3E}">
        <p14:creationId xmlns:p14="http://schemas.microsoft.com/office/powerpoint/2010/main" val="98579863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527" y="-30"/>
            <a:ext cx="12204000" cy="6876623"/>
          </a:xfrm>
          <a:prstGeom prst="rect">
            <a:avLst/>
          </a:prstGeom>
        </p:spPr>
      </p:pic>
      <p:sp>
        <p:nvSpPr>
          <p:cNvPr id="3" name="文字方塊 2"/>
          <p:cNvSpPr txBox="1"/>
          <p:nvPr/>
        </p:nvSpPr>
        <p:spPr>
          <a:xfrm>
            <a:off x="5815965" y="1389626"/>
            <a:ext cx="2852063" cy="338554"/>
          </a:xfrm>
          <a:prstGeom prst="rect">
            <a:avLst/>
          </a:prstGeom>
          <a:noFill/>
        </p:spPr>
        <p:txBody>
          <a:bodyPr wrap="none" rtlCol="0">
            <a:spAutoFit/>
          </a:bodyPr>
          <a:lstStyle/>
          <a:p>
            <a:endParaRPr/>
          </a:p>
        </p:txBody>
      </p:sp>
      <p:sp>
        <p:nvSpPr>
          <p:cNvPr id="4" name="Rectangle 3"/>
          <p:cNvSpPr/>
          <p:nvPr/>
        </p:nvSpPr>
        <p:spPr>
          <a:xfrm>
            <a:off x="477520" y="121920"/>
            <a:ext cx="7010400" cy="589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2300" b="1" dirty="0">
                <a:solidFill>
                  <a:srgbClr val="082B59"/>
                </a:solidFill>
                <a:latin typeface="Arial"/>
              </a:rPr>
              <a:t>Biogas and Biomass Energy Industry Blueprint</a:t>
            </a:r>
          </a:p>
        </p:txBody>
      </p:sp>
      <p:sp>
        <p:nvSpPr>
          <p:cNvPr id="5" name="Rectangle 4"/>
          <p:cNvSpPr/>
          <p:nvPr/>
        </p:nvSpPr>
        <p:spPr>
          <a:xfrm>
            <a:off x="497840" y="762000"/>
            <a:ext cx="6888480" cy="396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300" b="1">
                <a:solidFill>
                  <a:srgbClr val="364C62"/>
                </a:solidFill>
                <a:latin typeface="Arial"/>
              </a:rPr>
              <a:t>Using organic waste to create green energy and advance a net-zero future</a:t>
            </a:r>
          </a:p>
        </p:txBody>
      </p:sp>
      <p:sp>
        <p:nvSpPr>
          <p:cNvPr id="6" name="Rectangle 5"/>
          <p:cNvSpPr/>
          <p:nvPr/>
        </p:nvSpPr>
        <p:spPr>
          <a:xfrm>
            <a:off x="9194800" y="193040"/>
            <a:ext cx="2753360" cy="29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900" b="1">
                <a:solidFill>
                  <a:srgbClr val="082B59"/>
                </a:solidFill>
                <a:latin typeface="Arial"/>
              </a:rPr>
              <a:t>Circular Economy  ×  Green Energy  ×  Sustainable Future</a:t>
            </a:r>
          </a:p>
        </p:txBody>
      </p:sp>
      <p:sp>
        <p:nvSpPr>
          <p:cNvPr id="7" name="Rectangle 6"/>
          <p:cNvSpPr/>
          <p:nvPr/>
        </p:nvSpPr>
        <p:spPr>
          <a:xfrm>
            <a:off x="729916" y="1259840"/>
            <a:ext cx="2641600" cy="463740"/>
          </a:xfrm>
          <a:prstGeom prst="rect">
            <a:avLst/>
          </a:prstGeom>
          <a:solidFill>
            <a:srgbClr val="154F93"/>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400" b="1" dirty="0">
                <a:solidFill>
                  <a:srgbClr val="FFFFFF"/>
                </a:solidFill>
                <a:latin typeface="Arial"/>
              </a:rPr>
              <a:t>Transition and Challenges</a:t>
            </a:r>
          </a:p>
        </p:txBody>
      </p:sp>
      <p:sp>
        <p:nvSpPr>
          <p:cNvPr id="8" name="Rectangle 7"/>
          <p:cNvSpPr/>
          <p:nvPr/>
        </p:nvSpPr>
        <p:spPr>
          <a:xfrm>
            <a:off x="904240" y="1838960"/>
            <a:ext cx="2346960" cy="34544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sz="1300" b="1" dirty="0">
                <a:solidFill>
                  <a:srgbClr val="082B59"/>
                </a:solidFill>
                <a:latin typeface="Arial"/>
              </a:rPr>
              <a:t>2025 </a:t>
            </a:r>
            <a:r>
              <a:rPr lang="en-US" sz="1300" b="1" dirty="0">
                <a:solidFill>
                  <a:srgbClr val="082B59"/>
                </a:solidFill>
                <a:latin typeface="Arial"/>
              </a:rPr>
              <a:t>potential utilization rate</a:t>
            </a:r>
            <a:r>
              <a:rPr sz="1300" b="1" dirty="0" smtClean="0">
                <a:solidFill>
                  <a:srgbClr val="082B59"/>
                </a:solidFill>
                <a:latin typeface="Arial"/>
              </a:rPr>
              <a:t>: </a:t>
            </a:r>
            <a:r>
              <a:rPr sz="1300" b="1" dirty="0">
                <a:solidFill>
                  <a:srgbClr val="082B59"/>
                </a:solidFill>
                <a:latin typeface="Arial"/>
              </a:rPr>
              <a:t>6%</a:t>
            </a:r>
          </a:p>
        </p:txBody>
      </p:sp>
      <p:sp>
        <p:nvSpPr>
          <p:cNvPr id="9" name="Rectangle 8"/>
          <p:cNvSpPr/>
          <p:nvPr/>
        </p:nvSpPr>
        <p:spPr>
          <a:xfrm>
            <a:off x="396240" y="3373120"/>
            <a:ext cx="2854960" cy="54864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About 50 facilities nationwide. Biowaste utilization still has substantial room to grow.</a:t>
            </a:r>
          </a:p>
        </p:txBody>
      </p:sp>
      <p:sp>
        <p:nvSpPr>
          <p:cNvPr id="10" name="Rectangle 9"/>
          <p:cNvSpPr/>
          <p:nvPr/>
        </p:nvSpPr>
        <p:spPr>
          <a:xfrm>
            <a:off x="3911600" y="1838960"/>
            <a:ext cx="2021840" cy="3454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300" b="1">
                <a:solidFill>
                  <a:srgbClr val="082B59"/>
                </a:solidFill>
                <a:latin typeface="Arial"/>
              </a:rPr>
              <a:t>Four industry bottlenecks</a:t>
            </a:r>
          </a:p>
        </p:txBody>
      </p:sp>
      <p:sp>
        <p:nvSpPr>
          <p:cNvPr id="11" name="Rectangle 10"/>
          <p:cNvSpPr/>
          <p:nvPr/>
        </p:nvSpPr>
        <p:spPr>
          <a:xfrm>
            <a:off x="6665494" y="1798320"/>
            <a:ext cx="2041625" cy="439554"/>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dirty="0">
                <a:solidFill>
                  <a:srgbClr val="082B59"/>
                </a:solidFill>
                <a:latin typeface="Arial"/>
              </a:rPr>
              <a:t>From end-of-pipe treatment to energy recovery</a:t>
            </a:r>
          </a:p>
        </p:txBody>
      </p:sp>
      <p:sp>
        <p:nvSpPr>
          <p:cNvPr id="12" name="Rectangle 11"/>
          <p:cNvSpPr/>
          <p:nvPr/>
        </p:nvSpPr>
        <p:spPr>
          <a:xfrm>
            <a:off x="6197600" y="2326640"/>
            <a:ext cx="2509520" cy="64008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sz="1000" b="0" dirty="0">
                <a:solidFill>
                  <a:srgbClr val="082B59"/>
                </a:solidFill>
                <a:latin typeface="Arial"/>
              </a:rPr>
              <a:t>Treat agricultural residues and livestock manure as </a:t>
            </a:r>
            <a:r>
              <a:rPr sz="1000" b="0" dirty="0" smtClean="0">
                <a:solidFill>
                  <a:srgbClr val="082B59"/>
                </a:solidFill>
                <a:latin typeface="Arial"/>
              </a:rPr>
              <a:t>resources</a:t>
            </a:r>
            <a:r>
              <a:rPr lang="en-US" sz="1000" b="0" dirty="0" smtClean="0">
                <a:solidFill>
                  <a:srgbClr val="082B59"/>
                </a:solidFill>
                <a:latin typeface="Arial"/>
              </a:rPr>
              <a:t>, </a:t>
            </a:r>
            <a:r>
              <a:rPr lang="en-US" sz="1000" dirty="0">
                <a:solidFill>
                  <a:srgbClr val="082B59"/>
                </a:solidFill>
                <a:latin typeface="Arial"/>
              </a:rPr>
              <a:t>e</a:t>
            </a:r>
            <a:r>
              <a:rPr lang="en-US" sz="1000" dirty="0" smtClean="0">
                <a:solidFill>
                  <a:srgbClr val="082B59"/>
                </a:solidFill>
                <a:latin typeface="Arial"/>
              </a:rPr>
              <a:t>stablish </a:t>
            </a:r>
            <a:r>
              <a:rPr lang="en-US" sz="1000" dirty="0">
                <a:solidFill>
                  <a:srgbClr val="082B59"/>
                </a:solidFill>
                <a:latin typeface="Arial"/>
              </a:rPr>
              <a:t>self-sustaining ecological and large-scale regional integrated facilities</a:t>
            </a:r>
            <a:r>
              <a:rPr sz="1000" b="0" dirty="0" smtClean="0">
                <a:solidFill>
                  <a:srgbClr val="082B59"/>
                </a:solidFill>
                <a:latin typeface="Arial"/>
              </a:rPr>
              <a:t>.</a:t>
            </a:r>
            <a:endParaRPr sz="1000" b="0" dirty="0">
              <a:solidFill>
                <a:srgbClr val="082B59"/>
              </a:solidFill>
              <a:latin typeface="Arial"/>
            </a:endParaRPr>
          </a:p>
        </p:txBody>
      </p:sp>
      <p:sp>
        <p:nvSpPr>
          <p:cNvPr id="13" name="Rectangle 12"/>
          <p:cNvSpPr/>
          <p:nvPr/>
        </p:nvSpPr>
        <p:spPr>
          <a:xfrm>
            <a:off x="924560" y="4094480"/>
            <a:ext cx="2804160" cy="375920"/>
          </a:xfrm>
          <a:prstGeom prst="rect">
            <a:avLst/>
          </a:prstGeom>
          <a:solidFill>
            <a:srgbClr val="154F93"/>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500" b="1">
                <a:solidFill>
                  <a:srgbClr val="FFFFFF"/>
                </a:solidFill>
                <a:latin typeface="Arial"/>
              </a:rPr>
              <a:t>2025 vs. 2050 Outlook</a:t>
            </a:r>
          </a:p>
        </p:txBody>
      </p:sp>
      <p:sp>
        <p:nvSpPr>
          <p:cNvPr id="14" name="Rectangle 13"/>
          <p:cNvSpPr/>
          <p:nvPr/>
        </p:nvSpPr>
        <p:spPr>
          <a:xfrm>
            <a:off x="1066800" y="4551680"/>
            <a:ext cx="1727200" cy="2946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300" b="1">
                <a:solidFill>
                  <a:srgbClr val="082B59"/>
                </a:solidFill>
                <a:latin typeface="Arial"/>
              </a:rPr>
              <a:t>Indicator</a:t>
            </a:r>
          </a:p>
        </p:txBody>
      </p:sp>
      <p:sp>
        <p:nvSpPr>
          <p:cNvPr id="15" name="Rectangle 14"/>
          <p:cNvSpPr/>
          <p:nvPr/>
        </p:nvSpPr>
        <p:spPr>
          <a:xfrm>
            <a:off x="3820160" y="4551680"/>
            <a:ext cx="1767840" cy="2946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300" b="1">
                <a:solidFill>
                  <a:srgbClr val="082B59"/>
                </a:solidFill>
                <a:latin typeface="Arial"/>
              </a:rPr>
              <a:t>2025 Status</a:t>
            </a:r>
          </a:p>
        </p:txBody>
      </p:sp>
      <p:sp>
        <p:nvSpPr>
          <p:cNvPr id="16" name="Rectangle 15"/>
          <p:cNvSpPr/>
          <p:nvPr/>
        </p:nvSpPr>
        <p:spPr>
          <a:xfrm>
            <a:off x="6573520" y="4551680"/>
            <a:ext cx="1818640" cy="2946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300" b="1">
                <a:solidFill>
                  <a:srgbClr val="082B59"/>
                </a:solidFill>
                <a:latin typeface="Arial"/>
              </a:rPr>
              <a:t>2050 Target</a:t>
            </a:r>
          </a:p>
        </p:txBody>
      </p:sp>
      <p:sp>
        <p:nvSpPr>
          <p:cNvPr id="17" name="Rectangle 16"/>
          <p:cNvSpPr/>
          <p:nvPr/>
        </p:nvSpPr>
        <p:spPr>
          <a:xfrm>
            <a:off x="1198880" y="4988560"/>
            <a:ext cx="1463040" cy="29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Facilities</a:t>
            </a:r>
          </a:p>
        </p:txBody>
      </p:sp>
      <p:sp>
        <p:nvSpPr>
          <p:cNvPr id="18" name="Rectangle 17"/>
          <p:cNvSpPr/>
          <p:nvPr/>
        </p:nvSpPr>
        <p:spPr>
          <a:xfrm>
            <a:off x="1198880" y="5384800"/>
            <a:ext cx="1463040" cy="29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Utilization rate</a:t>
            </a:r>
          </a:p>
        </p:txBody>
      </p:sp>
      <p:sp>
        <p:nvSpPr>
          <p:cNvPr id="19" name="Rectangle 18"/>
          <p:cNvSpPr/>
          <p:nvPr/>
        </p:nvSpPr>
        <p:spPr>
          <a:xfrm>
            <a:off x="1198880" y="5760720"/>
            <a:ext cx="1463040" cy="29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Industry milestone</a:t>
            </a:r>
          </a:p>
        </p:txBody>
      </p:sp>
      <p:sp>
        <p:nvSpPr>
          <p:cNvPr id="20" name="Rectangle 19"/>
          <p:cNvSpPr/>
          <p:nvPr/>
        </p:nvSpPr>
        <p:spPr>
          <a:xfrm>
            <a:off x="4003040" y="4988560"/>
            <a:ext cx="1229360" cy="28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200" b="1">
                <a:solidFill>
                  <a:srgbClr val="082B59"/>
                </a:solidFill>
                <a:latin typeface="Arial"/>
              </a:rPr>
              <a:t>About 50</a:t>
            </a:r>
          </a:p>
        </p:txBody>
      </p:sp>
      <p:sp>
        <p:nvSpPr>
          <p:cNvPr id="21" name="Rectangle 20"/>
          <p:cNvSpPr/>
          <p:nvPr/>
        </p:nvSpPr>
        <p:spPr>
          <a:xfrm>
            <a:off x="6979920" y="4988560"/>
            <a:ext cx="1148080" cy="28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200" b="1">
                <a:solidFill>
                  <a:srgbClr val="082B59"/>
                </a:solidFill>
                <a:latin typeface="Arial"/>
              </a:rPr>
              <a:t>100</a:t>
            </a:r>
          </a:p>
        </p:txBody>
      </p:sp>
      <p:sp>
        <p:nvSpPr>
          <p:cNvPr id="24" name="Rectangle 23"/>
          <p:cNvSpPr/>
          <p:nvPr/>
        </p:nvSpPr>
        <p:spPr>
          <a:xfrm>
            <a:off x="3962400" y="5781040"/>
            <a:ext cx="159512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100" b="1">
                <a:solidFill>
                  <a:srgbClr val="082B59"/>
                </a:solidFill>
                <a:latin typeface="Arial"/>
              </a:rPr>
              <a:t>Break bottlenecks</a:t>
            </a:r>
          </a:p>
        </p:txBody>
      </p:sp>
      <p:sp>
        <p:nvSpPr>
          <p:cNvPr id="25" name="Rectangle 24"/>
          <p:cNvSpPr/>
          <p:nvPr/>
        </p:nvSpPr>
        <p:spPr>
          <a:xfrm>
            <a:off x="6512560" y="5760720"/>
            <a:ext cx="1747520" cy="284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1100" b="1">
                <a:solidFill>
                  <a:srgbClr val="082B59"/>
                </a:solidFill>
                <a:latin typeface="Arial"/>
              </a:rPr>
              <a:t>Full energy recovery</a:t>
            </a:r>
          </a:p>
        </p:txBody>
      </p:sp>
      <p:sp>
        <p:nvSpPr>
          <p:cNvPr id="26" name="Rectangle 25"/>
          <p:cNvSpPr/>
          <p:nvPr/>
        </p:nvSpPr>
        <p:spPr>
          <a:xfrm>
            <a:off x="9519920" y="1503680"/>
            <a:ext cx="2367280" cy="426720"/>
          </a:xfrm>
          <a:prstGeom prst="rect">
            <a:avLst/>
          </a:prstGeom>
          <a:solidFill>
            <a:srgbClr val="1D875E"/>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FFFFFF"/>
                </a:solidFill>
                <a:latin typeface="Arial"/>
              </a:rPr>
              <a:t>2050 Net-Zero and Economic Vision</a:t>
            </a:r>
          </a:p>
        </p:txBody>
      </p:sp>
      <p:sp>
        <p:nvSpPr>
          <p:cNvPr id="27" name="Rectangle 26"/>
          <p:cNvSpPr/>
          <p:nvPr/>
        </p:nvSpPr>
        <p:spPr>
          <a:xfrm>
            <a:off x="9672320" y="2113280"/>
            <a:ext cx="2174240" cy="365760"/>
          </a:xfrm>
          <a:prstGeom prst="rect">
            <a:avLst/>
          </a:prstGeom>
          <a:solidFill>
            <a:srgbClr val="E8F5E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Cut external costs by NT$78.1bn</a:t>
            </a:r>
          </a:p>
        </p:txBody>
      </p:sp>
      <p:sp>
        <p:nvSpPr>
          <p:cNvPr id="28" name="Rectangle 27"/>
          <p:cNvSpPr/>
          <p:nvPr/>
        </p:nvSpPr>
        <p:spPr>
          <a:xfrm>
            <a:off x="9032240" y="2580640"/>
            <a:ext cx="2011680" cy="782320"/>
          </a:xfrm>
          <a:prstGeom prst="rect">
            <a:avLst/>
          </a:prstGeom>
          <a:solidFill>
            <a:srgbClr val="E8F5E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Resource recovery could reduce up to 1.167 million tonnes of emissions a year.</a:t>
            </a:r>
          </a:p>
        </p:txBody>
      </p:sp>
      <p:sp>
        <p:nvSpPr>
          <p:cNvPr id="29" name="Rectangle 28"/>
          <p:cNvSpPr/>
          <p:nvPr/>
        </p:nvSpPr>
        <p:spPr>
          <a:xfrm>
            <a:off x="9662160" y="3454400"/>
            <a:ext cx="2225040" cy="508000"/>
          </a:xfrm>
          <a:prstGeom prst="rect">
            <a:avLst/>
          </a:prstGeom>
          <a:solidFill>
            <a:srgbClr val="E8F5E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200" b="1" dirty="0">
                <a:solidFill>
                  <a:srgbClr val="082B59"/>
                </a:solidFill>
                <a:latin typeface="Arial"/>
              </a:rPr>
              <a:t>Generate NT$ 1.36 billion in green electricity </a:t>
            </a:r>
            <a:r>
              <a:rPr lang="en-US" sz="1200" b="1" dirty="0" smtClean="0">
                <a:solidFill>
                  <a:srgbClr val="082B59"/>
                </a:solidFill>
                <a:latin typeface="Arial"/>
              </a:rPr>
              <a:t>value.</a:t>
            </a:r>
            <a:endParaRPr sz="1200" b="1" dirty="0">
              <a:solidFill>
                <a:srgbClr val="082B59"/>
              </a:solidFill>
              <a:latin typeface="Arial"/>
            </a:endParaRPr>
          </a:p>
        </p:txBody>
      </p:sp>
      <p:sp>
        <p:nvSpPr>
          <p:cNvPr id="30" name="Rectangle 29"/>
          <p:cNvSpPr/>
          <p:nvPr/>
        </p:nvSpPr>
        <p:spPr>
          <a:xfrm>
            <a:off x="9083040" y="4074160"/>
            <a:ext cx="1869440" cy="568960"/>
          </a:xfrm>
          <a:prstGeom prst="rect">
            <a:avLst/>
          </a:prstGeom>
          <a:solidFill>
            <a:srgbClr val="E8F5E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Turn waste into a stable energy source and strengthen Taiwan’s green power supply.</a:t>
            </a:r>
          </a:p>
        </p:txBody>
      </p:sp>
      <p:sp>
        <p:nvSpPr>
          <p:cNvPr id="31" name="Rectangle 30"/>
          <p:cNvSpPr/>
          <p:nvPr/>
        </p:nvSpPr>
        <p:spPr>
          <a:xfrm>
            <a:off x="9062720" y="5547360"/>
            <a:ext cx="2489200" cy="558800"/>
          </a:xfrm>
          <a:prstGeom prst="rect">
            <a:avLst/>
          </a:prstGeom>
          <a:solidFill>
            <a:srgbClr val="E8F5E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Turn waste into a stable energy source and strengthen Taiwan’s green power supply.</a:t>
            </a:r>
          </a:p>
        </p:txBody>
      </p:sp>
      <p:sp>
        <p:nvSpPr>
          <p:cNvPr id="33" name="Rectangle 32"/>
          <p:cNvSpPr/>
          <p:nvPr/>
        </p:nvSpPr>
        <p:spPr>
          <a:xfrm>
            <a:off x="5892800" y="1381760"/>
            <a:ext cx="2775228" cy="25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0" dirty="0">
                <a:solidFill>
                  <a:srgbClr val="364C62"/>
                </a:solidFill>
                <a:latin typeface="Arial"/>
              </a:rPr>
              <a:t>Source: Ministry of Environment News</a:t>
            </a:r>
          </a:p>
        </p:txBody>
      </p:sp>
      <p:sp>
        <p:nvSpPr>
          <p:cNvPr id="34" name="Rectangle 33"/>
          <p:cNvSpPr/>
          <p:nvPr/>
        </p:nvSpPr>
        <p:spPr>
          <a:xfrm>
            <a:off x="3423920" y="2367280"/>
            <a:ext cx="1625600" cy="138176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35" name="Rectangle 34"/>
          <p:cNvSpPr/>
          <p:nvPr/>
        </p:nvSpPr>
        <p:spPr>
          <a:xfrm>
            <a:off x="5019040" y="2357120"/>
            <a:ext cx="873760" cy="3454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36" name="Rectangle 35"/>
          <p:cNvSpPr/>
          <p:nvPr/>
        </p:nvSpPr>
        <p:spPr>
          <a:xfrm>
            <a:off x="3525520" y="2428240"/>
            <a:ext cx="1473200" cy="2946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900" b="0" dirty="0">
                <a:solidFill>
                  <a:srgbClr val="082B59"/>
                </a:solidFill>
                <a:latin typeface="Arial"/>
              </a:rPr>
              <a:t>•  Costly feedstock logistics</a:t>
            </a:r>
          </a:p>
        </p:txBody>
      </p:sp>
      <p:sp>
        <p:nvSpPr>
          <p:cNvPr id="37" name="Rectangle 36"/>
          <p:cNvSpPr/>
          <p:nvPr/>
        </p:nvSpPr>
        <p:spPr>
          <a:xfrm>
            <a:off x="3525520" y="2763520"/>
            <a:ext cx="1473200" cy="2946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900" b="0" dirty="0">
                <a:solidFill>
                  <a:srgbClr val="082B59"/>
                </a:solidFill>
                <a:latin typeface="Arial"/>
              </a:rPr>
              <a:t>•  Complex regulation</a:t>
            </a:r>
          </a:p>
        </p:txBody>
      </p:sp>
      <p:sp>
        <p:nvSpPr>
          <p:cNvPr id="38" name="Rectangle 37"/>
          <p:cNvSpPr/>
          <p:nvPr/>
        </p:nvSpPr>
        <p:spPr>
          <a:xfrm>
            <a:off x="3525520" y="3098800"/>
            <a:ext cx="1473200" cy="2946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900" b="0" dirty="0">
                <a:solidFill>
                  <a:srgbClr val="082B59"/>
                </a:solidFill>
                <a:latin typeface="Arial"/>
              </a:rPr>
              <a:t>•  Few large facilities</a:t>
            </a:r>
          </a:p>
        </p:txBody>
      </p:sp>
      <p:sp>
        <p:nvSpPr>
          <p:cNvPr id="39" name="Rectangle 38"/>
          <p:cNvSpPr/>
          <p:nvPr/>
        </p:nvSpPr>
        <p:spPr>
          <a:xfrm>
            <a:off x="3525520" y="3434080"/>
            <a:ext cx="1473200" cy="29464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900" b="0" dirty="0">
                <a:solidFill>
                  <a:srgbClr val="082B59"/>
                </a:solidFill>
                <a:latin typeface="Arial"/>
              </a:rPr>
              <a:t>•  Immature pretreatment</a:t>
            </a:r>
          </a:p>
        </p:txBody>
      </p:sp>
      <p:pic>
        <p:nvPicPr>
          <p:cNvPr id="40" name="圖片 39"/>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1398" y="6367774"/>
            <a:ext cx="2268000" cy="389309"/>
          </a:xfrm>
          <a:prstGeom prst="rect">
            <a:avLst/>
          </a:prstGeom>
        </p:spPr>
      </p:pic>
    </p:spTree>
    <p:extLst>
      <p:ext uri="{BB962C8B-B14F-4D97-AF65-F5344CB8AC3E}">
        <p14:creationId xmlns:p14="http://schemas.microsoft.com/office/powerpoint/2010/main" val="30559363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pic>
        <p:nvPicPr>
          <p:cNvPr id="3" name="圖片 2"/>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1398" y="6367774"/>
            <a:ext cx="2268000" cy="389309"/>
          </a:xfrm>
          <a:prstGeom prst="rect">
            <a:avLst/>
          </a:prstGeom>
        </p:spPr>
      </p:pic>
      <p:sp>
        <p:nvSpPr>
          <p:cNvPr id="4" name="矩形 3"/>
          <p:cNvSpPr/>
          <p:nvPr/>
        </p:nvSpPr>
        <p:spPr>
          <a:xfrm>
            <a:off x="1221163" y="145534"/>
            <a:ext cx="6935873" cy="584775"/>
          </a:xfrm>
          <a:prstGeom prst="rect">
            <a:avLst/>
          </a:prstGeom>
          <a:solidFill>
            <a:schemeClr val="bg1"/>
          </a:solidFill>
        </p:spPr>
        <p:txBody>
          <a:bodyPr wrap="none">
            <a:spAutoFit/>
          </a:bodyPr>
          <a:lstStyle/>
          <a:p>
            <a:r>
              <a:rPr lang="en-US" altLang="zh-TW" sz="3200" b="1" dirty="0"/>
              <a:t>Linde LienHwa Industrial Gases Co., Ltd.</a:t>
            </a:r>
            <a:endParaRPr lang="zh-TW" altLang="en-US" sz="3200" b="1" dirty="0"/>
          </a:p>
        </p:txBody>
      </p:sp>
    </p:spTree>
    <p:extLst>
      <p:ext uri="{BB962C8B-B14F-4D97-AF65-F5344CB8AC3E}">
        <p14:creationId xmlns:p14="http://schemas.microsoft.com/office/powerpoint/2010/main" val="42771045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794"/>
            <a:ext cx="12204000" cy="6861087"/>
          </a:xfrm>
          <a:prstGeom prst="rect">
            <a:avLst/>
          </a:prstGeom>
        </p:spPr>
      </p:pic>
      <p:sp>
        <p:nvSpPr>
          <p:cNvPr id="3" name="文字方塊 2"/>
          <p:cNvSpPr txBox="1"/>
          <p:nvPr/>
        </p:nvSpPr>
        <p:spPr>
          <a:xfrm>
            <a:off x="9168300" y="1598191"/>
            <a:ext cx="1615827" cy="276999"/>
          </a:xfrm>
          <a:prstGeom prst="rect">
            <a:avLst/>
          </a:prstGeom>
          <a:solidFill>
            <a:srgbClr val="F6FEFD"/>
          </a:solidFill>
        </p:spPr>
        <p:txBody>
          <a:bodyPr wrap="none" lIns="0" tIns="0" rIns="0" bIns="0" rtlCol="0" anchor="ctr" anchorCtr="0">
            <a:spAutoFit/>
          </a:bodyPr>
          <a:lstStyle/>
          <a:p>
            <a:endParaRPr/>
          </a:p>
        </p:txBody>
      </p:sp>
      <p:sp>
        <p:nvSpPr>
          <p:cNvPr id="4" name="文字方塊 3"/>
          <p:cNvSpPr txBox="1"/>
          <p:nvPr/>
        </p:nvSpPr>
        <p:spPr>
          <a:xfrm>
            <a:off x="9197933" y="2998113"/>
            <a:ext cx="2574967" cy="430887"/>
          </a:xfrm>
          <a:prstGeom prst="rect">
            <a:avLst/>
          </a:prstGeom>
          <a:solidFill>
            <a:srgbClr val="F6FEFD"/>
          </a:solidFill>
        </p:spPr>
        <p:txBody>
          <a:bodyPr wrap="square" lIns="0" tIns="0" rIns="0" bIns="0" rtlCol="0" anchor="ctr" anchorCtr="0">
            <a:spAutoFit/>
          </a:bodyPr>
          <a:lstStyle/>
          <a:p>
            <a:endParaRPr/>
          </a:p>
        </p:txBody>
      </p:sp>
      <p:sp>
        <p:nvSpPr>
          <p:cNvPr id="5" name="矩形 4"/>
          <p:cNvSpPr/>
          <p:nvPr/>
        </p:nvSpPr>
        <p:spPr>
          <a:xfrm>
            <a:off x="6248400" y="2966135"/>
            <a:ext cx="2679700" cy="523220"/>
          </a:xfrm>
          <a:prstGeom prst="rect">
            <a:avLst/>
          </a:prstGeom>
          <a:solidFill>
            <a:srgbClr val="F6FEFD"/>
          </a:solidFill>
        </p:spPr>
        <p:txBody>
          <a:bodyPr wrap="square">
            <a:spAutoFit/>
          </a:bodyPr>
          <a:lstStyle/>
          <a:p>
            <a:endParaRPr/>
          </a:p>
        </p:txBody>
      </p:sp>
      <p:sp>
        <p:nvSpPr>
          <p:cNvPr id="6" name="矩形 5"/>
          <p:cNvSpPr/>
          <p:nvPr/>
        </p:nvSpPr>
        <p:spPr>
          <a:xfrm>
            <a:off x="286512" y="2950387"/>
            <a:ext cx="2657856" cy="738664"/>
          </a:xfrm>
          <a:prstGeom prst="rect">
            <a:avLst/>
          </a:prstGeom>
          <a:solidFill>
            <a:srgbClr val="F0F9FD"/>
          </a:solidFill>
        </p:spPr>
        <p:txBody>
          <a:bodyPr wrap="square">
            <a:spAutoFit/>
          </a:bodyPr>
          <a:lstStyle/>
          <a:p>
            <a:endParaRPr/>
          </a:p>
        </p:txBody>
      </p:sp>
      <p:sp>
        <p:nvSpPr>
          <p:cNvPr id="7" name="矩形 6"/>
          <p:cNvSpPr/>
          <p:nvPr/>
        </p:nvSpPr>
        <p:spPr>
          <a:xfrm>
            <a:off x="3264408" y="2995660"/>
            <a:ext cx="2657856" cy="738664"/>
          </a:xfrm>
          <a:prstGeom prst="rect">
            <a:avLst/>
          </a:prstGeom>
          <a:solidFill>
            <a:srgbClr val="F0F9FD"/>
          </a:solidFill>
        </p:spPr>
        <p:txBody>
          <a:bodyPr wrap="square">
            <a:spAutoFit/>
          </a:bodyPr>
          <a:lstStyle/>
          <a:p>
            <a:endParaRPr/>
          </a:p>
        </p:txBody>
      </p:sp>
      <p:sp>
        <p:nvSpPr>
          <p:cNvPr id="8" name="矩形 7"/>
          <p:cNvSpPr/>
          <p:nvPr/>
        </p:nvSpPr>
        <p:spPr>
          <a:xfrm>
            <a:off x="362712" y="5342620"/>
            <a:ext cx="2657856" cy="738664"/>
          </a:xfrm>
          <a:prstGeom prst="rect">
            <a:avLst/>
          </a:prstGeom>
          <a:solidFill>
            <a:srgbClr val="F0F9FD"/>
          </a:solidFill>
        </p:spPr>
        <p:txBody>
          <a:bodyPr wrap="square">
            <a:spAutoFit/>
          </a:bodyPr>
          <a:lstStyle/>
          <a:p>
            <a:endParaRPr/>
          </a:p>
        </p:txBody>
      </p:sp>
      <p:sp>
        <p:nvSpPr>
          <p:cNvPr id="9" name="矩形 8"/>
          <p:cNvSpPr/>
          <p:nvPr/>
        </p:nvSpPr>
        <p:spPr>
          <a:xfrm>
            <a:off x="3221736" y="5330428"/>
            <a:ext cx="2804414" cy="738664"/>
          </a:xfrm>
          <a:prstGeom prst="rect">
            <a:avLst/>
          </a:prstGeom>
          <a:solidFill>
            <a:srgbClr val="F1F8FF"/>
          </a:solidFill>
        </p:spPr>
        <p:txBody>
          <a:bodyPr wrap="square">
            <a:spAutoFit/>
          </a:bodyPr>
          <a:lstStyle/>
          <a:p>
            <a:endParaRPr/>
          </a:p>
        </p:txBody>
      </p:sp>
      <p:sp>
        <p:nvSpPr>
          <p:cNvPr id="10" name="Rectangle 9"/>
          <p:cNvSpPr/>
          <p:nvPr/>
        </p:nvSpPr>
        <p:spPr>
          <a:xfrm>
            <a:off x="6360160" y="5191760"/>
            <a:ext cx="5598160" cy="81280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11" name="Rectangle 10"/>
          <p:cNvSpPr/>
          <p:nvPr/>
        </p:nvSpPr>
        <p:spPr>
          <a:xfrm>
            <a:off x="6360160" y="4815840"/>
            <a:ext cx="5608320" cy="34544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12" name="Rectangle 11"/>
          <p:cNvSpPr/>
          <p:nvPr/>
        </p:nvSpPr>
        <p:spPr>
          <a:xfrm>
            <a:off x="497840" y="182879"/>
            <a:ext cx="11277600" cy="6453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sz="2400" b="1" dirty="0">
                <a:solidFill>
                  <a:srgbClr val="082B59"/>
                </a:solidFill>
                <a:latin typeface="Arial"/>
              </a:rPr>
              <a:t>Linde </a:t>
            </a:r>
            <a:r>
              <a:rPr sz="2400" b="1" dirty="0" err="1">
                <a:solidFill>
                  <a:srgbClr val="082B59"/>
                </a:solidFill>
                <a:latin typeface="Arial"/>
              </a:rPr>
              <a:t>LienHwa</a:t>
            </a:r>
            <a:r>
              <a:rPr sz="2400" b="1" dirty="0">
                <a:solidFill>
                  <a:srgbClr val="082B59"/>
                </a:solidFill>
                <a:latin typeface="Arial"/>
              </a:rPr>
              <a:t>: </a:t>
            </a:r>
            <a:r>
              <a:rPr lang="en-US" b="1" dirty="0">
                <a:solidFill>
                  <a:srgbClr val="082B59"/>
                </a:solidFill>
                <a:latin typeface="Arial"/>
              </a:rPr>
              <a:t>Deeply Integrated Long-Term Supply for Semiconductor and Packaging Leaders</a:t>
            </a:r>
            <a:endParaRPr b="1" dirty="0">
              <a:solidFill>
                <a:srgbClr val="082B59"/>
              </a:solidFill>
              <a:latin typeface="Arial"/>
            </a:endParaRPr>
          </a:p>
        </p:txBody>
      </p:sp>
      <p:sp>
        <p:nvSpPr>
          <p:cNvPr id="13" name="Rectangle 12"/>
          <p:cNvSpPr/>
          <p:nvPr/>
        </p:nvSpPr>
        <p:spPr>
          <a:xfrm>
            <a:off x="914400" y="944880"/>
            <a:ext cx="5080000" cy="477520"/>
          </a:xfrm>
          <a:prstGeom prst="rect">
            <a:avLst/>
          </a:prstGeom>
          <a:solidFill>
            <a:srgbClr val="154F93"/>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600" b="1">
                <a:solidFill>
                  <a:srgbClr val="FFFFFF"/>
                </a:solidFill>
                <a:latin typeface="Arial"/>
              </a:rPr>
              <a:t>Core Semiconductor and Packaging Supply</a:t>
            </a:r>
          </a:p>
        </p:txBody>
      </p:sp>
      <p:sp>
        <p:nvSpPr>
          <p:cNvPr id="14" name="Rectangle 13"/>
          <p:cNvSpPr/>
          <p:nvPr/>
        </p:nvSpPr>
        <p:spPr>
          <a:xfrm>
            <a:off x="7010400" y="955040"/>
            <a:ext cx="4978400" cy="426720"/>
          </a:xfrm>
          <a:prstGeom prst="rect">
            <a:avLst/>
          </a:prstGeom>
          <a:solidFill>
            <a:srgbClr val="1D875E"/>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700" b="1">
                <a:solidFill>
                  <a:srgbClr val="FFFFFF"/>
                </a:solidFill>
                <a:latin typeface="Arial"/>
              </a:rPr>
              <a:t>Long-Term Investment and Green Transition</a:t>
            </a:r>
          </a:p>
        </p:txBody>
      </p:sp>
      <p:sp>
        <p:nvSpPr>
          <p:cNvPr id="15" name="Rectangle 14"/>
          <p:cNvSpPr/>
          <p:nvPr/>
        </p:nvSpPr>
        <p:spPr>
          <a:xfrm>
            <a:off x="396240" y="1615440"/>
            <a:ext cx="2722880" cy="3352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Ultra-High-Purity Gas Technology (UHP)</a:t>
            </a:r>
          </a:p>
        </p:txBody>
      </p:sp>
      <p:sp>
        <p:nvSpPr>
          <p:cNvPr id="16" name="Rectangle 15"/>
          <p:cNvSpPr/>
          <p:nvPr/>
        </p:nvSpPr>
        <p:spPr>
          <a:xfrm>
            <a:off x="3251200" y="1615440"/>
            <a:ext cx="2773680" cy="3352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24/7 On-Site Pipeline Supply</a:t>
            </a:r>
          </a:p>
        </p:txBody>
      </p:sp>
      <p:sp>
        <p:nvSpPr>
          <p:cNvPr id="17" name="Rectangle 16"/>
          <p:cNvSpPr/>
          <p:nvPr/>
        </p:nvSpPr>
        <p:spPr>
          <a:xfrm>
            <a:off x="396240" y="3921760"/>
            <a:ext cx="2692400" cy="3352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Advanced Nodes and Packaging</a:t>
            </a:r>
          </a:p>
        </p:txBody>
      </p:sp>
      <p:sp>
        <p:nvSpPr>
          <p:cNvPr id="18" name="Rectangle 17"/>
          <p:cNvSpPr/>
          <p:nvPr/>
        </p:nvSpPr>
        <p:spPr>
          <a:xfrm>
            <a:off x="3251200" y="3921760"/>
            <a:ext cx="2773680" cy="3352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Local Semiconductor Gas Network</a:t>
            </a:r>
          </a:p>
        </p:txBody>
      </p:sp>
      <p:sp>
        <p:nvSpPr>
          <p:cNvPr id="19" name="Rectangle 18"/>
          <p:cNvSpPr/>
          <p:nvPr/>
        </p:nvSpPr>
        <p:spPr>
          <a:xfrm>
            <a:off x="701040" y="5354320"/>
            <a:ext cx="2011680" cy="2844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100" b="1">
                <a:solidFill>
                  <a:srgbClr val="082B59"/>
                </a:solidFill>
                <a:latin typeface="Arial"/>
              </a:rPr>
              <a:t>3 nm / 2 nm</a:t>
            </a:r>
          </a:p>
        </p:txBody>
      </p:sp>
      <p:sp>
        <p:nvSpPr>
          <p:cNvPr id="20" name="Rectangle 19"/>
          <p:cNvSpPr/>
          <p:nvPr/>
        </p:nvSpPr>
        <p:spPr>
          <a:xfrm>
            <a:off x="6410960" y="1615440"/>
            <a:ext cx="2489200" cy="30480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300" b="1">
                <a:solidFill>
                  <a:srgbClr val="082B59"/>
                </a:solidFill>
                <a:latin typeface="Arial"/>
              </a:rPr>
              <a:t>Long-Term Supply Contracts</a:t>
            </a:r>
          </a:p>
        </p:txBody>
      </p:sp>
      <p:sp>
        <p:nvSpPr>
          <p:cNvPr id="21" name="Rectangle 20"/>
          <p:cNvSpPr/>
          <p:nvPr/>
        </p:nvSpPr>
        <p:spPr>
          <a:xfrm>
            <a:off x="9306560" y="1595120"/>
            <a:ext cx="2550160" cy="34544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a:solidFill>
                  <a:srgbClr val="082B59"/>
                </a:solidFill>
                <a:latin typeface="Arial"/>
              </a:rPr>
              <a:t>Hydrogen and Low-Carbon Solutions</a:t>
            </a:r>
          </a:p>
        </p:txBody>
      </p:sp>
      <p:sp>
        <p:nvSpPr>
          <p:cNvPr id="22" name="Rectangle 21"/>
          <p:cNvSpPr/>
          <p:nvPr/>
        </p:nvSpPr>
        <p:spPr>
          <a:xfrm>
            <a:off x="6410960" y="2997200"/>
            <a:ext cx="2540000" cy="50800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Long-term contracts secure supply stability and predictable operations.</a:t>
            </a:r>
          </a:p>
        </p:txBody>
      </p:sp>
      <p:sp>
        <p:nvSpPr>
          <p:cNvPr id="23" name="Rectangle 22"/>
          <p:cNvSpPr/>
          <p:nvPr/>
        </p:nvSpPr>
        <p:spPr>
          <a:xfrm>
            <a:off x="9347200" y="2997200"/>
            <a:ext cx="2519680" cy="50800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Support customers’ low-carbon transition and sustainability goals.</a:t>
            </a:r>
          </a:p>
        </p:txBody>
      </p:sp>
      <p:sp>
        <p:nvSpPr>
          <p:cNvPr id="24" name="Rectangle 23"/>
          <p:cNvSpPr/>
          <p:nvPr/>
        </p:nvSpPr>
        <p:spPr>
          <a:xfrm>
            <a:off x="406400" y="2926080"/>
            <a:ext cx="2631440" cy="78232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High-purity nitrogen, oxygen, hydrogen and electronic specialty gases meet stringent semiconductor quality needs.</a:t>
            </a:r>
          </a:p>
        </p:txBody>
      </p:sp>
      <p:sp>
        <p:nvSpPr>
          <p:cNvPr id="25" name="Rectangle 24"/>
          <p:cNvSpPr/>
          <p:nvPr/>
        </p:nvSpPr>
        <p:spPr>
          <a:xfrm>
            <a:off x="3373120" y="2946400"/>
            <a:ext cx="2600960" cy="77216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Dedicated pipelines deliver continuous gas supply for yield and process stability.</a:t>
            </a:r>
          </a:p>
        </p:txBody>
      </p:sp>
      <p:sp>
        <p:nvSpPr>
          <p:cNvPr id="26" name="Rectangle 25"/>
          <p:cNvSpPr/>
          <p:nvPr/>
        </p:nvSpPr>
        <p:spPr>
          <a:xfrm>
            <a:off x="406400" y="5273040"/>
            <a:ext cx="2661920" cy="80264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000" dirty="0">
                <a:solidFill>
                  <a:srgbClr val="082B59"/>
                </a:solidFill>
                <a:latin typeface="Arial"/>
              </a:rPr>
              <a:t>High-purity gases and specialty materials support 3 nm / 2 nm nodes, as well as critical gases for advanced packaging.</a:t>
            </a:r>
            <a:endParaRPr sz="1000" b="0" dirty="0">
              <a:solidFill>
                <a:srgbClr val="082B59"/>
              </a:solidFill>
              <a:latin typeface="Arial"/>
            </a:endParaRPr>
          </a:p>
        </p:txBody>
      </p:sp>
      <p:sp>
        <p:nvSpPr>
          <p:cNvPr id="27" name="Rectangle 26"/>
          <p:cNvSpPr/>
          <p:nvPr/>
        </p:nvSpPr>
        <p:spPr>
          <a:xfrm>
            <a:off x="3342640" y="5293360"/>
            <a:ext cx="2682240" cy="7924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Local distribution stations in Taiwan’s science parks improve supply capacity and resilience.</a:t>
            </a:r>
          </a:p>
        </p:txBody>
      </p:sp>
      <p:sp>
        <p:nvSpPr>
          <p:cNvPr id="28" name="Rectangle 27"/>
          <p:cNvSpPr/>
          <p:nvPr/>
        </p:nvSpPr>
        <p:spPr>
          <a:xfrm>
            <a:off x="6400800" y="5232400"/>
            <a:ext cx="5547360" cy="741680"/>
          </a:xfrm>
          <a:prstGeom prst="rect">
            <a:avLst/>
          </a:prstGeom>
          <a:solidFill>
            <a:srgbClr val="E7F3F9"/>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sz="1200" b="1" dirty="0" smtClean="0">
                <a:solidFill>
                  <a:srgbClr val="082B59"/>
                </a:solidFill>
                <a:latin typeface="Arial"/>
              </a:rPr>
              <a:t>Gas Supply  →  </a:t>
            </a:r>
            <a:r>
              <a:rPr lang="en-US" sz="1200" b="1" dirty="0">
                <a:solidFill>
                  <a:srgbClr val="082B59"/>
                </a:solidFill>
                <a:latin typeface="Arial"/>
              </a:rPr>
              <a:t>On-Site </a:t>
            </a:r>
            <a:r>
              <a:rPr lang="en-US" sz="1200" b="1" dirty="0" smtClean="0">
                <a:solidFill>
                  <a:srgbClr val="082B59"/>
                </a:solidFill>
                <a:latin typeface="Arial"/>
              </a:rPr>
              <a:t>Supply</a:t>
            </a:r>
            <a:r>
              <a:rPr lang="zh-TW" altLang="en-US" sz="1200" b="1" dirty="0" smtClean="0">
                <a:solidFill>
                  <a:srgbClr val="082B59"/>
                </a:solidFill>
                <a:latin typeface="Arial"/>
              </a:rPr>
              <a:t> </a:t>
            </a:r>
            <a:r>
              <a:rPr sz="1200" b="1" dirty="0" smtClean="0">
                <a:solidFill>
                  <a:srgbClr val="082B59"/>
                </a:solidFill>
                <a:latin typeface="Arial"/>
              </a:rPr>
              <a:t>→  Local Production</a:t>
            </a:r>
            <a:r>
              <a:rPr lang="zh-TW" altLang="en-US" sz="1200" b="1" dirty="0" smtClean="0">
                <a:solidFill>
                  <a:srgbClr val="082B59"/>
                </a:solidFill>
                <a:latin typeface="Arial"/>
              </a:rPr>
              <a:t> → </a:t>
            </a:r>
            <a:endParaRPr sz="1200" b="1" dirty="0" smtClean="0">
              <a:solidFill>
                <a:srgbClr val="082B59"/>
              </a:solidFill>
              <a:latin typeface="Arial"/>
            </a:endParaRPr>
          </a:p>
          <a:p>
            <a:r>
              <a:rPr sz="1200" b="1" dirty="0" smtClean="0">
                <a:solidFill>
                  <a:srgbClr val="082B59"/>
                </a:solidFill>
                <a:latin typeface="Arial"/>
              </a:rPr>
              <a:t>Advanced </a:t>
            </a:r>
            <a:r>
              <a:rPr sz="1200" b="1" dirty="0">
                <a:solidFill>
                  <a:srgbClr val="082B59"/>
                </a:solidFill>
                <a:latin typeface="Arial"/>
              </a:rPr>
              <a:t>Nodes  →  Advanced Packaging  →  Low-Carbon </a:t>
            </a:r>
            <a:r>
              <a:rPr sz="1200" b="1" dirty="0" smtClean="0">
                <a:solidFill>
                  <a:srgbClr val="082B59"/>
                </a:solidFill>
                <a:latin typeface="Arial"/>
              </a:rPr>
              <a:t>Gases  →  </a:t>
            </a:r>
            <a:endParaRPr lang="en-US" sz="1200" b="1" dirty="0" smtClean="0">
              <a:solidFill>
                <a:srgbClr val="082B59"/>
              </a:solidFill>
              <a:latin typeface="Arial"/>
            </a:endParaRPr>
          </a:p>
          <a:p>
            <a:r>
              <a:rPr lang="en-US" sz="1200" b="1" dirty="0" smtClean="0">
                <a:solidFill>
                  <a:srgbClr val="082B59"/>
                </a:solidFill>
                <a:latin typeface="Arial"/>
              </a:rPr>
              <a:t>AI </a:t>
            </a:r>
            <a:r>
              <a:rPr lang="en-US" sz="1200" b="1" dirty="0">
                <a:solidFill>
                  <a:srgbClr val="082B59"/>
                </a:solidFill>
                <a:latin typeface="Arial"/>
              </a:rPr>
              <a:t>Semiconductor Expansion</a:t>
            </a:r>
            <a:endParaRPr sz="1200" b="1" dirty="0">
              <a:solidFill>
                <a:srgbClr val="082B59"/>
              </a:solidFill>
              <a:latin typeface="Arial"/>
            </a:endParaRPr>
          </a:p>
        </p:txBody>
      </p:sp>
      <p:sp>
        <p:nvSpPr>
          <p:cNvPr id="29" name="Rectangle 28"/>
          <p:cNvSpPr/>
          <p:nvPr/>
        </p:nvSpPr>
        <p:spPr>
          <a:xfrm>
            <a:off x="6360160" y="4876800"/>
            <a:ext cx="843280" cy="26416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Gas Supply</a:t>
            </a:r>
          </a:p>
        </p:txBody>
      </p:sp>
      <p:sp>
        <p:nvSpPr>
          <p:cNvPr id="30" name="Rectangle 29"/>
          <p:cNvSpPr/>
          <p:nvPr/>
        </p:nvSpPr>
        <p:spPr>
          <a:xfrm>
            <a:off x="7203440" y="4876800"/>
            <a:ext cx="853440" cy="26416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On-Site Supply</a:t>
            </a:r>
          </a:p>
        </p:txBody>
      </p:sp>
      <p:sp>
        <p:nvSpPr>
          <p:cNvPr id="31" name="Rectangle 30"/>
          <p:cNvSpPr/>
          <p:nvPr/>
        </p:nvSpPr>
        <p:spPr>
          <a:xfrm>
            <a:off x="8087360" y="4876800"/>
            <a:ext cx="822960" cy="26416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Local Production</a:t>
            </a:r>
          </a:p>
        </p:txBody>
      </p:sp>
      <p:sp>
        <p:nvSpPr>
          <p:cNvPr id="32" name="Rectangle 31"/>
          <p:cNvSpPr/>
          <p:nvPr/>
        </p:nvSpPr>
        <p:spPr>
          <a:xfrm>
            <a:off x="8910320" y="4876800"/>
            <a:ext cx="802640" cy="26416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Advanced Nodes</a:t>
            </a:r>
          </a:p>
        </p:txBody>
      </p:sp>
      <p:sp>
        <p:nvSpPr>
          <p:cNvPr id="33" name="Rectangle 32"/>
          <p:cNvSpPr/>
          <p:nvPr/>
        </p:nvSpPr>
        <p:spPr>
          <a:xfrm>
            <a:off x="9712960" y="4876800"/>
            <a:ext cx="782320" cy="26416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Packaging</a:t>
            </a:r>
          </a:p>
        </p:txBody>
      </p:sp>
      <p:sp>
        <p:nvSpPr>
          <p:cNvPr id="34" name="Rectangle 33"/>
          <p:cNvSpPr/>
          <p:nvPr/>
        </p:nvSpPr>
        <p:spPr>
          <a:xfrm>
            <a:off x="10505440" y="4876800"/>
            <a:ext cx="741680" cy="26416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Low Carbon</a:t>
            </a:r>
          </a:p>
        </p:txBody>
      </p:sp>
      <p:sp>
        <p:nvSpPr>
          <p:cNvPr id="35" name="Rectangle 34"/>
          <p:cNvSpPr/>
          <p:nvPr/>
        </p:nvSpPr>
        <p:spPr>
          <a:xfrm>
            <a:off x="11178006" y="4794985"/>
            <a:ext cx="831114" cy="437415"/>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lang="en-US" sz="800" b="1" dirty="0">
                <a:solidFill>
                  <a:srgbClr val="082B59"/>
                </a:solidFill>
                <a:latin typeface="Arial"/>
              </a:rPr>
              <a:t>AI </a:t>
            </a:r>
            <a:endParaRPr lang="en-US" sz="800" b="1" dirty="0" smtClean="0">
              <a:solidFill>
                <a:srgbClr val="082B59"/>
              </a:solidFill>
              <a:latin typeface="Arial"/>
            </a:endParaRPr>
          </a:p>
          <a:p>
            <a:pPr algn="ctr">
              <a:spcBef>
                <a:spcPts val="0"/>
              </a:spcBef>
              <a:spcAft>
                <a:spcPts val="0"/>
              </a:spcAft>
            </a:pPr>
            <a:r>
              <a:rPr lang="en-US" sz="800" b="1" dirty="0" smtClean="0">
                <a:solidFill>
                  <a:srgbClr val="082B59"/>
                </a:solidFill>
                <a:latin typeface="Arial"/>
              </a:rPr>
              <a:t>Semiconductor </a:t>
            </a:r>
            <a:r>
              <a:rPr lang="en-US" sz="800" b="1" dirty="0">
                <a:solidFill>
                  <a:srgbClr val="082B59"/>
                </a:solidFill>
                <a:latin typeface="Arial"/>
              </a:rPr>
              <a:t>Expansion</a:t>
            </a:r>
            <a:endParaRPr sz="800" b="1" dirty="0">
              <a:solidFill>
                <a:srgbClr val="082B59"/>
              </a:solidFill>
              <a:latin typeface="Arial"/>
            </a:endParaRPr>
          </a:p>
        </p:txBody>
      </p:sp>
      <p:pic>
        <p:nvPicPr>
          <p:cNvPr id="37" name="圖片 36"/>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0" y="6271824"/>
            <a:ext cx="2268000" cy="389309"/>
          </a:xfrm>
          <a:prstGeom prst="rect">
            <a:avLst/>
          </a:prstGeom>
        </p:spPr>
      </p:pic>
    </p:spTree>
    <p:extLst>
      <p:ext uri="{BB962C8B-B14F-4D97-AF65-F5344CB8AC3E}">
        <p14:creationId xmlns:p14="http://schemas.microsoft.com/office/powerpoint/2010/main" val="6734264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群組 6"/>
          <p:cNvGrpSpPr/>
          <p:nvPr/>
        </p:nvGrpSpPr>
        <p:grpSpPr>
          <a:xfrm>
            <a:off x="0" y="24946"/>
            <a:ext cx="12204000" cy="6814778"/>
            <a:chOff x="0" y="24946"/>
            <a:chExt cx="12204000" cy="6814778"/>
          </a:xfrm>
        </p:grpSpPr>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24946"/>
              <a:ext cx="12204000" cy="6814778"/>
            </a:xfrm>
            <a:prstGeom prst="rect">
              <a:avLst/>
            </a:prstGeom>
          </p:spPr>
        </p:pic>
        <p:sp>
          <p:nvSpPr>
            <p:cNvPr id="3" name="矩形 2"/>
            <p:cNvSpPr/>
            <p:nvPr/>
          </p:nvSpPr>
          <p:spPr>
            <a:xfrm>
              <a:off x="493776" y="772775"/>
              <a:ext cx="7690104" cy="307777"/>
            </a:xfrm>
            <a:prstGeom prst="rect">
              <a:avLst/>
            </a:prstGeom>
          </p:spPr>
          <p:txBody>
            <a:bodyPr wrap="square">
              <a:spAutoFit/>
            </a:bodyPr>
            <a:lstStyle/>
            <a:p>
              <a:endParaRPr/>
            </a:p>
          </p:txBody>
        </p:sp>
        <p:sp>
          <p:nvSpPr>
            <p:cNvPr id="4" name="矩形 3"/>
            <p:cNvSpPr/>
            <p:nvPr/>
          </p:nvSpPr>
          <p:spPr>
            <a:xfrm>
              <a:off x="10387584" y="4389120"/>
              <a:ext cx="432000" cy="252000"/>
            </a:xfrm>
            <a:prstGeom prst="rect">
              <a:avLst/>
            </a:prstGeom>
            <a:solidFill>
              <a:srgbClr val="E3F2FD"/>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a:p>
          </p:txBody>
        </p:sp>
        <p:sp>
          <p:nvSpPr>
            <p:cNvPr id="5" name="矩形 4"/>
            <p:cNvSpPr/>
            <p:nvPr/>
          </p:nvSpPr>
          <p:spPr>
            <a:xfrm>
              <a:off x="10118725" y="2011680"/>
              <a:ext cx="168275" cy="164592"/>
            </a:xfrm>
            <a:prstGeom prst="rect">
              <a:avLst/>
            </a:prstGeom>
            <a:solidFill>
              <a:srgbClr val="F2F9F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a:p>
          </p:txBody>
        </p:sp>
        <p:sp>
          <p:nvSpPr>
            <p:cNvPr id="6" name="矩形 5"/>
            <p:cNvSpPr/>
            <p:nvPr/>
          </p:nvSpPr>
          <p:spPr>
            <a:xfrm>
              <a:off x="444500" y="3149600"/>
              <a:ext cx="3479800" cy="67056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endParaRPr/>
            </a:p>
          </p:txBody>
        </p:sp>
      </p:grpSp>
      <p:sp>
        <p:nvSpPr>
          <p:cNvPr id="8" name="Rectangle 7"/>
          <p:cNvSpPr/>
          <p:nvPr/>
        </p:nvSpPr>
        <p:spPr>
          <a:xfrm>
            <a:off x="7193280" y="4338320"/>
            <a:ext cx="955040" cy="147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9" name="Rectangle 8"/>
          <p:cNvSpPr/>
          <p:nvPr/>
        </p:nvSpPr>
        <p:spPr>
          <a:xfrm>
            <a:off x="9204960" y="2794000"/>
            <a:ext cx="2763520" cy="5892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10" name="Rectangle 9"/>
          <p:cNvSpPr/>
          <p:nvPr/>
        </p:nvSpPr>
        <p:spPr>
          <a:xfrm>
            <a:off x="9215120" y="3728720"/>
            <a:ext cx="2692400" cy="54864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11" name="Rectangle 10"/>
          <p:cNvSpPr/>
          <p:nvPr/>
        </p:nvSpPr>
        <p:spPr>
          <a:xfrm>
            <a:off x="6045200" y="2712720"/>
            <a:ext cx="2052320" cy="924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sp>
        <p:nvSpPr>
          <p:cNvPr id="12" name="Rectangle 11"/>
          <p:cNvSpPr/>
          <p:nvPr/>
        </p:nvSpPr>
        <p:spPr>
          <a:xfrm>
            <a:off x="487680" y="203200"/>
            <a:ext cx="1002792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2000" b="1">
                <a:solidFill>
                  <a:srgbClr val="082B59"/>
                </a:solidFill>
                <a:latin typeface="Arial"/>
              </a:rPr>
              <a:t>Taiwan Manufacturing Investment, Q2 2026: AI and Gas Opportunities</a:t>
            </a:r>
          </a:p>
        </p:txBody>
      </p:sp>
      <p:sp>
        <p:nvSpPr>
          <p:cNvPr id="13" name="Rectangle 12"/>
          <p:cNvSpPr/>
          <p:nvPr/>
        </p:nvSpPr>
        <p:spPr>
          <a:xfrm>
            <a:off x="3453063" y="926048"/>
            <a:ext cx="4388853" cy="19155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spcBef>
                <a:spcPts val="0"/>
              </a:spcBef>
              <a:spcAft>
                <a:spcPts val="0"/>
              </a:spcAft>
            </a:pPr>
            <a:r>
              <a:rPr sz="1000" b="0" dirty="0">
                <a:solidFill>
                  <a:srgbClr val="364C62"/>
                </a:solidFill>
                <a:latin typeface="Arial"/>
              </a:rPr>
              <a:t>Source: Ministry of Economic Affairs, Statistics Department (Sept. 10, 2026)</a:t>
            </a:r>
          </a:p>
        </p:txBody>
      </p:sp>
      <p:sp>
        <p:nvSpPr>
          <p:cNvPr id="14" name="Rectangle 13"/>
          <p:cNvSpPr/>
          <p:nvPr/>
        </p:nvSpPr>
        <p:spPr>
          <a:xfrm>
            <a:off x="640080" y="1148080"/>
            <a:ext cx="3495040" cy="345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700" b="1">
                <a:solidFill>
                  <a:srgbClr val="082B59"/>
                </a:solidFill>
                <a:latin typeface="Arial"/>
              </a:rPr>
              <a:t>Investment Scale and Key Drivers</a:t>
            </a:r>
          </a:p>
        </p:txBody>
      </p:sp>
      <p:sp>
        <p:nvSpPr>
          <p:cNvPr id="15" name="Rectangle 14"/>
          <p:cNvSpPr/>
          <p:nvPr/>
        </p:nvSpPr>
        <p:spPr>
          <a:xfrm>
            <a:off x="4318000" y="1330960"/>
            <a:ext cx="3728720" cy="325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400" b="1">
                <a:solidFill>
                  <a:srgbClr val="082B59"/>
                </a:solidFill>
                <a:latin typeface="Arial"/>
              </a:rPr>
              <a:t>Electronic Components Lead: 81.1%</a:t>
            </a:r>
          </a:p>
        </p:txBody>
      </p:sp>
      <p:sp>
        <p:nvSpPr>
          <p:cNvPr id="16" name="Rectangle 15"/>
          <p:cNvSpPr/>
          <p:nvPr/>
        </p:nvSpPr>
        <p:spPr>
          <a:xfrm>
            <a:off x="1879600" y="1879600"/>
            <a:ext cx="23368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2700" b="1">
                <a:solidFill>
                  <a:srgbClr val="082B59"/>
                </a:solidFill>
                <a:latin typeface="Arial"/>
              </a:rPr>
              <a:t>NT$956.3bn</a:t>
            </a:r>
          </a:p>
        </p:txBody>
      </p:sp>
      <p:sp>
        <p:nvSpPr>
          <p:cNvPr id="17" name="Rectangle 16"/>
          <p:cNvSpPr/>
          <p:nvPr/>
        </p:nvSpPr>
        <p:spPr>
          <a:xfrm>
            <a:off x="477520" y="2834640"/>
            <a:ext cx="3505200" cy="416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1100" b="1" dirty="0">
                <a:solidFill>
                  <a:srgbClr val="082B59"/>
                </a:solidFill>
                <a:latin typeface="Arial"/>
              </a:rPr>
              <a:t>Capital </a:t>
            </a:r>
            <a:r>
              <a:rPr lang="en-US" sz="1100" b="1" dirty="0" smtClean="0">
                <a:solidFill>
                  <a:srgbClr val="082B59"/>
                </a:solidFill>
                <a:latin typeface="Arial"/>
              </a:rPr>
              <a:t>Expenditures </a:t>
            </a:r>
            <a:r>
              <a:rPr sz="1100" b="1" dirty="0" smtClean="0">
                <a:solidFill>
                  <a:srgbClr val="082B59"/>
                </a:solidFill>
                <a:latin typeface="Arial"/>
              </a:rPr>
              <a:t>grew </a:t>
            </a:r>
            <a:r>
              <a:rPr sz="1100" b="1" dirty="0">
                <a:solidFill>
                  <a:srgbClr val="082B59"/>
                </a:solidFill>
                <a:latin typeface="Arial"/>
              </a:rPr>
              <a:t>53.7% to NT$956.3bn.</a:t>
            </a:r>
          </a:p>
        </p:txBody>
      </p:sp>
      <p:sp>
        <p:nvSpPr>
          <p:cNvPr id="18" name="Rectangle 17"/>
          <p:cNvSpPr/>
          <p:nvPr/>
        </p:nvSpPr>
        <p:spPr>
          <a:xfrm>
            <a:off x="6035040" y="1869440"/>
            <a:ext cx="1940560" cy="81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2200" b="1" dirty="0">
                <a:solidFill>
                  <a:srgbClr val="082B59"/>
                </a:solidFill>
                <a:latin typeface="Arial"/>
              </a:rPr>
              <a:t>NT$775.1bn</a:t>
            </a:r>
          </a:p>
          <a:p>
            <a:pPr algn="l">
              <a:spcBef>
                <a:spcPts val="0"/>
              </a:spcBef>
              <a:spcAft>
                <a:spcPts val="0"/>
              </a:spcAft>
            </a:pPr>
            <a:r>
              <a:rPr sz="2200" b="1" dirty="0">
                <a:solidFill>
                  <a:srgbClr val="082B59"/>
                </a:solidFill>
                <a:latin typeface="Arial"/>
              </a:rPr>
              <a:t>+71.5%</a:t>
            </a:r>
          </a:p>
        </p:txBody>
      </p:sp>
      <p:sp>
        <p:nvSpPr>
          <p:cNvPr id="19" name="Rectangle 18"/>
          <p:cNvSpPr/>
          <p:nvPr/>
        </p:nvSpPr>
        <p:spPr>
          <a:xfrm>
            <a:off x="6075680" y="2712720"/>
            <a:ext cx="2021840" cy="894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dirty="0">
                <a:solidFill>
                  <a:srgbClr val="082B59"/>
                </a:solidFill>
                <a:latin typeface="Arial"/>
              </a:rPr>
              <a:t>Investment reached NT$775.1bn, up 71.5%, driving manufacturing growth.</a:t>
            </a:r>
          </a:p>
        </p:txBody>
      </p:sp>
      <p:sp>
        <p:nvSpPr>
          <p:cNvPr id="20" name="Rectangle 19"/>
          <p:cNvSpPr/>
          <p:nvPr/>
        </p:nvSpPr>
        <p:spPr>
          <a:xfrm>
            <a:off x="436880" y="3931920"/>
            <a:ext cx="3535680" cy="355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500" b="1">
                <a:solidFill>
                  <a:srgbClr val="082B59"/>
                </a:solidFill>
                <a:latin typeface="Arial"/>
              </a:rPr>
              <a:t>AI and Net Zero: Two Growth Engines</a:t>
            </a:r>
          </a:p>
        </p:txBody>
      </p:sp>
      <p:sp>
        <p:nvSpPr>
          <p:cNvPr id="21" name="Rectangle 20"/>
          <p:cNvSpPr/>
          <p:nvPr/>
        </p:nvSpPr>
        <p:spPr>
          <a:xfrm>
            <a:off x="467360" y="5435600"/>
            <a:ext cx="3444240" cy="528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0">
                <a:solidFill>
                  <a:srgbClr val="082B59"/>
                </a:solidFill>
                <a:latin typeface="Arial"/>
              </a:rPr>
              <a:t>Cloud service providers continue heavy capital spending and energy-transition investment.</a:t>
            </a:r>
          </a:p>
        </p:txBody>
      </p:sp>
      <p:sp>
        <p:nvSpPr>
          <p:cNvPr id="22" name="Rectangle 21"/>
          <p:cNvSpPr/>
          <p:nvPr/>
        </p:nvSpPr>
        <p:spPr>
          <a:xfrm>
            <a:off x="3962400" y="3901440"/>
            <a:ext cx="41859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sz="1200" b="1" dirty="0">
                <a:solidFill>
                  <a:srgbClr val="082B59"/>
                </a:solidFill>
                <a:latin typeface="Arial"/>
              </a:rPr>
              <a:t>Q2 2026 </a:t>
            </a:r>
            <a:r>
              <a:rPr lang="en-US" sz="1200" b="1" dirty="0" err="1">
                <a:solidFill>
                  <a:srgbClr val="082B59"/>
                </a:solidFill>
                <a:latin typeface="Arial"/>
              </a:rPr>
              <a:t>CapEx</a:t>
            </a:r>
            <a:r>
              <a:rPr lang="en-US" sz="1200" b="1" dirty="0">
                <a:solidFill>
                  <a:srgbClr val="082B59"/>
                </a:solidFill>
                <a:latin typeface="Arial"/>
              </a:rPr>
              <a:t> Growth by Industry </a:t>
            </a:r>
            <a:r>
              <a:rPr sz="1200" b="1" dirty="0" smtClean="0">
                <a:solidFill>
                  <a:srgbClr val="082B59"/>
                </a:solidFill>
                <a:latin typeface="Arial"/>
              </a:rPr>
              <a:t>(</a:t>
            </a:r>
            <a:r>
              <a:rPr sz="1200" b="1" dirty="0">
                <a:solidFill>
                  <a:srgbClr val="082B59"/>
                </a:solidFill>
                <a:latin typeface="Arial"/>
              </a:rPr>
              <a:t>NT$100m)</a:t>
            </a:r>
          </a:p>
        </p:txBody>
      </p:sp>
      <p:sp>
        <p:nvSpPr>
          <p:cNvPr id="23" name="Rectangle 22"/>
          <p:cNvSpPr/>
          <p:nvPr/>
        </p:nvSpPr>
        <p:spPr>
          <a:xfrm>
            <a:off x="4460240" y="4358640"/>
            <a:ext cx="1137920" cy="47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900" b="1">
                <a:solidFill>
                  <a:srgbClr val="082B59"/>
                </a:solidFill>
                <a:latin typeface="Arial"/>
              </a:rPr>
              <a:t>Electronic components</a:t>
            </a:r>
          </a:p>
        </p:txBody>
      </p:sp>
      <p:sp>
        <p:nvSpPr>
          <p:cNvPr id="24" name="Rectangle 23"/>
          <p:cNvSpPr/>
          <p:nvPr/>
        </p:nvSpPr>
        <p:spPr>
          <a:xfrm>
            <a:off x="4460240" y="4815840"/>
            <a:ext cx="1137920" cy="47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900" b="1">
                <a:solidFill>
                  <a:srgbClr val="082B59"/>
                </a:solidFill>
                <a:latin typeface="Arial"/>
              </a:rPr>
              <a:t>Computers and optical products</a:t>
            </a:r>
          </a:p>
        </p:txBody>
      </p:sp>
      <p:sp>
        <p:nvSpPr>
          <p:cNvPr id="25" name="Rectangle 24"/>
          <p:cNvSpPr/>
          <p:nvPr/>
        </p:nvSpPr>
        <p:spPr>
          <a:xfrm>
            <a:off x="4460240" y="5303520"/>
            <a:ext cx="1137920" cy="47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900" b="1">
                <a:solidFill>
                  <a:srgbClr val="082B59"/>
                </a:solidFill>
                <a:latin typeface="Arial"/>
              </a:rPr>
              <a:t>Power equipment and distribution</a:t>
            </a:r>
          </a:p>
        </p:txBody>
      </p:sp>
      <p:sp>
        <p:nvSpPr>
          <p:cNvPr id="26" name="Rectangle 25"/>
          <p:cNvSpPr/>
          <p:nvPr/>
        </p:nvSpPr>
        <p:spPr>
          <a:xfrm>
            <a:off x="6604000" y="4409440"/>
            <a:ext cx="914400" cy="243840"/>
          </a:xfrm>
          <a:prstGeom prst="rect">
            <a:avLst/>
          </a:prstGeom>
          <a:solidFill>
            <a:srgbClr val="154F93"/>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100" b="1">
                <a:solidFill>
                  <a:srgbClr val="FFFFFF"/>
                </a:solidFill>
                <a:latin typeface="Arial"/>
              </a:rPr>
              <a:t>7,751</a:t>
            </a:r>
          </a:p>
        </p:txBody>
      </p:sp>
      <p:sp>
        <p:nvSpPr>
          <p:cNvPr id="27" name="Rectangle 26"/>
          <p:cNvSpPr/>
          <p:nvPr/>
        </p:nvSpPr>
        <p:spPr>
          <a:xfrm>
            <a:off x="7193280" y="4348480"/>
            <a:ext cx="924560" cy="436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1" dirty="0">
                <a:solidFill>
                  <a:srgbClr val="C21221"/>
                </a:solidFill>
                <a:latin typeface="Arial"/>
              </a:rPr>
              <a:t>+71.5</a:t>
            </a:r>
            <a:r>
              <a:rPr sz="1000" b="1" dirty="0" smtClean="0">
                <a:solidFill>
                  <a:srgbClr val="C21221"/>
                </a:solidFill>
                <a:latin typeface="Arial"/>
              </a:rPr>
              <a:t>%</a:t>
            </a:r>
            <a:endParaRPr lang="en-US" sz="1000" b="1" dirty="0" smtClean="0">
              <a:solidFill>
                <a:srgbClr val="C21221"/>
              </a:solidFill>
              <a:latin typeface="Arial"/>
            </a:endParaRPr>
          </a:p>
          <a:p>
            <a:r>
              <a:rPr lang="en-US" sz="1000" b="1" dirty="0" smtClean="0">
                <a:solidFill>
                  <a:srgbClr val="C21221"/>
                </a:solidFill>
                <a:latin typeface="Arial"/>
              </a:rPr>
              <a:t>NT$775.1bn</a:t>
            </a:r>
            <a:endParaRPr lang="en-US" sz="1000" b="1" dirty="0">
              <a:solidFill>
                <a:srgbClr val="C21221"/>
              </a:solidFill>
              <a:latin typeface="Arial"/>
            </a:endParaRPr>
          </a:p>
        </p:txBody>
      </p:sp>
      <p:sp>
        <p:nvSpPr>
          <p:cNvPr id="28" name="Rectangle 27"/>
          <p:cNvSpPr/>
          <p:nvPr/>
        </p:nvSpPr>
        <p:spPr>
          <a:xfrm>
            <a:off x="7193280" y="4744720"/>
            <a:ext cx="92456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1">
                <a:solidFill>
                  <a:srgbClr val="C21221"/>
                </a:solidFill>
                <a:latin typeface="Arial"/>
              </a:rPr>
              <a:t>+29.0%</a:t>
            </a:r>
          </a:p>
          <a:p>
            <a:pPr algn="l">
              <a:spcBef>
                <a:spcPts val="0"/>
              </a:spcBef>
              <a:spcAft>
                <a:spcPts val="0"/>
              </a:spcAft>
            </a:pPr>
            <a:r>
              <a:rPr sz="1000" b="1">
                <a:solidFill>
                  <a:srgbClr val="C21221"/>
                </a:solidFill>
                <a:latin typeface="Arial"/>
              </a:rPr>
              <a:t>NT$25.8bn</a:t>
            </a:r>
          </a:p>
        </p:txBody>
      </p:sp>
      <p:sp>
        <p:nvSpPr>
          <p:cNvPr id="29" name="Rectangle 28"/>
          <p:cNvSpPr/>
          <p:nvPr/>
        </p:nvSpPr>
        <p:spPr>
          <a:xfrm>
            <a:off x="7193280" y="5262880"/>
            <a:ext cx="92456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000" b="1">
                <a:solidFill>
                  <a:srgbClr val="C21221"/>
                </a:solidFill>
                <a:latin typeface="Arial"/>
              </a:rPr>
              <a:t>+26.2%</a:t>
            </a:r>
          </a:p>
          <a:p>
            <a:pPr algn="l">
              <a:spcBef>
                <a:spcPts val="0"/>
              </a:spcBef>
              <a:spcAft>
                <a:spcPts val="0"/>
              </a:spcAft>
            </a:pPr>
            <a:r>
              <a:rPr sz="1000" b="1">
                <a:solidFill>
                  <a:srgbClr val="C21221"/>
                </a:solidFill>
                <a:latin typeface="Arial"/>
              </a:rPr>
              <a:t>NT$11.7bn</a:t>
            </a:r>
          </a:p>
        </p:txBody>
      </p:sp>
      <p:sp>
        <p:nvSpPr>
          <p:cNvPr id="30" name="Rectangle 29"/>
          <p:cNvSpPr/>
          <p:nvPr/>
        </p:nvSpPr>
        <p:spPr>
          <a:xfrm>
            <a:off x="8239760" y="904240"/>
            <a:ext cx="3840480" cy="497840"/>
          </a:xfrm>
          <a:prstGeom prst="rect">
            <a:avLst/>
          </a:prstGeom>
          <a:solidFill>
            <a:srgbClr val="154F93"/>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600" b="1" dirty="0">
                <a:solidFill>
                  <a:srgbClr val="FFFFFF"/>
                </a:solidFill>
                <a:latin typeface="Arial"/>
              </a:rPr>
              <a:t>Linde </a:t>
            </a:r>
            <a:r>
              <a:rPr sz="1600" b="1" dirty="0" err="1">
                <a:solidFill>
                  <a:srgbClr val="FFFFFF"/>
                </a:solidFill>
                <a:latin typeface="Arial"/>
              </a:rPr>
              <a:t>LienHwa</a:t>
            </a:r>
            <a:r>
              <a:rPr sz="1600" b="1" dirty="0">
                <a:solidFill>
                  <a:srgbClr val="FFFFFF"/>
                </a:solidFill>
                <a:latin typeface="Arial"/>
              </a:rPr>
              <a:t> Business Opportunities</a:t>
            </a:r>
          </a:p>
        </p:txBody>
      </p:sp>
      <p:sp>
        <p:nvSpPr>
          <p:cNvPr id="31" name="Rectangle 30"/>
          <p:cNvSpPr/>
          <p:nvPr/>
        </p:nvSpPr>
        <p:spPr>
          <a:xfrm>
            <a:off x="9174480" y="1452880"/>
            <a:ext cx="2773680" cy="41656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100" b="1" dirty="0">
                <a:solidFill>
                  <a:srgbClr val="082B59"/>
                </a:solidFill>
                <a:latin typeface="Arial"/>
              </a:rPr>
              <a:t>Rising Demand for On-Site and ASU Supply</a:t>
            </a:r>
          </a:p>
        </p:txBody>
      </p:sp>
      <p:sp>
        <p:nvSpPr>
          <p:cNvPr id="32" name="Rectangle 31"/>
          <p:cNvSpPr/>
          <p:nvPr/>
        </p:nvSpPr>
        <p:spPr>
          <a:xfrm>
            <a:off x="9184640" y="1798320"/>
            <a:ext cx="2631440" cy="4368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900" dirty="0">
                <a:solidFill>
                  <a:srgbClr val="082B59"/>
                </a:solidFill>
                <a:latin typeface="Arial"/>
              </a:rPr>
              <a:t>Wafer </a:t>
            </a:r>
            <a:r>
              <a:rPr lang="en-US" sz="900" dirty="0" smtClean="0">
                <a:solidFill>
                  <a:srgbClr val="082B59"/>
                </a:solidFill>
                <a:latin typeface="Arial"/>
              </a:rPr>
              <a:t>foundries</a:t>
            </a:r>
            <a:r>
              <a:rPr lang="zh-TW" altLang="en-US" sz="900" dirty="0" smtClean="0">
                <a:solidFill>
                  <a:srgbClr val="082B59"/>
                </a:solidFill>
                <a:latin typeface="Arial"/>
              </a:rPr>
              <a:t> </a:t>
            </a:r>
            <a:r>
              <a:rPr sz="900" b="0" dirty="0" smtClean="0">
                <a:solidFill>
                  <a:srgbClr val="082B59"/>
                </a:solidFill>
                <a:latin typeface="Arial"/>
              </a:rPr>
              <a:t>and </a:t>
            </a:r>
            <a:r>
              <a:rPr sz="900" b="0" dirty="0">
                <a:solidFill>
                  <a:srgbClr val="082B59"/>
                </a:solidFill>
                <a:latin typeface="Arial"/>
              </a:rPr>
              <a:t>advanced packaging, including 2 nm and </a:t>
            </a:r>
            <a:r>
              <a:rPr sz="900" b="0" dirty="0" err="1">
                <a:solidFill>
                  <a:srgbClr val="082B59"/>
                </a:solidFill>
                <a:latin typeface="Arial"/>
              </a:rPr>
              <a:t>CoWoS</a:t>
            </a:r>
            <a:r>
              <a:rPr sz="900" b="0" dirty="0">
                <a:solidFill>
                  <a:srgbClr val="082B59"/>
                </a:solidFill>
                <a:latin typeface="Arial"/>
              </a:rPr>
              <a:t>.</a:t>
            </a:r>
          </a:p>
        </p:txBody>
      </p:sp>
      <p:sp>
        <p:nvSpPr>
          <p:cNvPr id="33" name="Rectangle 32"/>
          <p:cNvSpPr/>
          <p:nvPr/>
        </p:nvSpPr>
        <p:spPr>
          <a:xfrm>
            <a:off x="9194800" y="2838918"/>
            <a:ext cx="1280160" cy="524042"/>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900" b="1" dirty="0">
                <a:solidFill>
                  <a:srgbClr val="082B59"/>
                </a:solidFill>
                <a:latin typeface="Arial"/>
              </a:rPr>
              <a:t>Stepped growth in demand for ultra-high-purity </a:t>
            </a:r>
            <a:r>
              <a:rPr lang="en-US" sz="900" b="1" dirty="0" smtClean="0">
                <a:solidFill>
                  <a:srgbClr val="082B59"/>
                </a:solidFill>
                <a:latin typeface="Arial"/>
              </a:rPr>
              <a:t>gases.</a:t>
            </a:r>
            <a:endParaRPr sz="900" b="1" dirty="0">
              <a:solidFill>
                <a:srgbClr val="082B59"/>
              </a:solidFill>
              <a:latin typeface="Arial"/>
            </a:endParaRPr>
          </a:p>
        </p:txBody>
      </p:sp>
      <p:sp>
        <p:nvSpPr>
          <p:cNvPr id="34" name="Rectangle 33"/>
          <p:cNvSpPr/>
          <p:nvPr/>
        </p:nvSpPr>
        <p:spPr>
          <a:xfrm>
            <a:off x="10728960" y="2824480"/>
            <a:ext cx="1209040" cy="5384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r>
              <a:rPr lang="en-US" sz="900" b="1" dirty="0" smtClean="0">
                <a:solidFill>
                  <a:srgbClr val="082B59"/>
                </a:solidFill>
                <a:latin typeface="Arial"/>
              </a:rPr>
              <a:t>Support </a:t>
            </a:r>
            <a:r>
              <a:rPr lang="en-US" sz="900" b="1" dirty="0">
                <a:solidFill>
                  <a:srgbClr val="082B59"/>
                </a:solidFill>
                <a:latin typeface="Arial"/>
              </a:rPr>
              <a:t>long-term operational stability and capacity expansion</a:t>
            </a:r>
            <a:endParaRPr sz="900" b="1" dirty="0">
              <a:solidFill>
                <a:srgbClr val="082B59"/>
              </a:solidFill>
              <a:latin typeface="Arial"/>
            </a:endParaRPr>
          </a:p>
        </p:txBody>
      </p:sp>
      <p:sp>
        <p:nvSpPr>
          <p:cNvPr id="35" name="Rectangle 34"/>
          <p:cNvSpPr/>
          <p:nvPr/>
        </p:nvSpPr>
        <p:spPr>
          <a:xfrm>
            <a:off x="9245600" y="3444240"/>
            <a:ext cx="2661920" cy="2844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dirty="0">
                <a:solidFill>
                  <a:srgbClr val="082B59"/>
                </a:solidFill>
                <a:latin typeface="Arial"/>
              </a:rPr>
              <a:t>Higher Specialty Gas Sales</a:t>
            </a:r>
          </a:p>
        </p:txBody>
      </p:sp>
      <p:sp>
        <p:nvSpPr>
          <p:cNvPr id="36" name="Rectangle 35"/>
          <p:cNvSpPr/>
          <p:nvPr/>
        </p:nvSpPr>
        <p:spPr>
          <a:xfrm>
            <a:off x="9550400" y="3779520"/>
            <a:ext cx="2346960" cy="47752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900" b="0">
                <a:solidFill>
                  <a:srgbClr val="082B59"/>
                </a:solidFill>
                <a:latin typeface="Arial"/>
              </a:rPr>
              <a:t>Demand rises across deposition, etch and cleaning.</a:t>
            </a:r>
          </a:p>
        </p:txBody>
      </p:sp>
      <p:sp>
        <p:nvSpPr>
          <p:cNvPr id="37" name="Rectangle 36"/>
          <p:cNvSpPr/>
          <p:nvPr/>
        </p:nvSpPr>
        <p:spPr>
          <a:xfrm>
            <a:off x="9225280" y="4378960"/>
            <a:ext cx="2123440" cy="29464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r>
              <a:rPr sz="1200" b="1" dirty="0">
                <a:solidFill>
                  <a:srgbClr val="082B59"/>
                </a:solidFill>
                <a:latin typeface="Arial"/>
              </a:rPr>
              <a:t>Long-Term Growth Strategy</a:t>
            </a:r>
          </a:p>
        </p:txBody>
      </p:sp>
      <p:sp>
        <p:nvSpPr>
          <p:cNvPr id="38" name="Rectangle 37"/>
          <p:cNvSpPr/>
          <p:nvPr/>
        </p:nvSpPr>
        <p:spPr>
          <a:xfrm>
            <a:off x="9265920" y="4641120"/>
            <a:ext cx="2672080" cy="94688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marL="171450" indent="-171450">
              <a:buFont typeface="Arial" panose="020B0604020202020204" pitchFamily="34" charset="0"/>
              <a:buChar char="•"/>
            </a:pPr>
            <a:r>
              <a:rPr lang="en-US" sz="1000" dirty="0">
                <a:solidFill>
                  <a:srgbClr val="082B59"/>
                </a:solidFill>
                <a:latin typeface="Arial"/>
              </a:rPr>
              <a:t>Deepen collaboration within semiconductor and electronics supply </a:t>
            </a:r>
            <a:r>
              <a:rPr lang="en-US" sz="1000" dirty="0" smtClean="0">
                <a:solidFill>
                  <a:srgbClr val="082B59"/>
                </a:solidFill>
                <a:latin typeface="Arial"/>
              </a:rPr>
              <a:t>chains</a:t>
            </a:r>
          </a:p>
          <a:p>
            <a:pPr marL="171450" indent="-171450">
              <a:buFont typeface="Arial" panose="020B0604020202020204" pitchFamily="34" charset="0"/>
              <a:buChar char="•"/>
            </a:pPr>
            <a:r>
              <a:rPr lang="en-US" sz="1000" dirty="0" smtClean="0">
                <a:solidFill>
                  <a:srgbClr val="082B59"/>
                </a:solidFill>
                <a:latin typeface="Arial"/>
              </a:rPr>
              <a:t>Expand </a:t>
            </a:r>
            <a:r>
              <a:rPr lang="en-US" sz="1000" dirty="0">
                <a:solidFill>
                  <a:srgbClr val="082B59"/>
                </a:solidFill>
                <a:latin typeface="Arial"/>
              </a:rPr>
              <a:t>specialty gas capacity and product </a:t>
            </a:r>
            <a:r>
              <a:rPr lang="en-US" sz="1000" dirty="0" smtClean="0">
                <a:solidFill>
                  <a:srgbClr val="082B59"/>
                </a:solidFill>
                <a:latin typeface="Arial"/>
              </a:rPr>
              <a:t>   portfolio </a:t>
            </a:r>
          </a:p>
          <a:p>
            <a:pPr marL="171450" indent="-171450">
              <a:buFont typeface="Arial" panose="020B0604020202020204" pitchFamily="34" charset="0"/>
              <a:buChar char="•"/>
            </a:pPr>
            <a:r>
              <a:rPr lang="en-US" sz="1000" dirty="0">
                <a:solidFill>
                  <a:srgbClr val="082B59"/>
                </a:solidFill>
                <a:latin typeface="Arial"/>
              </a:rPr>
              <a:t>Capture</a:t>
            </a:r>
            <a:r>
              <a:rPr lang="en-US" sz="1000" dirty="0" smtClean="0">
                <a:solidFill>
                  <a:srgbClr val="082B59"/>
                </a:solidFill>
                <a:latin typeface="Arial"/>
              </a:rPr>
              <a:t> </a:t>
            </a:r>
            <a:r>
              <a:rPr lang="en-US" sz="1000" dirty="0">
                <a:solidFill>
                  <a:srgbClr val="082B59"/>
                </a:solidFill>
                <a:latin typeface="Arial"/>
              </a:rPr>
              <a:t>structural demand driven by AI and net-zero transformation</a:t>
            </a:r>
            <a:endParaRPr sz="1000" b="0" dirty="0">
              <a:solidFill>
                <a:srgbClr val="082B59"/>
              </a:solidFill>
              <a:latin typeface="Arial"/>
            </a:endParaRPr>
          </a:p>
        </p:txBody>
      </p:sp>
      <p:sp>
        <p:nvSpPr>
          <p:cNvPr id="41" name="Rectangle 40"/>
          <p:cNvSpPr/>
          <p:nvPr/>
        </p:nvSpPr>
        <p:spPr>
          <a:xfrm>
            <a:off x="9174480" y="3728720"/>
            <a:ext cx="2773680" cy="52832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l">
              <a:spcBef>
                <a:spcPts val="0"/>
              </a:spcBef>
              <a:spcAft>
                <a:spcPts val="0"/>
              </a:spcAft>
            </a:pPr>
            <a:endParaRPr/>
          </a:p>
        </p:txBody>
      </p:sp>
      <p:pic>
        <p:nvPicPr>
          <p:cNvPr id="42" name="Picture 41" descr="deposition.png"/>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9265920" y="3820160"/>
            <a:ext cx="548640" cy="223520"/>
          </a:xfrm>
          <a:prstGeom prst="rect">
            <a:avLst/>
          </a:prstGeom>
        </p:spPr>
      </p:pic>
      <p:pic>
        <p:nvPicPr>
          <p:cNvPr id="43" name="Picture 42" descr="etching.png"/>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0170160" y="3820160"/>
            <a:ext cx="558800" cy="223520"/>
          </a:xfrm>
          <a:prstGeom prst="rect">
            <a:avLst/>
          </a:prstGeom>
        </p:spPr>
      </p:pic>
      <p:pic>
        <p:nvPicPr>
          <p:cNvPr id="44" name="Picture 43" descr="cleaning.png"/>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1013440" y="3820160"/>
            <a:ext cx="528320" cy="223520"/>
          </a:xfrm>
          <a:prstGeom prst="rect">
            <a:avLst/>
          </a:prstGeom>
        </p:spPr>
      </p:pic>
      <p:sp>
        <p:nvSpPr>
          <p:cNvPr id="45" name="Rectangle 44"/>
          <p:cNvSpPr/>
          <p:nvPr/>
        </p:nvSpPr>
        <p:spPr>
          <a:xfrm>
            <a:off x="9194800" y="4053840"/>
            <a:ext cx="762000" cy="20320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Deposition</a:t>
            </a:r>
          </a:p>
        </p:txBody>
      </p:sp>
      <p:sp>
        <p:nvSpPr>
          <p:cNvPr id="46" name="Rectangle 45"/>
          <p:cNvSpPr/>
          <p:nvPr/>
        </p:nvSpPr>
        <p:spPr>
          <a:xfrm>
            <a:off x="10078720" y="4053840"/>
            <a:ext cx="762000" cy="20320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Etching</a:t>
            </a:r>
          </a:p>
        </p:txBody>
      </p:sp>
      <p:sp>
        <p:nvSpPr>
          <p:cNvPr id="47" name="Rectangle 46"/>
          <p:cNvSpPr/>
          <p:nvPr/>
        </p:nvSpPr>
        <p:spPr>
          <a:xfrm>
            <a:off x="10901680" y="4053840"/>
            <a:ext cx="924560" cy="203200"/>
          </a:xfrm>
          <a:prstGeom prst="rect">
            <a:avLst/>
          </a:prstGeom>
          <a:solidFill>
            <a:srgbClr val="F4FAFD"/>
          </a:solidFill>
          <a:ln>
            <a:noFill/>
          </a:ln>
        </p:spPr>
        <p:style>
          <a:lnRef idx="1">
            <a:schemeClr val="accent1"/>
          </a:lnRef>
          <a:fillRef idx="3">
            <a:schemeClr val="accent1"/>
          </a:fillRef>
          <a:effectRef idx="2">
            <a:schemeClr val="accent1"/>
          </a:effectRef>
          <a:fontRef idx="minor">
            <a:schemeClr val="lt1"/>
          </a:fontRef>
        </p:style>
        <p:txBody>
          <a:bodyPr wrap="square" lIns="10160" tIns="0" rIns="10160" bIns="0" rtlCol="0" anchor="ctr"/>
          <a:lstStyle/>
          <a:p>
            <a:pPr algn="ctr">
              <a:spcBef>
                <a:spcPts val="0"/>
              </a:spcBef>
              <a:spcAft>
                <a:spcPts val="0"/>
              </a:spcAft>
            </a:pPr>
            <a:r>
              <a:rPr sz="800" b="1">
                <a:solidFill>
                  <a:srgbClr val="082B59"/>
                </a:solidFill>
                <a:latin typeface="Arial"/>
              </a:rPr>
              <a:t>Cleaning</a:t>
            </a:r>
          </a:p>
        </p:txBody>
      </p:sp>
      <p:pic>
        <p:nvPicPr>
          <p:cNvPr id="48" name="圖片 4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0" y="6269484"/>
            <a:ext cx="2412000" cy="414027"/>
          </a:xfrm>
          <a:prstGeom prst="rect">
            <a:avLst/>
          </a:prstGeom>
        </p:spPr>
      </p:pic>
      <p:sp>
        <p:nvSpPr>
          <p:cNvPr id="49" name="矩形 48"/>
          <p:cNvSpPr/>
          <p:nvPr/>
        </p:nvSpPr>
        <p:spPr>
          <a:xfrm>
            <a:off x="386080" y="3189523"/>
            <a:ext cx="3345880" cy="646331"/>
          </a:xfrm>
          <a:prstGeom prst="rect">
            <a:avLst/>
          </a:prstGeom>
        </p:spPr>
        <p:txBody>
          <a:bodyPr wrap="square">
            <a:spAutoFit/>
          </a:bodyPr>
          <a:lstStyle/>
          <a:p>
            <a:r>
              <a:rPr lang="en-US" altLang="zh-TW" sz="1200" dirty="0">
                <a:latin typeface="Arial Unicode MS" panose="020B0604020202020204" pitchFamily="34" charset="-120"/>
                <a:ea typeface="Arial Unicode MS" panose="020B0604020202020204" pitchFamily="34" charset="-120"/>
                <a:cs typeface="Arial Unicode MS" panose="020B0604020202020204" pitchFamily="34" charset="-120"/>
              </a:rPr>
              <a:t>Driven by AI applications and data center expansion, semiconductor and AI server supply chains are actively boosting capacity.</a:t>
            </a:r>
            <a:endParaRPr lang="zh-TW" altLang="en-US" sz="1200" dirty="0">
              <a:latin typeface="Arial Unicode MS" panose="020B0604020202020204" pitchFamily="34" charset="-120"/>
              <a:ea typeface="Arial Unicode MS" panose="020B0604020202020204" pitchFamily="34" charset="-120"/>
              <a:cs typeface="Arial Unicode MS" panose="020B0604020202020204" pitchFamily="34" charset="-120"/>
            </a:endParaRPr>
          </a:p>
        </p:txBody>
      </p:sp>
    </p:spTree>
    <p:extLst>
      <p:ext uri="{BB962C8B-B14F-4D97-AF65-F5344CB8AC3E}">
        <p14:creationId xmlns:p14="http://schemas.microsoft.com/office/powerpoint/2010/main" val="202692039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sp>
        <p:nvSpPr>
          <p:cNvPr id="4" name="矩形 3"/>
          <p:cNvSpPr/>
          <p:nvPr/>
        </p:nvSpPr>
        <p:spPr>
          <a:xfrm>
            <a:off x="2489200" y="6210300"/>
            <a:ext cx="2679700" cy="4699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9998" y="6200681"/>
            <a:ext cx="2412000" cy="414030"/>
          </a:xfrm>
          <a:prstGeom prst="rect">
            <a:avLst/>
          </a:prstGeom>
        </p:spPr>
      </p:pic>
    </p:spTree>
    <p:extLst>
      <p:ext uri="{BB962C8B-B14F-4D97-AF65-F5344CB8AC3E}">
        <p14:creationId xmlns:p14="http://schemas.microsoft.com/office/powerpoint/2010/main" val="34346614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文字方塊 15"/>
          <p:cNvSpPr txBox="1">
            <a:spLocks noChangeArrowheads="1"/>
          </p:cNvSpPr>
          <p:nvPr/>
        </p:nvSpPr>
        <p:spPr bwMode="auto">
          <a:xfrm>
            <a:off x="0" y="555625"/>
            <a:ext cx="4499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lang="en-US" altLang="zh-TW" b="1" dirty="0">
                <a:solidFill>
                  <a:schemeClr val="bg1"/>
                </a:solidFill>
                <a:latin typeface="微軟正黑體" panose="020B0604030504040204" pitchFamily="34" charset="-120"/>
                <a:ea typeface="微軟正黑體" panose="020B0604030504040204" pitchFamily="34" charset="-120"/>
              </a:rPr>
              <a:t>Revenue Distribution</a:t>
            </a:r>
          </a:p>
        </p:txBody>
      </p:sp>
      <p:grpSp>
        <p:nvGrpSpPr>
          <p:cNvPr id="12" name="群組 11"/>
          <p:cNvGrpSpPr/>
          <p:nvPr/>
        </p:nvGrpSpPr>
        <p:grpSpPr>
          <a:xfrm>
            <a:off x="801538" y="3036689"/>
            <a:ext cx="10860505" cy="3509700"/>
            <a:chOff x="513841" y="2863982"/>
            <a:chExt cx="11164888" cy="3727035"/>
          </a:xfrm>
        </p:grpSpPr>
        <p:graphicFrame>
          <p:nvGraphicFramePr>
            <p:cNvPr id="13" name="圖表 12">
              <a:extLst>
                <a:ext uri="{FF2B5EF4-FFF2-40B4-BE49-F238E27FC236}">
                  <a16:creationId xmlns:a16="http://schemas.microsoft.com/office/drawing/2014/main" xmlns="" id="{01EF503F-5FD8-480B-94FB-1C0B104E2A54}"/>
                </a:ext>
              </a:extLst>
            </p:cNvPr>
            <p:cNvGraphicFramePr>
              <a:graphicFrameLocks/>
            </p:cNvGraphicFramePr>
            <p:nvPr>
              <p:extLst>
                <p:ext uri="{D42A27DB-BD31-4B8C-83A1-F6EECF244321}">
                  <p14:modId xmlns:p14="http://schemas.microsoft.com/office/powerpoint/2010/main" val="2055954812"/>
                </p:ext>
              </p:extLst>
            </p:nvPr>
          </p:nvGraphicFramePr>
          <p:xfrm>
            <a:off x="6361529" y="3033377"/>
            <a:ext cx="5317200" cy="3556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圖表 13">
              <a:extLst>
                <a:ext uri="{FF2B5EF4-FFF2-40B4-BE49-F238E27FC236}">
                  <a16:creationId xmlns:a16="http://schemas.microsoft.com/office/drawing/2014/main" xmlns="" id="{554158F7-9E64-43BD-92AC-D2FC7441AF40}"/>
                </a:ext>
              </a:extLst>
            </p:cNvPr>
            <p:cNvGraphicFramePr>
              <a:graphicFrameLocks/>
            </p:cNvGraphicFramePr>
            <p:nvPr>
              <p:extLst>
                <p:ext uri="{D42A27DB-BD31-4B8C-83A1-F6EECF244321}">
                  <p14:modId xmlns:p14="http://schemas.microsoft.com/office/powerpoint/2010/main" val="352705851"/>
                </p:ext>
              </p:extLst>
            </p:nvPr>
          </p:nvGraphicFramePr>
          <p:xfrm>
            <a:off x="6102941" y="2863982"/>
            <a:ext cx="5037901" cy="355764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圖表 14">
              <a:extLst>
                <a:ext uri="{FF2B5EF4-FFF2-40B4-BE49-F238E27FC236}">
                  <a16:creationId xmlns:a16="http://schemas.microsoft.com/office/drawing/2014/main" xmlns="" id="{39E4387B-A270-4586-94EB-F47E66C58158}"/>
                </a:ext>
              </a:extLst>
            </p:cNvPr>
            <p:cNvGraphicFramePr>
              <a:graphicFrameLocks/>
            </p:cNvGraphicFramePr>
            <p:nvPr>
              <p:extLst>
                <p:ext uri="{D42A27DB-BD31-4B8C-83A1-F6EECF244321}">
                  <p14:modId xmlns:p14="http://schemas.microsoft.com/office/powerpoint/2010/main" val="2241062862"/>
                </p:ext>
              </p:extLst>
            </p:nvPr>
          </p:nvGraphicFramePr>
          <p:xfrm>
            <a:off x="513841" y="3033377"/>
            <a:ext cx="5316631" cy="35576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6" name="圖表 15">
              <a:extLst>
                <a:ext uri="{FF2B5EF4-FFF2-40B4-BE49-F238E27FC236}">
                  <a16:creationId xmlns:a16="http://schemas.microsoft.com/office/drawing/2014/main" xmlns="" id="{F1212528-2CDE-473C-82B8-9880EA564F16}"/>
                </a:ext>
              </a:extLst>
            </p:cNvPr>
            <p:cNvGraphicFramePr>
              <a:graphicFrameLocks/>
            </p:cNvGraphicFramePr>
            <p:nvPr>
              <p:extLst>
                <p:ext uri="{D42A27DB-BD31-4B8C-83A1-F6EECF244321}">
                  <p14:modId xmlns:p14="http://schemas.microsoft.com/office/powerpoint/2010/main" val="281917265"/>
                </p:ext>
              </p:extLst>
            </p:nvPr>
          </p:nvGraphicFramePr>
          <p:xfrm>
            <a:off x="554832" y="3230802"/>
            <a:ext cx="4893097" cy="3288207"/>
          </p:xfrm>
          <a:graphic>
            <a:graphicData uri="http://schemas.openxmlformats.org/drawingml/2006/chart">
              <c:chart xmlns:c="http://schemas.openxmlformats.org/drawingml/2006/chart" xmlns:r="http://schemas.openxmlformats.org/officeDocument/2006/relationships" r:id="rId6"/>
            </a:graphicData>
          </a:graphic>
        </p:graphicFrame>
      </p:grpSp>
      <p:pic>
        <p:nvPicPr>
          <p:cNvPr id="10" name="圖片 9"/>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9686945" y="6450226"/>
            <a:ext cx="2375549" cy="407773"/>
          </a:xfrm>
          <a:prstGeom prst="rect">
            <a:avLst/>
          </a:prstGeom>
        </p:spPr>
      </p:pic>
      <p:sp>
        <p:nvSpPr>
          <p:cNvPr id="17" name="文字方塊 16"/>
          <p:cNvSpPr txBox="1">
            <a:spLocks noChangeArrowheads="1"/>
          </p:cNvSpPr>
          <p:nvPr/>
        </p:nvSpPr>
        <p:spPr bwMode="auto">
          <a:xfrm>
            <a:off x="7390040" y="1079280"/>
            <a:ext cx="21224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0" lang="en-US" altLang="zh-TW" sz="1400" b="1" dirty="0">
                <a:latin typeface="微軟正黑體" panose="020B0604030504040204" pitchFamily="34" charset="-120"/>
                <a:ea typeface="微軟正黑體" panose="020B0604030504040204" pitchFamily="34" charset="-120"/>
              </a:rPr>
              <a:t>Unit</a:t>
            </a:r>
            <a:r>
              <a:rPr kumimoji="0" lang="zh-TW" altLang="en-US" sz="1400" b="1" dirty="0">
                <a:latin typeface="微軟正黑體" panose="020B0604030504040204" pitchFamily="34" charset="-120"/>
                <a:ea typeface="微軟正黑體" panose="020B0604030504040204" pitchFamily="34" charset="-120"/>
              </a:rPr>
              <a:t>：</a:t>
            </a:r>
            <a:r>
              <a:rPr kumimoji="0" lang="en-US" altLang="zh-TW" sz="1400" b="1" dirty="0">
                <a:latin typeface="微軟正黑體" panose="020B0604030504040204" pitchFamily="34" charset="-120"/>
                <a:ea typeface="微軟正黑體" panose="020B0604030504040204" pitchFamily="34" charset="-120"/>
              </a:rPr>
              <a:t>NT$</a:t>
            </a:r>
            <a:r>
              <a:rPr kumimoji="0" lang="zh-TW" altLang="en-US" sz="1400" b="1" dirty="0">
                <a:latin typeface="微軟正黑體" panose="020B0604030504040204" pitchFamily="34" charset="-120"/>
                <a:ea typeface="微軟正黑體" panose="020B0604030504040204" pitchFamily="34" charset="-120"/>
              </a:rPr>
              <a:t> </a:t>
            </a:r>
            <a:r>
              <a:rPr kumimoji="0" lang="en-US" altLang="zh-TW" sz="1400" dirty="0">
                <a:latin typeface="微軟正黑體" panose="020B0604030504040204" pitchFamily="34" charset="-120"/>
                <a:ea typeface="微軟正黑體" panose="020B0604030504040204" pitchFamily="34" charset="-120"/>
              </a:rPr>
              <a:t>Million</a:t>
            </a:r>
            <a:endParaRPr kumimoji="0" lang="zh-TW" altLang="en-US" sz="1400" dirty="0">
              <a:latin typeface="微軟正黑體" panose="020B0604030504040204" pitchFamily="34" charset="-120"/>
              <a:ea typeface="微軟正黑體" panose="020B0604030504040204" pitchFamily="34" charset="-120"/>
            </a:endParaRPr>
          </a:p>
        </p:txBody>
      </p:sp>
      <p:pic>
        <p:nvPicPr>
          <p:cNvPr id="4" name="圖片 3"/>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1036584" y="5649977"/>
            <a:ext cx="3854648" cy="828603"/>
          </a:xfrm>
          <a:prstGeom prst="rect">
            <a:avLst/>
          </a:prstGeom>
        </p:spPr>
      </p:pic>
      <p:pic>
        <p:nvPicPr>
          <p:cNvPr id="18" name="圖片 17"/>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6238265" y="5621623"/>
            <a:ext cx="3854648" cy="828603"/>
          </a:xfrm>
          <a:prstGeom prst="rect">
            <a:avLst/>
          </a:prstGeom>
        </p:spPr>
      </p:pic>
      <p:pic>
        <p:nvPicPr>
          <p:cNvPr id="5" name="圖片 4"/>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3415079" y="1379706"/>
            <a:ext cx="5548447" cy="1816500"/>
          </a:xfrm>
          <a:prstGeom prst="rect">
            <a:avLst/>
          </a:prstGeom>
        </p:spPr>
      </p:pic>
    </p:spTree>
    <p:extLst>
      <p:ext uri="{BB962C8B-B14F-4D97-AF65-F5344CB8AC3E}">
        <p14:creationId xmlns:p14="http://schemas.microsoft.com/office/powerpoint/2010/main" val="23751056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字方塊 2"/>
          <p:cNvSpPr txBox="1">
            <a:spLocks noChangeArrowheads="1"/>
          </p:cNvSpPr>
          <p:nvPr/>
        </p:nvSpPr>
        <p:spPr bwMode="auto">
          <a:xfrm>
            <a:off x="-98854" y="506149"/>
            <a:ext cx="41694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457200" fontAlgn="base">
              <a:lnSpc>
                <a:spcPct val="100000"/>
              </a:lnSpc>
              <a:spcBef>
                <a:spcPct val="0"/>
              </a:spcBef>
              <a:spcAft>
                <a:spcPct val="0"/>
              </a:spcAft>
              <a:buFontTx/>
              <a:buNone/>
            </a:pPr>
            <a:r>
              <a:rPr kumimoji="1" lang="en-US" altLang="zh-TW" sz="2000" b="1" dirty="0">
                <a:solidFill>
                  <a:schemeClr val="bg1"/>
                </a:solidFill>
                <a:latin typeface="微軟正黑體" panose="020B0604030504040204" pitchFamily="34" charset="-120"/>
                <a:ea typeface="微軟正黑體" panose="020B0604030504040204" pitchFamily="34" charset="-120"/>
              </a:rPr>
              <a:t>Quarterly Operating</a:t>
            </a:r>
            <a:r>
              <a:rPr kumimoji="1" lang="zh-TW" altLang="en-US" sz="2000" b="1" dirty="0">
                <a:solidFill>
                  <a:schemeClr val="bg1"/>
                </a:solidFill>
                <a:latin typeface="微軟正黑體" panose="020B0604030504040204" pitchFamily="34" charset="-120"/>
                <a:ea typeface="微軟正黑體" panose="020B0604030504040204" pitchFamily="34" charset="-120"/>
              </a:rPr>
              <a:t> </a:t>
            </a:r>
            <a:r>
              <a:rPr kumimoji="1" lang="en-US" altLang="zh-TW" sz="2000" b="1" dirty="0">
                <a:solidFill>
                  <a:schemeClr val="bg1"/>
                </a:solidFill>
                <a:latin typeface="微軟正黑體" panose="020B0604030504040204" pitchFamily="34" charset="-120"/>
                <a:ea typeface="微軟正黑體" panose="020B0604030504040204" pitchFamily="34" charset="-120"/>
              </a:rPr>
              <a:t>Revenue</a:t>
            </a:r>
            <a:r>
              <a:rPr kumimoji="1" lang="zh-TW" altLang="en-US" sz="2000" b="1" dirty="0">
                <a:solidFill>
                  <a:schemeClr val="bg1"/>
                </a:solidFill>
                <a:latin typeface="微軟正黑體" panose="020B0604030504040204" pitchFamily="34" charset="-120"/>
                <a:ea typeface="微軟正黑體" panose="020B0604030504040204" pitchFamily="34" charset="-120"/>
              </a:rPr>
              <a:t> </a:t>
            </a:r>
            <a:r>
              <a:rPr kumimoji="1" lang="en-US" altLang="zh-TW" sz="2000" b="1" dirty="0">
                <a:solidFill>
                  <a:schemeClr val="bg1"/>
                </a:solidFill>
                <a:latin typeface="微軟正黑體" panose="020B0604030504040204" pitchFamily="34" charset="-120"/>
                <a:ea typeface="微軟正黑體" panose="020B0604030504040204" pitchFamily="34" charset="-120"/>
              </a:rPr>
              <a:t>&amp; </a:t>
            </a:r>
            <a:endParaRPr kumimoji="1" lang="en-US" altLang="zh-TW" sz="2000" b="1" dirty="0" smtClean="0">
              <a:solidFill>
                <a:schemeClr val="bg1"/>
              </a:solidFill>
              <a:latin typeface="微軟正黑體" panose="020B0604030504040204" pitchFamily="34" charset="-120"/>
              <a:ea typeface="微軟正黑體" panose="020B0604030504040204" pitchFamily="34" charset="-120"/>
            </a:endParaRPr>
          </a:p>
          <a:p>
            <a:pPr defTabSz="457200" fontAlgn="base">
              <a:lnSpc>
                <a:spcPct val="100000"/>
              </a:lnSpc>
              <a:spcBef>
                <a:spcPct val="0"/>
              </a:spcBef>
              <a:spcAft>
                <a:spcPct val="0"/>
              </a:spcAft>
              <a:buFontTx/>
              <a:buNone/>
            </a:pPr>
            <a:r>
              <a:rPr kumimoji="1" lang="en-US" altLang="zh-TW" sz="2000" b="1" dirty="0" smtClean="0">
                <a:solidFill>
                  <a:schemeClr val="bg1"/>
                </a:solidFill>
                <a:latin typeface="微軟正黑體" panose="020B0604030504040204" pitchFamily="34" charset="-120"/>
                <a:ea typeface="微軟正黑體" panose="020B0604030504040204" pitchFamily="34" charset="-120"/>
              </a:rPr>
              <a:t>Operating</a:t>
            </a:r>
            <a:r>
              <a:rPr kumimoji="1" lang="zh-TW" altLang="en-US" sz="2000" b="1" dirty="0" smtClean="0">
                <a:solidFill>
                  <a:schemeClr val="bg1"/>
                </a:solidFill>
                <a:latin typeface="微軟正黑體" panose="020B0604030504040204" pitchFamily="34" charset="-120"/>
                <a:ea typeface="微軟正黑體" panose="020B0604030504040204" pitchFamily="34" charset="-120"/>
              </a:rPr>
              <a:t> </a:t>
            </a:r>
            <a:r>
              <a:rPr kumimoji="1" lang="en-US" altLang="zh-TW" sz="2000" b="1" dirty="0">
                <a:solidFill>
                  <a:schemeClr val="bg1"/>
                </a:solidFill>
                <a:latin typeface="微軟正黑體" panose="020B0604030504040204" pitchFamily="34" charset="-120"/>
                <a:ea typeface="微軟正黑體" panose="020B0604030504040204" pitchFamily="34" charset="-120"/>
              </a:rPr>
              <a:t>Profit</a:t>
            </a:r>
            <a:endParaRPr kumimoji="1" lang="zh-TW" altLang="en-US" sz="2000" b="1" dirty="0">
              <a:solidFill>
                <a:schemeClr val="bg1"/>
              </a:solidFill>
              <a:latin typeface="微軟正黑體" panose="020B0604030504040204" pitchFamily="34" charset="-120"/>
              <a:ea typeface="微軟正黑體" panose="020B0604030504040204" pitchFamily="34" charset="-120"/>
            </a:endParaRPr>
          </a:p>
        </p:txBody>
      </p:sp>
      <p:pic>
        <p:nvPicPr>
          <p:cNvPr id="2" name="圖片 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8220" y="1765066"/>
            <a:ext cx="11115474" cy="4590404"/>
          </a:xfrm>
          <a:prstGeom prst="rect">
            <a:avLst/>
          </a:prstGeom>
          <a:ln w="3175">
            <a:noFill/>
          </a:ln>
        </p:spPr>
      </p:pic>
      <p:pic>
        <p:nvPicPr>
          <p:cNvPr id="6" name="圖片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86945" y="6450226"/>
            <a:ext cx="2375549" cy="407773"/>
          </a:xfrm>
          <a:prstGeom prst="rect">
            <a:avLst/>
          </a:prstGeom>
        </p:spPr>
      </p:pic>
      <p:sp>
        <p:nvSpPr>
          <p:cNvPr id="7" name="文字方塊 6"/>
          <p:cNvSpPr txBox="1">
            <a:spLocks noChangeArrowheads="1"/>
          </p:cNvSpPr>
          <p:nvPr/>
        </p:nvSpPr>
        <p:spPr bwMode="auto">
          <a:xfrm>
            <a:off x="9471503" y="1444669"/>
            <a:ext cx="21224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kumimoji="0" lang="en-US" altLang="zh-TW" sz="1400" b="1" dirty="0">
                <a:latin typeface="微軟正黑體" panose="020B0604030504040204" pitchFamily="34" charset="-120"/>
                <a:ea typeface="微軟正黑體" panose="020B0604030504040204" pitchFamily="34" charset="-120"/>
              </a:rPr>
              <a:t>Unit</a:t>
            </a:r>
            <a:r>
              <a:rPr kumimoji="0" lang="zh-TW" altLang="en-US" sz="1400" b="1" dirty="0">
                <a:latin typeface="微軟正黑體" panose="020B0604030504040204" pitchFamily="34" charset="-120"/>
                <a:ea typeface="微軟正黑體" panose="020B0604030504040204" pitchFamily="34" charset="-120"/>
              </a:rPr>
              <a:t>：</a:t>
            </a:r>
            <a:r>
              <a:rPr kumimoji="0" lang="en-US" altLang="zh-TW" sz="1400" b="1" dirty="0">
                <a:latin typeface="微軟正黑體" panose="020B0604030504040204" pitchFamily="34" charset="-120"/>
                <a:ea typeface="微軟正黑體" panose="020B0604030504040204" pitchFamily="34" charset="-120"/>
              </a:rPr>
              <a:t>NT$</a:t>
            </a:r>
            <a:r>
              <a:rPr kumimoji="0" lang="zh-TW" altLang="en-US" sz="1400" b="1" dirty="0">
                <a:latin typeface="微軟正黑體" panose="020B0604030504040204" pitchFamily="34" charset="-120"/>
                <a:ea typeface="微軟正黑體" panose="020B0604030504040204" pitchFamily="34" charset="-120"/>
              </a:rPr>
              <a:t> </a:t>
            </a:r>
            <a:r>
              <a:rPr kumimoji="0" lang="en-US" altLang="zh-TW" sz="1400" dirty="0">
                <a:latin typeface="微軟正黑體" panose="020B0604030504040204" pitchFamily="34" charset="-120"/>
                <a:ea typeface="微軟正黑體" panose="020B0604030504040204" pitchFamily="34" charset="-120"/>
              </a:rPr>
              <a:t>Million</a:t>
            </a:r>
            <a:endParaRPr kumimoji="0" lang="zh-TW" altLang="en-US" sz="1400" dirty="0">
              <a:latin typeface="微軟正黑體" panose="020B0604030504040204" pitchFamily="34" charset="-120"/>
              <a:ea typeface="微軟正黑體" panose="020B0604030504040204" pitchFamily="34" charset="-120"/>
            </a:endParaRPr>
          </a:p>
        </p:txBody>
      </p:sp>
      <p:sp>
        <p:nvSpPr>
          <p:cNvPr id="4" name="矩形 3"/>
          <p:cNvSpPr/>
          <p:nvPr/>
        </p:nvSpPr>
        <p:spPr>
          <a:xfrm>
            <a:off x="4070621" y="5848645"/>
            <a:ext cx="880386" cy="276999"/>
          </a:xfrm>
          <a:prstGeom prst="rect">
            <a:avLst/>
          </a:prstGeom>
          <a:solidFill>
            <a:srgbClr val="FFFFFF"/>
          </a:solidFill>
        </p:spPr>
        <p:txBody>
          <a:bodyPr wrap="square">
            <a:spAutoFit/>
          </a:bodyPr>
          <a:lstStyle/>
          <a:p>
            <a:r>
              <a:rPr kumimoji="1" lang="en-US" altLang="zh-TW" sz="1200" b="1" dirty="0" smtClean="0">
                <a:latin typeface="微軟正黑體" panose="020B0604030504040204" pitchFamily="34" charset="-120"/>
                <a:ea typeface="微軟正黑體" panose="020B0604030504040204" pitchFamily="34" charset="-120"/>
              </a:rPr>
              <a:t>Revenue</a:t>
            </a:r>
            <a:endParaRPr lang="zh-TW" altLang="en-US" sz="1200" dirty="0"/>
          </a:p>
        </p:txBody>
      </p:sp>
      <p:sp>
        <p:nvSpPr>
          <p:cNvPr id="8" name="矩形 7"/>
          <p:cNvSpPr/>
          <p:nvPr/>
        </p:nvSpPr>
        <p:spPr>
          <a:xfrm>
            <a:off x="5846646" y="5824810"/>
            <a:ext cx="1388137" cy="276999"/>
          </a:xfrm>
          <a:prstGeom prst="rect">
            <a:avLst/>
          </a:prstGeom>
          <a:solidFill>
            <a:schemeClr val="bg1"/>
          </a:solidFill>
        </p:spPr>
        <p:txBody>
          <a:bodyPr wrap="none">
            <a:spAutoFit/>
          </a:bodyPr>
          <a:lstStyle/>
          <a:p>
            <a:pPr defTabSz="457200" fontAlgn="base">
              <a:lnSpc>
                <a:spcPct val="100000"/>
              </a:lnSpc>
              <a:spcBef>
                <a:spcPct val="0"/>
              </a:spcBef>
              <a:spcAft>
                <a:spcPct val="0"/>
              </a:spcAft>
              <a:buFontTx/>
              <a:buNone/>
            </a:pPr>
            <a:r>
              <a:rPr kumimoji="1" lang="en-US" altLang="zh-TW" sz="1200" b="1" dirty="0">
                <a:latin typeface="微軟正黑體" panose="020B0604030504040204" pitchFamily="34" charset="-120"/>
                <a:ea typeface="微軟正黑體" panose="020B0604030504040204" pitchFamily="34" charset="-120"/>
              </a:rPr>
              <a:t>Operating</a:t>
            </a:r>
            <a:r>
              <a:rPr kumimoji="1" lang="zh-TW" altLang="en-US" sz="1200" b="1" dirty="0">
                <a:latin typeface="微軟正黑體" panose="020B0604030504040204" pitchFamily="34" charset="-120"/>
                <a:ea typeface="微軟正黑體" panose="020B0604030504040204" pitchFamily="34" charset="-120"/>
              </a:rPr>
              <a:t> </a:t>
            </a:r>
            <a:r>
              <a:rPr kumimoji="1" lang="en-US" altLang="zh-TW" sz="1200" b="1" dirty="0">
                <a:latin typeface="微軟正黑體" panose="020B0604030504040204" pitchFamily="34" charset="-120"/>
                <a:ea typeface="微軟正黑體" panose="020B0604030504040204" pitchFamily="34" charset="-120"/>
              </a:rPr>
              <a:t>Profit</a:t>
            </a:r>
            <a:endParaRPr kumimoji="1" lang="zh-TW" altLang="en-US" sz="1200" b="1" dirty="0">
              <a:latin typeface="微軟正黑體" panose="020B0604030504040204" pitchFamily="34" charset="-120"/>
              <a:ea typeface="微軟正黑體" panose="020B0604030504040204" pitchFamily="34" charset="-120"/>
            </a:endParaRPr>
          </a:p>
        </p:txBody>
      </p:sp>
      <p:grpSp>
        <p:nvGrpSpPr>
          <p:cNvPr id="12" name="群組 11"/>
          <p:cNvGrpSpPr/>
          <p:nvPr/>
        </p:nvGrpSpPr>
        <p:grpSpPr>
          <a:xfrm>
            <a:off x="9050392" y="2811713"/>
            <a:ext cx="2054755" cy="1382553"/>
            <a:chOff x="9050392" y="2811713"/>
            <a:chExt cx="2054755" cy="1382553"/>
          </a:xfrm>
        </p:grpSpPr>
        <p:sp>
          <p:nvSpPr>
            <p:cNvPr id="9" name="矩形 8"/>
            <p:cNvSpPr/>
            <p:nvPr/>
          </p:nvSpPr>
          <p:spPr>
            <a:xfrm>
              <a:off x="9050392" y="2811713"/>
              <a:ext cx="1114408" cy="276999"/>
            </a:xfrm>
            <a:prstGeom prst="rect">
              <a:avLst/>
            </a:prstGeom>
            <a:solidFill>
              <a:schemeClr val="bg1"/>
            </a:solidFill>
          </p:spPr>
          <p:txBody>
            <a:bodyPr wrap="none">
              <a:spAutoFit/>
            </a:bodyPr>
            <a:lstStyle/>
            <a:p>
              <a:r>
                <a:rPr lang="en-US" altLang="zh-TW" sz="1200" b="1" dirty="0">
                  <a:solidFill>
                    <a:srgbClr val="000000"/>
                  </a:solidFill>
                  <a:latin typeface="+mj-lt"/>
                </a:rPr>
                <a:t>Lease Business</a:t>
              </a:r>
              <a:r>
                <a:rPr lang="en-US" altLang="zh-TW" sz="1200" dirty="0">
                  <a:latin typeface="+mj-lt"/>
                </a:rPr>
                <a:t> </a:t>
              </a:r>
              <a:endParaRPr lang="zh-TW" altLang="en-US" sz="1200" dirty="0">
                <a:latin typeface="+mj-lt"/>
              </a:endParaRPr>
            </a:p>
          </p:txBody>
        </p:sp>
        <p:sp>
          <p:nvSpPr>
            <p:cNvPr id="11" name="矩形 10"/>
            <p:cNvSpPr/>
            <p:nvPr/>
          </p:nvSpPr>
          <p:spPr>
            <a:xfrm>
              <a:off x="9050392" y="3056645"/>
              <a:ext cx="538930" cy="276999"/>
            </a:xfrm>
            <a:prstGeom prst="rect">
              <a:avLst/>
            </a:prstGeom>
            <a:solidFill>
              <a:schemeClr val="bg1"/>
            </a:solidFill>
          </p:spPr>
          <p:txBody>
            <a:bodyPr wrap="none">
              <a:spAutoFit/>
            </a:bodyPr>
            <a:lstStyle/>
            <a:p>
              <a:r>
                <a:rPr lang="en-US" altLang="zh-TW" sz="1200" b="1" dirty="0">
                  <a:solidFill>
                    <a:srgbClr val="000000"/>
                  </a:solidFill>
                  <a:latin typeface="+mj-lt"/>
                </a:rPr>
                <a:t>Other</a:t>
              </a:r>
              <a:endParaRPr lang="zh-TW" altLang="en-US" sz="1200" b="1" dirty="0">
                <a:solidFill>
                  <a:srgbClr val="000000"/>
                </a:solidFill>
                <a:latin typeface="+mj-lt"/>
              </a:endParaRPr>
            </a:p>
          </p:txBody>
        </p:sp>
        <p:sp>
          <p:nvSpPr>
            <p:cNvPr id="10" name="矩形 9"/>
            <p:cNvSpPr/>
            <p:nvPr/>
          </p:nvSpPr>
          <p:spPr>
            <a:xfrm>
              <a:off x="9050392" y="3317711"/>
              <a:ext cx="1589907" cy="276999"/>
            </a:xfrm>
            <a:prstGeom prst="rect">
              <a:avLst/>
            </a:prstGeom>
            <a:solidFill>
              <a:srgbClr val="FFFFFF"/>
            </a:solidFill>
          </p:spPr>
          <p:txBody>
            <a:bodyPr wrap="square">
              <a:spAutoFit/>
            </a:bodyPr>
            <a:lstStyle/>
            <a:p>
              <a:r>
                <a:rPr lang="en-US" altLang="zh-TW" sz="1200" b="1" dirty="0">
                  <a:solidFill>
                    <a:srgbClr val="000000"/>
                  </a:solidFill>
                  <a:latin typeface="Calibri" panose="020F0502020204030204" pitchFamily="34" charset="0"/>
                </a:rPr>
                <a:t>Dividend </a:t>
              </a:r>
              <a:r>
                <a:rPr lang="en-US" altLang="zh-TW" sz="1200" b="1" dirty="0" smtClean="0">
                  <a:solidFill>
                    <a:srgbClr val="000000"/>
                  </a:solidFill>
                  <a:latin typeface="Calibri" panose="020F0502020204030204" pitchFamily="34" charset="0"/>
                </a:rPr>
                <a:t>Revenue</a:t>
              </a:r>
              <a:r>
                <a:rPr lang="en-US" altLang="zh-TW" sz="1200" dirty="0" smtClean="0"/>
                <a:t> </a:t>
              </a:r>
              <a:endParaRPr lang="zh-TW" altLang="en-US" sz="1200" dirty="0"/>
            </a:p>
          </p:txBody>
        </p:sp>
        <p:sp>
          <p:nvSpPr>
            <p:cNvPr id="13" name="矩形 12"/>
            <p:cNvSpPr/>
            <p:nvPr/>
          </p:nvSpPr>
          <p:spPr>
            <a:xfrm>
              <a:off x="9050392" y="3629143"/>
              <a:ext cx="2054755" cy="276999"/>
            </a:xfrm>
            <a:prstGeom prst="rect">
              <a:avLst/>
            </a:prstGeom>
            <a:solidFill>
              <a:srgbClr val="FFFFFF"/>
            </a:solidFill>
          </p:spPr>
          <p:txBody>
            <a:bodyPr wrap="square">
              <a:spAutoFit/>
            </a:bodyPr>
            <a:lstStyle/>
            <a:p>
              <a:r>
                <a:rPr lang="en-US" altLang="zh-TW" sz="1200" b="1" dirty="0">
                  <a:solidFill>
                    <a:srgbClr val="000000"/>
                  </a:solidFill>
                  <a:latin typeface="Calibri" panose="020F0502020204030204" pitchFamily="34" charset="0"/>
                </a:rPr>
                <a:t>System Integration Business</a:t>
              </a:r>
              <a:endParaRPr lang="zh-TW" altLang="en-US" sz="1200" dirty="0"/>
            </a:p>
          </p:txBody>
        </p:sp>
        <p:sp>
          <p:nvSpPr>
            <p:cNvPr id="14" name="矩形 13"/>
            <p:cNvSpPr/>
            <p:nvPr/>
          </p:nvSpPr>
          <p:spPr>
            <a:xfrm>
              <a:off x="9050392" y="3917267"/>
              <a:ext cx="1589907" cy="276999"/>
            </a:xfrm>
            <a:prstGeom prst="rect">
              <a:avLst/>
            </a:prstGeom>
            <a:solidFill>
              <a:srgbClr val="FFFFFF"/>
            </a:solidFill>
          </p:spPr>
          <p:txBody>
            <a:bodyPr wrap="square">
              <a:spAutoFit/>
            </a:bodyPr>
            <a:lstStyle/>
            <a:p>
              <a:r>
                <a:rPr lang="en-US" altLang="zh-TW" sz="1200" b="1" dirty="0">
                  <a:solidFill>
                    <a:srgbClr val="000000"/>
                  </a:solidFill>
                  <a:latin typeface="Calibri" panose="020F0502020204030204" pitchFamily="34" charset="0"/>
                </a:rPr>
                <a:t>Flour Business</a:t>
              </a:r>
              <a:endParaRPr lang="zh-TW" altLang="en-US" sz="1200" dirty="0"/>
            </a:p>
          </p:txBody>
        </p:sp>
      </p:grpSp>
    </p:spTree>
    <p:extLst>
      <p:ext uri="{BB962C8B-B14F-4D97-AF65-F5344CB8AC3E}">
        <p14:creationId xmlns:p14="http://schemas.microsoft.com/office/powerpoint/2010/main" val="1699502330"/>
      </p:ext>
    </p:extLst>
  </p:cSld>
  <p:clrMapOvr>
    <a:masterClrMapping/>
  </p:clrMapOvr>
  <p:transition spd="slow"/>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字方塊 2"/>
          <p:cNvSpPr txBox="1">
            <a:spLocks noChangeArrowheads="1"/>
          </p:cNvSpPr>
          <p:nvPr/>
        </p:nvSpPr>
        <p:spPr bwMode="auto">
          <a:xfrm>
            <a:off x="0" y="610001"/>
            <a:ext cx="499213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TW" sz="3200" b="1" dirty="0">
                <a:solidFill>
                  <a:schemeClr val="bg1"/>
                </a:solidFill>
                <a:latin typeface="微軟正黑體" panose="020B0604030504040204" pitchFamily="34" charset="-120"/>
                <a:ea typeface="微軟正黑體" panose="020B0604030504040204" pitchFamily="34" charset="-120"/>
              </a:rPr>
              <a:t>Investment Income</a:t>
            </a:r>
          </a:p>
        </p:txBody>
      </p:sp>
      <p:sp>
        <p:nvSpPr>
          <p:cNvPr id="5" name="文字方塊 6"/>
          <p:cNvSpPr txBox="1">
            <a:spLocks noChangeArrowheads="1"/>
          </p:cNvSpPr>
          <p:nvPr/>
        </p:nvSpPr>
        <p:spPr bwMode="auto">
          <a:xfrm>
            <a:off x="8994769" y="1114753"/>
            <a:ext cx="2445489" cy="313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buNone/>
              <a:defRPr sz="1000" b="1" i="0" u="none" strike="noStrike" kern="1200" baseline="0">
                <a:solidFill>
                  <a:sysClr val="windowText" lastClr="000000">
                    <a:lumMod val="65000"/>
                    <a:lumOff val="35000"/>
                  </a:sysClr>
                </a:solidFill>
                <a:latin typeface="微軟正黑體" panose="020B0604030504040204" pitchFamily="34" charset="-120"/>
                <a:ea typeface="微軟正黑體" panose="020B0604030504040204" pitchFamily="34" charset="-120"/>
                <a:cs typeface="+mn-cs"/>
              </a:defRPr>
            </a:pPr>
            <a:r>
              <a:rPr lang="en-US" altLang="zh-TW" sz="1600" dirty="0"/>
              <a:t>NT$ Millions</a:t>
            </a:r>
            <a:endParaRPr lang="zh-TW" altLang="en-US" sz="1600" dirty="0"/>
          </a:p>
        </p:txBody>
      </p:sp>
      <p:graphicFrame>
        <p:nvGraphicFramePr>
          <p:cNvPr id="7" name="物件 6"/>
          <p:cNvGraphicFramePr>
            <a:graphicFrameLocks noChangeAspect="1"/>
          </p:cNvGraphicFramePr>
          <p:nvPr>
            <p:extLst>
              <p:ext uri="{D42A27DB-BD31-4B8C-83A1-F6EECF244321}">
                <p14:modId xmlns:p14="http://schemas.microsoft.com/office/powerpoint/2010/main" val="1695300998"/>
              </p:ext>
            </p:extLst>
          </p:nvPr>
        </p:nvGraphicFramePr>
        <p:xfrm>
          <a:off x="1356849" y="4594374"/>
          <a:ext cx="9418241" cy="1724449"/>
        </p:xfrm>
        <a:graphic>
          <a:graphicData uri="http://schemas.openxmlformats.org/presentationml/2006/ole">
            <mc:AlternateContent xmlns:mc="http://schemas.openxmlformats.org/markup-compatibility/2006">
              <mc:Choice xmlns:v="urn:schemas-microsoft-com:vml" Requires="v">
                <p:oleObj spid="_x0000_s3180" name="工作表" r:id="rId4" imgW="8578986" imgH="1739871" progId="Excel.Sheet.12">
                  <p:embed/>
                </p:oleObj>
              </mc:Choice>
              <mc:Fallback>
                <p:oleObj name="工作表" r:id="rId4" imgW="8578986" imgH="1739871" progId="Excel.Sheet.12">
                  <p:embed/>
                  <p:pic>
                    <p:nvPicPr>
                      <p:cNvPr id="0" name=""/>
                      <p:cNvPicPr/>
                      <p:nvPr/>
                    </p:nvPicPr>
                    <p:blipFill>
                      <a:blip r:embed="rId5"/>
                      <a:stretch>
                        <a:fillRect/>
                      </a:stretch>
                    </p:blipFill>
                    <p:spPr>
                      <a:xfrm>
                        <a:off x="1356849" y="4594374"/>
                        <a:ext cx="9418241" cy="1724449"/>
                      </a:xfrm>
                      <a:prstGeom prst="rect">
                        <a:avLst/>
                      </a:prstGeom>
                      <a:ln>
                        <a:solidFill>
                          <a:srgbClr val="002060"/>
                        </a:solidFill>
                      </a:ln>
                    </p:spPr>
                  </p:pic>
                </p:oleObj>
              </mc:Fallback>
            </mc:AlternateContent>
          </a:graphicData>
        </a:graphic>
      </p:graphicFrame>
      <p:graphicFrame>
        <p:nvGraphicFramePr>
          <p:cNvPr id="6" name="圖表 5"/>
          <p:cNvGraphicFramePr>
            <a:graphicFrameLocks/>
          </p:cNvGraphicFramePr>
          <p:nvPr>
            <p:extLst>
              <p:ext uri="{D42A27DB-BD31-4B8C-83A1-F6EECF244321}">
                <p14:modId xmlns:p14="http://schemas.microsoft.com/office/powerpoint/2010/main" val="1649967002"/>
              </p:ext>
            </p:extLst>
          </p:nvPr>
        </p:nvGraphicFramePr>
        <p:xfrm>
          <a:off x="1356850" y="1448528"/>
          <a:ext cx="9418241" cy="3036976"/>
        </p:xfrm>
        <a:graphic>
          <a:graphicData uri="http://schemas.openxmlformats.org/drawingml/2006/chart">
            <c:chart xmlns:c="http://schemas.openxmlformats.org/drawingml/2006/chart" xmlns:r="http://schemas.openxmlformats.org/officeDocument/2006/relationships" r:id="rId6"/>
          </a:graphicData>
        </a:graphic>
      </p:graphicFrame>
      <p:pic>
        <p:nvPicPr>
          <p:cNvPr id="8" name="圖片 7"/>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10015705" y="6427694"/>
            <a:ext cx="2102154" cy="430306"/>
          </a:xfrm>
          <a:prstGeom prst="rect">
            <a:avLst/>
          </a:prstGeom>
        </p:spPr>
      </p:pic>
    </p:spTree>
    <p:extLst>
      <p:ext uri="{BB962C8B-B14F-4D97-AF65-F5344CB8AC3E}">
        <p14:creationId xmlns:p14="http://schemas.microsoft.com/office/powerpoint/2010/main" val="2627041389"/>
      </p:ext>
    </p:extLst>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文字方塊 6"/>
          <p:cNvSpPr txBox="1">
            <a:spLocks noChangeArrowheads="1"/>
          </p:cNvSpPr>
          <p:nvPr/>
        </p:nvSpPr>
        <p:spPr bwMode="auto">
          <a:xfrm>
            <a:off x="1083365" y="1427508"/>
            <a:ext cx="3354583" cy="312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lang="en-US" altLang="zh-TW" sz="1400" dirty="0">
                <a:latin typeface="微軟正黑體" panose="020B0604030504040204" pitchFamily="34" charset="-120"/>
                <a:ea typeface="微軟正黑體" panose="020B0604030504040204" pitchFamily="34" charset="-120"/>
              </a:rPr>
              <a:t>Net </a:t>
            </a:r>
            <a:r>
              <a:rPr lang="en-US" altLang="zh-TW" sz="1400" dirty="0" smtClean="0">
                <a:latin typeface="微軟正黑體" panose="020B0604030504040204" pitchFamily="34" charset="-120"/>
                <a:ea typeface="微軟正黑體" panose="020B0604030504040204" pitchFamily="34" charset="-120"/>
              </a:rPr>
              <a:t>Profit/</a:t>
            </a:r>
            <a:r>
              <a:rPr lang="en-US" altLang="zh-TW" sz="1400" dirty="0">
                <a:latin typeface="微軟正黑體" panose="020B0604030504040204" pitchFamily="34" charset="-120"/>
                <a:ea typeface="微軟正黑體" panose="020B0604030504040204" pitchFamily="34" charset="-120"/>
              </a:rPr>
              <a:t>NT$ million</a:t>
            </a:r>
            <a:endParaRPr kumimoji="0" lang="zh-TW" altLang="en-US" sz="1400" dirty="0">
              <a:latin typeface="微軟正黑體" panose="020B0604030504040204" pitchFamily="34" charset="-120"/>
              <a:ea typeface="微軟正黑體" panose="020B0604030504040204" pitchFamily="34" charset="-120"/>
            </a:endParaRPr>
          </a:p>
        </p:txBody>
      </p:sp>
      <p:sp>
        <p:nvSpPr>
          <p:cNvPr id="70661" name="文字方塊 6"/>
          <p:cNvSpPr txBox="1">
            <a:spLocks noChangeArrowheads="1"/>
          </p:cNvSpPr>
          <p:nvPr/>
        </p:nvSpPr>
        <p:spPr bwMode="auto">
          <a:xfrm>
            <a:off x="10376038" y="1466077"/>
            <a:ext cx="18097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kumimoji="0" lang="en-US" altLang="zh-TW" sz="1400" dirty="0">
                <a:latin typeface="微軟正黑體" panose="020B0604030504040204" pitchFamily="34" charset="-120"/>
                <a:ea typeface="微軟正黑體" panose="020B0604030504040204" pitchFamily="34" charset="-120"/>
              </a:rPr>
              <a:t>EPS</a:t>
            </a:r>
            <a:r>
              <a:rPr kumimoji="0" lang="en-US" altLang="zh-TW" sz="1400" dirty="0" smtClean="0">
                <a:latin typeface="微軟正黑體" panose="020B0604030504040204" pitchFamily="34" charset="-120"/>
                <a:ea typeface="微軟正黑體" panose="020B0604030504040204" pitchFamily="34" charset="-120"/>
              </a:rPr>
              <a:t>/</a:t>
            </a:r>
            <a:r>
              <a:rPr lang="en-US" altLang="zh-TW" sz="1400" dirty="0">
                <a:latin typeface="微軟正黑體" panose="020B0604030504040204" pitchFamily="34" charset="-120"/>
                <a:ea typeface="微軟正黑體" panose="020B0604030504040204" pitchFamily="34" charset="-120"/>
              </a:rPr>
              <a:t> NT$ </a:t>
            </a:r>
            <a:endParaRPr kumimoji="0" lang="zh-TW" altLang="en-US" sz="1400" dirty="0">
              <a:latin typeface="微軟正黑體" panose="020B0604030504040204" pitchFamily="34" charset="-120"/>
              <a:ea typeface="微軟正黑體" panose="020B0604030504040204" pitchFamily="34" charset="-120"/>
            </a:endParaRPr>
          </a:p>
        </p:txBody>
      </p:sp>
      <p:sp>
        <p:nvSpPr>
          <p:cNvPr id="9" name="文字方塊 15"/>
          <p:cNvSpPr txBox="1">
            <a:spLocks noChangeArrowheads="1"/>
          </p:cNvSpPr>
          <p:nvPr/>
        </p:nvSpPr>
        <p:spPr bwMode="auto">
          <a:xfrm>
            <a:off x="-36105" y="564135"/>
            <a:ext cx="4106334"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lang="en-US" altLang="zh-TW" sz="2200" b="1" dirty="0">
                <a:solidFill>
                  <a:schemeClr val="bg1"/>
                </a:solidFill>
                <a:effectLst>
                  <a:outerShdw blurRad="38100" dist="38100" dir="2700000" algn="tl">
                    <a:srgbClr val="000000">
                      <a:alpha val="43137"/>
                    </a:srgbClr>
                  </a:outerShdw>
                </a:effectLst>
                <a:latin typeface="微軟正黑體" panose="020B0604030504040204" pitchFamily="34" charset="-120"/>
                <a:ea typeface="微軟正黑體" panose="020B0604030504040204" pitchFamily="34" charset="-120"/>
              </a:rPr>
              <a:t>Quarterly Net Profit after tax &amp; EPS</a:t>
            </a:r>
          </a:p>
        </p:txBody>
      </p:sp>
      <p:graphicFrame>
        <p:nvGraphicFramePr>
          <p:cNvPr id="12" name="圖表 11"/>
          <p:cNvGraphicFramePr>
            <a:graphicFrameLocks/>
          </p:cNvGraphicFramePr>
          <p:nvPr>
            <p:extLst>
              <p:ext uri="{D42A27DB-BD31-4B8C-83A1-F6EECF244321}">
                <p14:modId xmlns:p14="http://schemas.microsoft.com/office/powerpoint/2010/main" val="4237338560"/>
              </p:ext>
            </p:extLst>
          </p:nvPr>
        </p:nvGraphicFramePr>
        <p:xfrm>
          <a:off x="1083365" y="1739689"/>
          <a:ext cx="10197548" cy="4684018"/>
        </p:xfrm>
        <a:graphic>
          <a:graphicData uri="http://schemas.openxmlformats.org/drawingml/2006/chart">
            <c:chart xmlns:c="http://schemas.openxmlformats.org/drawingml/2006/chart" xmlns:r="http://schemas.openxmlformats.org/officeDocument/2006/relationships" r:id="rId3"/>
          </a:graphicData>
        </a:graphic>
      </p:graphicFrame>
      <p:pic>
        <p:nvPicPr>
          <p:cNvPr id="6" name="圖片 5"/>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86945" y="6450226"/>
            <a:ext cx="2375549" cy="407773"/>
          </a:xfrm>
          <a:prstGeom prst="rect">
            <a:avLst/>
          </a:prstGeom>
        </p:spPr>
      </p:pic>
      <p:sp>
        <p:nvSpPr>
          <p:cNvPr id="8" name="矩形 7"/>
          <p:cNvSpPr/>
          <p:nvPr/>
        </p:nvSpPr>
        <p:spPr>
          <a:xfrm>
            <a:off x="5197642" y="1940497"/>
            <a:ext cx="1395662" cy="276998"/>
          </a:xfrm>
          <a:prstGeom prst="rect">
            <a:avLst/>
          </a:prstGeom>
          <a:solidFill>
            <a:srgbClr val="FFFFFF"/>
          </a:solidFill>
        </p:spPr>
        <p:txBody>
          <a:bodyPr wrap="square">
            <a:spAutoFit/>
          </a:bodyPr>
          <a:lstStyle/>
          <a:p>
            <a:r>
              <a:rPr lang="en-US" altLang="zh-TW" sz="1200" dirty="0"/>
              <a:t>Net Profit after tax </a:t>
            </a:r>
            <a:endParaRPr lang="zh-TW" altLang="en-US" sz="1200" dirty="0"/>
          </a:p>
        </p:txBody>
      </p:sp>
      <p:sp>
        <p:nvSpPr>
          <p:cNvPr id="10" name="矩形 9"/>
          <p:cNvSpPr/>
          <p:nvPr/>
        </p:nvSpPr>
        <p:spPr>
          <a:xfrm>
            <a:off x="7079752" y="1940497"/>
            <a:ext cx="1657847" cy="276999"/>
          </a:xfrm>
          <a:prstGeom prst="rect">
            <a:avLst/>
          </a:prstGeom>
          <a:solidFill>
            <a:srgbClr val="FFFFFF"/>
          </a:solidFill>
        </p:spPr>
        <p:txBody>
          <a:bodyPr wrap="square">
            <a:spAutoFit/>
          </a:bodyPr>
          <a:lstStyle/>
          <a:p>
            <a:r>
              <a:rPr lang="en-US" altLang="zh-TW" sz="1200" dirty="0" smtClean="0"/>
              <a:t>EPS</a:t>
            </a:r>
            <a:endParaRPr lang="zh-TW" altLang="en-US" sz="1200" dirty="0"/>
          </a:p>
        </p:txBody>
      </p:sp>
    </p:spTree>
    <p:extLst>
      <p:ext uri="{BB962C8B-B14F-4D97-AF65-F5344CB8AC3E}">
        <p14:creationId xmlns:p14="http://schemas.microsoft.com/office/powerpoint/2010/main" val="24782086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文字方塊 2"/>
          <p:cNvSpPr txBox="1">
            <a:spLocks noChangeArrowheads="1"/>
          </p:cNvSpPr>
          <p:nvPr/>
        </p:nvSpPr>
        <p:spPr bwMode="auto">
          <a:xfrm>
            <a:off x="-86497" y="671784"/>
            <a:ext cx="41216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zh-TW" sz="2000" b="1" dirty="0">
                <a:solidFill>
                  <a:schemeClr val="bg1"/>
                </a:solidFill>
                <a:latin typeface="微軟正黑體" panose="020B0604030504040204" pitchFamily="34" charset="-120"/>
                <a:ea typeface="微軟正黑體" panose="020B0604030504040204" pitchFamily="34" charset="-120"/>
              </a:rPr>
              <a:t>Net Asset Value per Share Trend</a:t>
            </a:r>
            <a:endParaRPr lang="zh-TW" altLang="en-US" sz="2000" b="1" dirty="0">
              <a:solidFill>
                <a:schemeClr val="bg1"/>
              </a:solidFill>
              <a:latin typeface="微軟正黑體" panose="020B0604030504040204" pitchFamily="34" charset="-120"/>
              <a:ea typeface="微軟正黑體" panose="020B0604030504040204" pitchFamily="34" charset="-120"/>
            </a:endParaRPr>
          </a:p>
        </p:txBody>
      </p:sp>
      <p:sp>
        <p:nvSpPr>
          <p:cNvPr id="7" name="文字方塊 6"/>
          <p:cNvSpPr txBox="1">
            <a:spLocks noChangeArrowheads="1"/>
          </p:cNvSpPr>
          <p:nvPr/>
        </p:nvSpPr>
        <p:spPr bwMode="auto">
          <a:xfrm>
            <a:off x="1323439" y="1338677"/>
            <a:ext cx="256341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lang="en-US" altLang="zh-TW" sz="1200" dirty="0" smtClean="0">
                <a:latin typeface="微軟正黑體" panose="020B0604030504040204" pitchFamily="34" charset="-120"/>
                <a:ea typeface="微軟正黑體" panose="020B0604030504040204" pitchFamily="34" charset="-120"/>
              </a:rPr>
              <a:t>NAV</a:t>
            </a:r>
            <a:r>
              <a:rPr lang="zh-TW" altLang="en-US" sz="1200" dirty="0" smtClean="0">
                <a:latin typeface="微軟正黑體" panose="020B0604030504040204" pitchFamily="34" charset="-120"/>
                <a:ea typeface="微軟正黑體" panose="020B0604030504040204" pitchFamily="34" charset="-120"/>
              </a:rPr>
              <a:t>（</a:t>
            </a:r>
            <a:r>
              <a:rPr lang="en-US" altLang="zh-TW" sz="1200" dirty="0" smtClean="0">
                <a:latin typeface="微軟正黑體" panose="020B0604030504040204" pitchFamily="34" charset="-120"/>
                <a:ea typeface="微軟正黑體" panose="020B0604030504040204" pitchFamily="34" charset="-120"/>
              </a:rPr>
              <a:t>NTD</a:t>
            </a:r>
            <a:r>
              <a:rPr lang="zh-TW" altLang="en-US" sz="1200" dirty="0" smtClean="0">
                <a:latin typeface="微軟正黑體" panose="020B0604030504040204" pitchFamily="34" charset="-120"/>
                <a:ea typeface="微軟正黑體" panose="020B0604030504040204" pitchFamily="34" charset="-120"/>
              </a:rPr>
              <a:t>）</a:t>
            </a:r>
            <a:endParaRPr lang="zh-TW" altLang="en-US" sz="1200" dirty="0">
              <a:latin typeface="微軟正黑體" panose="020B0604030504040204" pitchFamily="34" charset="-120"/>
              <a:ea typeface="微軟正黑體" panose="020B0604030504040204" pitchFamily="34" charset="-120"/>
            </a:endParaRPr>
          </a:p>
        </p:txBody>
      </p:sp>
      <p:pic>
        <p:nvPicPr>
          <p:cNvPr id="5" name="圖片 4"/>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686945" y="6450226"/>
            <a:ext cx="2375549" cy="407773"/>
          </a:xfrm>
          <a:prstGeom prst="rect">
            <a:avLst/>
          </a:prstGeom>
        </p:spPr>
      </p:pic>
      <p:graphicFrame>
        <p:nvGraphicFramePr>
          <p:cNvPr id="6" name="圖表 5"/>
          <p:cNvGraphicFramePr>
            <a:graphicFrameLocks/>
          </p:cNvGraphicFramePr>
          <p:nvPr>
            <p:extLst>
              <p:ext uri="{D42A27DB-BD31-4B8C-83A1-F6EECF244321}">
                <p14:modId xmlns:p14="http://schemas.microsoft.com/office/powerpoint/2010/main" val="3111013675"/>
              </p:ext>
            </p:extLst>
          </p:nvPr>
        </p:nvGraphicFramePr>
        <p:xfrm>
          <a:off x="1323439" y="1615676"/>
          <a:ext cx="9694942" cy="4522464"/>
        </p:xfrm>
        <a:graphic>
          <a:graphicData uri="http://schemas.openxmlformats.org/drawingml/2006/chart">
            <c:chart xmlns:c="http://schemas.openxmlformats.org/drawingml/2006/chart" xmlns:r="http://schemas.openxmlformats.org/officeDocument/2006/relationships" r:id="rId4"/>
          </a:graphicData>
        </a:graphic>
      </p:graphicFrame>
      <p:sp>
        <p:nvSpPr>
          <p:cNvPr id="8" name="矩形 7"/>
          <p:cNvSpPr/>
          <p:nvPr/>
        </p:nvSpPr>
        <p:spPr>
          <a:xfrm>
            <a:off x="5466230" y="5754509"/>
            <a:ext cx="704680" cy="276999"/>
          </a:xfrm>
          <a:prstGeom prst="rect">
            <a:avLst/>
          </a:prstGeom>
          <a:solidFill>
            <a:srgbClr val="FFFFFF"/>
          </a:solidFill>
        </p:spPr>
        <p:txBody>
          <a:bodyPr wrap="square">
            <a:spAutoFit/>
          </a:bodyPr>
          <a:lstStyle/>
          <a:p>
            <a:r>
              <a:rPr lang="en-US" altLang="zh-TW" sz="1200" dirty="0"/>
              <a:t>NAV</a:t>
            </a:r>
            <a:endParaRPr lang="zh-TW" altLang="en-US" sz="1200" dirty="0"/>
          </a:p>
        </p:txBody>
      </p:sp>
      <p:sp>
        <p:nvSpPr>
          <p:cNvPr id="2" name="矩形 1"/>
          <p:cNvSpPr/>
          <p:nvPr/>
        </p:nvSpPr>
        <p:spPr>
          <a:xfrm>
            <a:off x="9130063" y="1338677"/>
            <a:ext cx="1987467" cy="276999"/>
          </a:xfrm>
          <a:prstGeom prst="rect">
            <a:avLst/>
          </a:prstGeom>
        </p:spPr>
        <p:txBody>
          <a:bodyPr wrap="none">
            <a:spAutoFit/>
          </a:bodyPr>
          <a:lstStyle/>
          <a:p>
            <a:r>
              <a:rPr lang="en-US" altLang="zh-TW" sz="1200" dirty="0">
                <a:latin typeface="微軟正黑體" panose="020B0604030504040204" pitchFamily="34" charset="-120"/>
                <a:ea typeface="微軟正黑體" panose="020B0604030504040204" pitchFamily="34" charset="-120"/>
              </a:rPr>
              <a:t>Share Capital (NT$100m)</a:t>
            </a:r>
            <a:endParaRPr lang="zh-TW" altLang="en-US" sz="1200" dirty="0">
              <a:latin typeface="微軟正黑體" panose="020B0604030504040204" pitchFamily="34" charset="-120"/>
              <a:ea typeface="微軟正黑體" panose="020B0604030504040204" pitchFamily="34" charset="-120"/>
            </a:endParaRPr>
          </a:p>
        </p:txBody>
      </p:sp>
      <p:sp>
        <p:nvSpPr>
          <p:cNvPr id="10" name="矩形 9"/>
          <p:cNvSpPr/>
          <p:nvPr/>
        </p:nvSpPr>
        <p:spPr>
          <a:xfrm>
            <a:off x="6494958" y="5770228"/>
            <a:ext cx="1335623" cy="276999"/>
          </a:xfrm>
          <a:prstGeom prst="rect">
            <a:avLst/>
          </a:prstGeom>
          <a:solidFill>
            <a:srgbClr val="FFFFFF"/>
          </a:solidFill>
        </p:spPr>
        <p:txBody>
          <a:bodyPr wrap="square">
            <a:spAutoFit/>
          </a:bodyPr>
          <a:lstStyle/>
          <a:p>
            <a:r>
              <a:rPr lang="en-US" altLang="zh-TW" sz="1200" dirty="0">
                <a:latin typeface="微軟正黑體" panose="020B0604030504040204" pitchFamily="34" charset="-120"/>
                <a:ea typeface="微軟正黑體" panose="020B0604030504040204" pitchFamily="34" charset="-120"/>
              </a:rPr>
              <a:t>Share Capital</a:t>
            </a:r>
            <a:endParaRPr lang="zh-TW" altLang="en-US" sz="1200" dirty="0"/>
          </a:p>
        </p:txBody>
      </p:sp>
    </p:spTree>
    <p:extLst>
      <p:ext uri="{BB962C8B-B14F-4D97-AF65-F5344CB8AC3E}">
        <p14:creationId xmlns:p14="http://schemas.microsoft.com/office/powerpoint/2010/main" val="238384076"/>
      </p:ext>
    </p:extLst>
  </p:cSld>
  <p:clrMapOvr>
    <a:masterClrMapping/>
  </p:clrMapOvr>
  <p:transition spd="slow"/>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3256" y="553895"/>
            <a:ext cx="3773790" cy="646331"/>
          </a:xfrm>
          <a:prstGeom prst="rect">
            <a:avLst/>
          </a:prstGeom>
        </p:spPr>
        <p:txBody>
          <a:bodyPr wrap="none">
            <a:spAutoFit/>
          </a:bodyPr>
          <a:lstStyle/>
          <a:p>
            <a:pPr>
              <a:spcBef>
                <a:spcPct val="0"/>
              </a:spcBef>
            </a:pPr>
            <a:r>
              <a:rPr lang="en-US" altLang="zh-TW" sz="3600" b="1" dirty="0">
                <a:solidFill>
                  <a:schemeClr val="bg1"/>
                </a:solidFill>
                <a:latin typeface="微軟正黑體" panose="020B0604030504040204" pitchFamily="34" charset="-120"/>
                <a:ea typeface="微軟正黑體" panose="020B0604030504040204" pitchFamily="34" charset="-120"/>
              </a:rPr>
              <a:t>Asset Allocation</a:t>
            </a:r>
            <a:endParaRPr lang="zh-TW" altLang="en-US" sz="3600" b="1" dirty="0">
              <a:solidFill>
                <a:schemeClr val="bg1"/>
              </a:solidFill>
              <a:latin typeface="微軟正黑體" panose="020B0604030504040204" pitchFamily="34" charset="-120"/>
              <a:ea typeface="微軟正黑體" panose="020B0604030504040204" pitchFamily="34" charset="-120"/>
            </a:endParaRPr>
          </a:p>
        </p:txBody>
      </p:sp>
      <p:sp>
        <p:nvSpPr>
          <p:cNvPr id="8" name="Text 71"/>
          <p:cNvSpPr/>
          <p:nvPr/>
        </p:nvSpPr>
        <p:spPr>
          <a:xfrm>
            <a:off x="891694" y="1342302"/>
            <a:ext cx="10503239" cy="487513"/>
          </a:xfrm>
          <a:prstGeom prst="rect">
            <a:avLst/>
          </a:prstGeom>
          <a:noFill/>
          <a:ln/>
        </p:spPr>
        <p:txBody>
          <a:bodyPr wrap="square" lIns="254" tIns="254" rIns="254" bIns="254" rtlCol="0"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zh-TW" sz="2000" b="1" u="sng" dirty="0"/>
              <a:t>Total Assets</a:t>
            </a:r>
            <a:r>
              <a:rPr lang="zh-TW" altLang="en-US" sz="2000" b="1" u="sng" dirty="0"/>
              <a:t>：</a:t>
            </a:r>
            <a:r>
              <a:rPr lang="en-US" altLang="zh-TW" sz="2000" b="1" u="sng" dirty="0"/>
              <a:t> </a:t>
            </a:r>
            <a:r>
              <a:rPr lang="en-US" altLang="zh-TW" sz="2000" b="1" u="sng" dirty="0" smtClean="0">
                <a:latin typeface="Calibri" panose="020F0502020204030204" pitchFamily="34" charset="0"/>
                <a:ea typeface="Calibri" panose="020F0502020204030204" pitchFamily="34" charset="0"/>
                <a:cs typeface="Calibri" panose="020F0502020204030204" pitchFamily="34" charset="0"/>
              </a:rPr>
              <a:t>2026</a:t>
            </a:r>
            <a:r>
              <a:rPr lang="en-US" sz="2000" b="1" u="sng" dirty="0" smtClean="0">
                <a:latin typeface="Calibri" panose="020F0502020204030204" pitchFamily="34" charset="0"/>
                <a:ea typeface="Calibri" panose="020F0502020204030204" pitchFamily="34" charset="0"/>
                <a:cs typeface="Calibri" panose="020F0502020204030204" pitchFamily="34" charset="0"/>
              </a:rPr>
              <a:t>.0</a:t>
            </a:r>
            <a:r>
              <a:rPr lang="en-US" altLang="zh-TW" sz="2000" b="1" u="sng" dirty="0" smtClean="0">
                <a:latin typeface="Calibri" panose="020F0502020204030204" pitchFamily="34" charset="0"/>
                <a:ea typeface="Calibri" panose="020F0502020204030204" pitchFamily="34" charset="0"/>
                <a:cs typeface="Calibri" panose="020F0502020204030204" pitchFamily="34" charset="0"/>
              </a:rPr>
              <a:t>6</a:t>
            </a:r>
            <a:r>
              <a:rPr lang="en-US" sz="2000" b="1" u="sng" dirty="0" smtClean="0">
                <a:latin typeface="Calibri" panose="020F0502020204030204" pitchFamily="34" charset="0"/>
                <a:ea typeface="Calibri" panose="020F0502020204030204" pitchFamily="34" charset="0"/>
                <a:cs typeface="Calibri" panose="020F0502020204030204" pitchFamily="34" charset="0"/>
              </a:rPr>
              <a:t>.30 </a:t>
            </a:r>
            <a:r>
              <a:rPr lang="en-US" sz="2000" b="1" u="sng" dirty="0">
                <a:latin typeface="Calibri" panose="020F0502020204030204" pitchFamily="34" charset="0"/>
                <a:ea typeface="Calibri" panose="020F0502020204030204" pitchFamily="34" charset="0"/>
                <a:cs typeface="Calibri" panose="020F0502020204030204" pitchFamily="34" charset="0"/>
              </a:rPr>
              <a:t>NT$ </a:t>
            </a:r>
            <a:r>
              <a:rPr lang="en-US" sz="2000" b="1" u="sng" dirty="0" smtClean="0">
                <a:latin typeface="Calibri" panose="020F0502020204030204" pitchFamily="34" charset="0"/>
                <a:ea typeface="Calibri" panose="020F0502020204030204" pitchFamily="34" charset="0"/>
                <a:cs typeface="Calibri" panose="020F0502020204030204" pitchFamily="34" charset="0"/>
              </a:rPr>
              <a:t>111,356</a:t>
            </a:r>
            <a:r>
              <a:rPr lang="en-US" altLang="zh-TW" sz="2000" b="1" u="sng" dirty="0" smtClean="0">
                <a:latin typeface="Calibri" panose="020F0502020204030204" pitchFamily="34" charset="0"/>
                <a:ea typeface="Calibri" panose="020F0502020204030204" pitchFamily="34" charset="0"/>
                <a:cs typeface="Calibri" panose="020F0502020204030204" pitchFamily="34" charset="0"/>
              </a:rPr>
              <a:t>M</a:t>
            </a:r>
            <a:r>
              <a:rPr lang="en-US" sz="2000" b="1" u="sng" dirty="0" smtClean="0">
                <a:latin typeface="Calibri" panose="020F0502020204030204" pitchFamily="34" charset="0"/>
                <a:ea typeface="Calibri" panose="020F0502020204030204" pitchFamily="34" charset="0"/>
                <a:cs typeface="Calibri" panose="020F0502020204030204" pitchFamily="34" charset="0"/>
              </a:rPr>
              <a:t> </a:t>
            </a:r>
            <a:r>
              <a:rPr lang="en-US" altLang="zh-TW" sz="2000" b="1" u="sng" dirty="0"/>
              <a:t>vs </a:t>
            </a:r>
            <a:r>
              <a:rPr lang="en-US" altLang="zh-TW" sz="2000" b="1" u="sng" dirty="0" smtClean="0"/>
              <a:t> </a:t>
            </a:r>
            <a:r>
              <a:rPr lang="en-US" altLang="zh-TW" sz="2000" b="1" u="sng" dirty="0" smtClean="0">
                <a:latin typeface="Calibri" panose="020F0502020204030204" pitchFamily="34" charset="0"/>
                <a:ea typeface="Calibri" panose="020F0502020204030204" pitchFamily="34" charset="0"/>
                <a:cs typeface="Calibri" panose="020F0502020204030204" pitchFamily="34" charset="0"/>
              </a:rPr>
              <a:t>2025</a:t>
            </a:r>
            <a:r>
              <a:rPr lang="en-US" sz="2000" b="1" u="sng" dirty="0" smtClean="0">
                <a:latin typeface="Calibri" panose="020F0502020204030204" pitchFamily="34" charset="0"/>
                <a:ea typeface="Calibri" panose="020F0502020204030204" pitchFamily="34" charset="0"/>
                <a:cs typeface="Calibri" panose="020F0502020204030204" pitchFamily="34" charset="0"/>
              </a:rPr>
              <a:t>.12.31 </a:t>
            </a:r>
            <a:r>
              <a:rPr lang="en-US" altLang="zh-TW" sz="2000" b="1" u="sng" dirty="0"/>
              <a:t>increase</a:t>
            </a:r>
            <a:r>
              <a:rPr lang="en-US" sz="2000" b="1" u="sng" dirty="0" smtClean="0">
                <a:latin typeface="Calibri" panose="020F0502020204030204" pitchFamily="34" charset="0"/>
                <a:ea typeface="Calibri" panose="020F0502020204030204" pitchFamily="34" charset="0"/>
                <a:cs typeface="Calibri" panose="020F0502020204030204" pitchFamily="34" charset="0"/>
              </a:rPr>
              <a:t> </a:t>
            </a:r>
            <a:r>
              <a:rPr lang="en-US" sz="2000" b="1" u="sng" dirty="0">
                <a:latin typeface="Calibri" panose="020F0502020204030204" pitchFamily="34" charset="0"/>
                <a:ea typeface="Calibri" panose="020F0502020204030204" pitchFamily="34" charset="0"/>
                <a:cs typeface="Calibri" panose="020F0502020204030204" pitchFamily="34" charset="0"/>
              </a:rPr>
              <a:t>NT$ 15,007</a:t>
            </a:r>
            <a:r>
              <a:rPr lang="en-US" altLang="zh-TW" sz="2000" b="1" u="sng" dirty="0">
                <a:latin typeface="Calibri" panose="020F0502020204030204" pitchFamily="34" charset="0"/>
                <a:ea typeface="Calibri" panose="020F0502020204030204" pitchFamily="34" charset="0"/>
                <a:cs typeface="Calibri" panose="020F0502020204030204" pitchFamily="34" charset="0"/>
              </a:rPr>
              <a:t>M </a:t>
            </a:r>
            <a:r>
              <a:rPr lang="en-US" sz="2000" b="1" u="sng" dirty="0">
                <a:latin typeface="Calibri" panose="020F0502020204030204" pitchFamily="34" charset="0"/>
                <a:ea typeface="Calibri" panose="020F0502020204030204" pitchFamily="34" charset="0"/>
                <a:cs typeface="Calibri" panose="020F0502020204030204" pitchFamily="34" charset="0"/>
              </a:rPr>
              <a:t>(+15.58%)</a:t>
            </a:r>
          </a:p>
        </p:txBody>
      </p:sp>
      <p:pic>
        <p:nvPicPr>
          <p:cNvPr id="3" name="圖片 2"/>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3005" y="1850637"/>
            <a:ext cx="10881928" cy="4556079"/>
          </a:xfrm>
          <a:prstGeom prst="rect">
            <a:avLst/>
          </a:prstGeom>
          <a:ln>
            <a:solidFill>
              <a:srgbClr val="002060"/>
            </a:solidFill>
          </a:ln>
        </p:spPr>
      </p:pic>
      <p:sp>
        <p:nvSpPr>
          <p:cNvPr id="7" name="矩形 6">
            <a:extLst>
              <a:ext uri="{FF2B5EF4-FFF2-40B4-BE49-F238E27FC236}">
                <a16:creationId xmlns:a16="http://schemas.microsoft.com/office/drawing/2014/main" xmlns="" id="{12DEDBD5-2C69-4A08-A055-5747C5AEDDB2}"/>
              </a:ext>
            </a:extLst>
          </p:cNvPr>
          <p:cNvSpPr>
            <a:spLocks noGrp="1"/>
          </p:cNvSpPr>
          <p:nvPr/>
        </p:nvSpPr>
        <p:spPr>
          <a:xfrm>
            <a:off x="891694" y="2306311"/>
            <a:ext cx="3266530" cy="525062"/>
          </a:xfrm>
          <a:prstGeom prst="rect">
            <a:avLst/>
          </a:prstGeom>
          <a:solidFill>
            <a:srgbClr val="0878BD"/>
          </a:solidFill>
          <a:ln w="9525">
            <a:solidFill>
              <a:srgbClr val="0668A6"/>
            </a:solidFill>
          </a:ln>
        </p:spPr>
      </p:sp>
      <p:sp>
        <p:nvSpPr>
          <p:cNvPr id="9" name="矩形 8">
            <a:extLst>
              <a:ext uri="{FF2B5EF4-FFF2-40B4-BE49-F238E27FC236}">
                <a16:creationId xmlns:a16="http://schemas.microsoft.com/office/drawing/2014/main" xmlns="" id="{82D72F75-C96C-4FAA-856B-6058F071EDE8}"/>
              </a:ext>
            </a:extLst>
          </p:cNvPr>
          <p:cNvSpPr>
            <a:spLocks noGrp="1"/>
          </p:cNvSpPr>
          <p:nvPr/>
        </p:nvSpPr>
        <p:spPr>
          <a:xfrm>
            <a:off x="944880" y="2360376"/>
            <a:ext cx="1699000" cy="525063"/>
          </a:xfrm>
          <a:prstGeom prst="rect">
            <a:avLst/>
          </a:prstGeom>
          <a:noFill/>
          <a:ln w="0">
            <a:noFill/>
          </a:ln>
        </p:spPr>
        <p:txBody>
          <a:bodyPr anchor="ctr">
            <a:normAutofit/>
          </a:bodyPr>
          <a:lstStyle/>
          <a:p>
            <a:pPr algn="ctr">
              <a:defRPr sz="1350" b="1">
                <a:solidFill>
                  <a:srgbClr val="FFFFFF"/>
                </a:solidFill>
                <a:latin typeface="Microsoft JhengHei"/>
                <a:ea typeface="Microsoft JhengHei"/>
                <a:cs typeface="Microsoft JhengHei"/>
              </a:defRPr>
            </a:pPr>
            <a:r>
              <a:rPr lang="en-US" altLang="zh-TW" sz="1350" b="1" dirty="0" smtClean="0"/>
              <a:t>Assets</a:t>
            </a:r>
            <a:r>
              <a:rPr lang="zh-TW" altLang="en-US" sz="1350" b="1" dirty="0" smtClean="0"/>
              <a:t> </a:t>
            </a:r>
            <a:r>
              <a:rPr lang="en-US" altLang="zh-TW" sz="1350" b="1" dirty="0" smtClean="0"/>
              <a:t>Items</a:t>
            </a:r>
            <a:endParaRPr sz="1350" b="1" dirty="0">
              <a:solidFill>
                <a:srgbClr val="FFFFFF"/>
              </a:solidFill>
              <a:latin typeface="Microsoft JhengHei"/>
              <a:ea typeface="Microsoft JhengHei"/>
              <a:cs typeface="Microsoft JhengHei"/>
            </a:endParaRPr>
          </a:p>
        </p:txBody>
      </p:sp>
      <p:sp>
        <p:nvSpPr>
          <p:cNvPr id="12" name="矩形 11">
            <a:extLst>
              <a:ext uri="{FF2B5EF4-FFF2-40B4-BE49-F238E27FC236}">
                <a16:creationId xmlns:a16="http://schemas.microsoft.com/office/drawing/2014/main" xmlns="" id="{12DEDBD5-2C69-4A08-A055-5747C5AEDDB2}"/>
              </a:ext>
            </a:extLst>
          </p:cNvPr>
          <p:cNvSpPr>
            <a:spLocks noGrp="1"/>
          </p:cNvSpPr>
          <p:nvPr/>
        </p:nvSpPr>
        <p:spPr>
          <a:xfrm>
            <a:off x="4173755" y="2296044"/>
            <a:ext cx="2504350" cy="525062"/>
          </a:xfrm>
          <a:prstGeom prst="rect">
            <a:avLst/>
          </a:prstGeom>
          <a:solidFill>
            <a:srgbClr val="0878BD"/>
          </a:solidFill>
          <a:ln w="9525">
            <a:solidFill>
              <a:srgbClr val="0668A6"/>
            </a:solidFill>
          </a:ln>
        </p:spPr>
      </p:sp>
      <p:sp>
        <p:nvSpPr>
          <p:cNvPr id="13" name="矩形 12">
            <a:extLst>
              <a:ext uri="{FF2B5EF4-FFF2-40B4-BE49-F238E27FC236}">
                <a16:creationId xmlns:a16="http://schemas.microsoft.com/office/drawing/2014/main" xmlns="" id="{82D72F75-C96C-4FAA-856B-6058F071EDE8}"/>
              </a:ext>
            </a:extLst>
          </p:cNvPr>
          <p:cNvSpPr>
            <a:spLocks noGrp="1"/>
          </p:cNvSpPr>
          <p:nvPr/>
        </p:nvSpPr>
        <p:spPr>
          <a:xfrm>
            <a:off x="4070949" y="2296044"/>
            <a:ext cx="2633650" cy="525063"/>
          </a:xfrm>
          <a:prstGeom prst="rect">
            <a:avLst/>
          </a:prstGeom>
          <a:noFill/>
          <a:ln w="0">
            <a:noFill/>
          </a:ln>
        </p:spPr>
        <p:txBody>
          <a:bodyPr anchor="ctr">
            <a:normAutofit/>
          </a:bodyPr>
          <a:lstStyle/>
          <a:p>
            <a:pPr algn="ctr">
              <a:defRPr sz="1350" b="1">
                <a:solidFill>
                  <a:srgbClr val="FFFFFF"/>
                </a:solidFill>
                <a:latin typeface="Microsoft JhengHei"/>
                <a:ea typeface="Microsoft JhengHei"/>
                <a:cs typeface="Microsoft JhengHei"/>
              </a:defRPr>
            </a:pPr>
            <a:r>
              <a:rPr lang="en-US" altLang="zh-TW" sz="1350" b="1" dirty="0"/>
              <a:t>Amount Change (Change %)</a:t>
            </a:r>
            <a:endParaRPr sz="1350" b="1" dirty="0">
              <a:solidFill>
                <a:srgbClr val="FFFFFF"/>
              </a:solidFill>
              <a:latin typeface="Microsoft JhengHei"/>
              <a:ea typeface="Microsoft JhengHei"/>
              <a:cs typeface="Microsoft JhengHei"/>
            </a:endParaRPr>
          </a:p>
        </p:txBody>
      </p:sp>
      <p:sp>
        <p:nvSpPr>
          <p:cNvPr id="14" name="Text 5"/>
          <p:cNvSpPr/>
          <p:nvPr/>
        </p:nvSpPr>
        <p:spPr>
          <a:xfrm>
            <a:off x="6692247" y="2280777"/>
            <a:ext cx="2143761" cy="576130"/>
          </a:xfrm>
          <a:prstGeom prst="rect">
            <a:avLst/>
          </a:prstGeom>
          <a:solidFill>
            <a:srgbClr val="35AFCB"/>
          </a:solidFill>
          <a:ln/>
        </p:spPr>
        <p:txBody>
          <a:bodyPr wrap="square" lIns="254" tIns="254" rIns="254" bIns="254" rtlCol="0" anchor="ctr">
            <a:normAutofit/>
          </a:bodyPr>
          <a:lstStyle/>
          <a:p>
            <a:pPr marL="0" indent="0" algn="ctr">
              <a:buNone/>
            </a:pPr>
            <a:r>
              <a:rPr lang="en-US" sz="1200" b="1" dirty="0" smtClean="0">
                <a:solidFill>
                  <a:srgbClr val="FFFFFF"/>
                </a:solidFill>
                <a:latin typeface="Microsoft JhengHei" pitchFamily="34" charset="0"/>
                <a:ea typeface="Microsoft JhengHei" pitchFamily="34" charset="-122"/>
                <a:cs typeface="Microsoft JhengHei" pitchFamily="34" charset="-120"/>
              </a:rPr>
              <a:t>2026.06.30 Asset Allocation</a:t>
            </a:r>
            <a:endParaRPr lang="en-US" sz="1200" dirty="0"/>
          </a:p>
          <a:p>
            <a:pPr marL="0" indent="0" algn="ctr">
              <a:buNone/>
            </a:pPr>
            <a:r>
              <a:rPr lang="en-US" sz="1200" b="1" dirty="0">
                <a:solidFill>
                  <a:srgbClr val="FFFFFF"/>
                </a:solidFill>
                <a:latin typeface="Microsoft JhengHei" pitchFamily="34" charset="0"/>
                <a:ea typeface="Microsoft JhengHei" pitchFamily="34" charset="-122"/>
                <a:cs typeface="Microsoft JhengHei" pitchFamily="34" charset="-120"/>
              </a:rPr>
              <a:t>(</a:t>
            </a:r>
            <a:r>
              <a:rPr lang="en-US" sz="1200" b="1" dirty="0" smtClean="0">
                <a:solidFill>
                  <a:srgbClr val="FFFFFF"/>
                </a:solidFill>
                <a:latin typeface="Microsoft JhengHei" pitchFamily="34" charset="0"/>
                <a:ea typeface="Microsoft JhengHei" pitchFamily="34" charset="-122"/>
                <a:cs typeface="Microsoft JhengHei" pitchFamily="34" charset="-120"/>
              </a:rPr>
              <a:t>NTD 111,356M)</a:t>
            </a:r>
            <a:endParaRPr lang="en-US" sz="1200" dirty="0"/>
          </a:p>
        </p:txBody>
      </p:sp>
      <p:sp>
        <p:nvSpPr>
          <p:cNvPr id="15" name="Text 5"/>
          <p:cNvSpPr/>
          <p:nvPr/>
        </p:nvSpPr>
        <p:spPr>
          <a:xfrm>
            <a:off x="8878033" y="2259882"/>
            <a:ext cx="2238770" cy="576130"/>
          </a:xfrm>
          <a:prstGeom prst="rect">
            <a:avLst/>
          </a:prstGeom>
          <a:solidFill>
            <a:srgbClr val="35AFCB"/>
          </a:solidFill>
          <a:ln/>
        </p:spPr>
        <p:txBody>
          <a:bodyPr wrap="square" lIns="254" tIns="254" rIns="254" bIns="254" rtlCol="0" anchor="ctr">
            <a:normAutofit/>
          </a:bodyPr>
          <a:lstStyle/>
          <a:p>
            <a:pPr marL="0" indent="0" algn="ctr">
              <a:buNone/>
            </a:pPr>
            <a:r>
              <a:rPr lang="en-US" sz="1200" b="1" dirty="0" smtClean="0">
                <a:solidFill>
                  <a:srgbClr val="FFFFFF"/>
                </a:solidFill>
                <a:latin typeface="Microsoft JhengHei" pitchFamily="34" charset="0"/>
                <a:ea typeface="Microsoft JhengHei" pitchFamily="34" charset="-122"/>
                <a:cs typeface="Microsoft JhengHei" pitchFamily="34" charset="-120"/>
              </a:rPr>
              <a:t>2025.12.31 Asset Allocation</a:t>
            </a:r>
            <a:endParaRPr lang="en-US" sz="1200" dirty="0"/>
          </a:p>
          <a:p>
            <a:pPr marL="0" indent="0" algn="ctr">
              <a:buNone/>
            </a:pPr>
            <a:r>
              <a:rPr lang="en-US" sz="1200" b="1" dirty="0">
                <a:solidFill>
                  <a:srgbClr val="FFFFFF"/>
                </a:solidFill>
                <a:latin typeface="Microsoft JhengHei" pitchFamily="34" charset="0"/>
                <a:ea typeface="Microsoft JhengHei" pitchFamily="34" charset="-122"/>
                <a:cs typeface="Microsoft JhengHei" pitchFamily="34" charset="-120"/>
              </a:rPr>
              <a:t>(</a:t>
            </a:r>
            <a:r>
              <a:rPr lang="en-US" sz="1200" b="1" dirty="0" smtClean="0">
                <a:solidFill>
                  <a:srgbClr val="FFFFFF"/>
                </a:solidFill>
                <a:latin typeface="Microsoft JhengHei" pitchFamily="34" charset="0"/>
                <a:ea typeface="Microsoft JhengHei" pitchFamily="34" charset="-122"/>
                <a:cs typeface="Microsoft JhengHei" pitchFamily="34" charset="-120"/>
              </a:rPr>
              <a:t>NTD 111,356M)</a:t>
            </a:r>
            <a:endParaRPr lang="en-US" sz="1200" dirty="0"/>
          </a:p>
        </p:txBody>
      </p:sp>
      <p:sp>
        <p:nvSpPr>
          <p:cNvPr id="16" name="矩形 15"/>
          <p:cNvSpPr/>
          <p:nvPr/>
        </p:nvSpPr>
        <p:spPr>
          <a:xfrm>
            <a:off x="1506143" y="3543902"/>
            <a:ext cx="2354403" cy="584775"/>
          </a:xfrm>
          <a:prstGeom prst="rect">
            <a:avLst/>
          </a:prstGeom>
          <a:solidFill>
            <a:srgbClr val="F8F8F8"/>
          </a:solidFill>
        </p:spPr>
        <p:txBody>
          <a:bodyPr wrap="square">
            <a:spAutoFit/>
          </a:bodyPr>
          <a:lstStyle/>
          <a:p>
            <a:r>
              <a:rPr lang="en-US" altLang="zh-TW" sz="1600" b="1" dirty="0" smtClean="0">
                <a:solidFill>
                  <a:srgbClr val="00B050"/>
                </a:solidFill>
              </a:rPr>
              <a:t>Equity-Method</a:t>
            </a:r>
          </a:p>
          <a:p>
            <a:r>
              <a:rPr lang="en-US" altLang="zh-TW" sz="1600" b="1" dirty="0" smtClean="0">
                <a:solidFill>
                  <a:srgbClr val="00B050"/>
                </a:solidFill>
              </a:rPr>
              <a:t>Investees</a:t>
            </a:r>
            <a:endParaRPr lang="zh-TW" altLang="en-US" sz="1600" b="1" dirty="0">
              <a:solidFill>
                <a:srgbClr val="00B050"/>
              </a:solidFill>
            </a:endParaRPr>
          </a:p>
        </p:txBody>
      </p:sp>
      <p:sp>
        <p:nvSpPr>
          <p:cNvPr id="17" name="矩形 16"/>
          <p:cNvSpPr/>
          <p:nvPr/>
        </p:nvSpPr>
        <p:spPr>
          <a:xfrm>
            <a:off x="1506143" y="3017235"/>
            <a:ext cx="2370903" cy="338554"/>
          </a:xfrm>
          <a:prstGeom prst="rect">
            <a:avLst/>
          </a:prstGeom>
          <a:solidFill>
            <a:schemeClr val="bg1"/>
          </a:solidFill>
        </p:spPr>
        <p:txBody>
          <a:bodyPr wrap="square">
            <a:spAutoFit/>
          </a:bodyPr>
          <a:lstStyle/>
          <a:p>
            <a:r>
              <a:rPr lang="en-US" altLang="zh-TW" sz="1600" b="1" dirty="0" smtClean="0">
                <a:solidFill>
                  <a:srgbClr val="002060"/>
                </a:solidFill>
              </a:rPr>
              <a:t>Financial Assets at OCI</a:t>
            </a:r>
            <a:endParaRPr lang="zh-TW" altLang="en-US" sz="1600" b="1" dirty="0">
              <a:solidFill>
                <a:srgbClr val="002060"/>
              </a:solidFill>
            </a:endParaRPr>
          </a:p>
        </p:txBody>
      </p:sp>
      <p:sp>
        <p:nvSpPr>
          <p:cNvPr id="18" name="矩形 17"/>
          <p:cNvSpPr/>
          <p:nvPr/>
        </p:nvSpPr>
        <p:spPr>
          <a:xfrm>
            <a:off x="1506143" y="4260473"/>
            <a:ext cx="2564805" cy="584775"/>
          </a:xfrm>
          <a:prstGeom prst="rect">
            <a:avLst/>
          </a:prstGeom>
          <a:solidFill>
            <a:schemeClr val="bg1"/>
          </a:solidFill>
        </p:spPr>
        <p:txBody>
          <a:bodyPr wrap="none">
            <a:spAutoFit/>
          </a:bodyPr>
          <a:lstStyle/>
          <a:p>
            <a:r>
              <a:rPr lang="en-US" altLang="zh-TW" sz="1600" b="1" dirty="0">
                <a:solidFill>
                  <a:schemeClr val="accent2"/>
                </a:solidFill>
              </a:rPr>
              <a:t>Cash and </a:t>
            </a:r>
            <a:r>
              <a:rPr lang="en-US" altLang="zh-TW" sz="1600" b="1" dirty="0" smtClean="0">
                <a:solidFill>
                  <a:schemeClr val="accent2"/>
                </a:solidFill>
              </a:rPr>
              <a:t>Operating-related </a:t>
            </a:r>
          </a:p>
          <a:p>
            <a:r>
              <a:rPr lang="en-US" altLang="zh-TW" sz="1600" b="1" dirty="0" smtClean="0">
                <a:solidFill>
                  <a:schemeClr val="accent2"/>
                </a:solidFill>
              </a:rPr>
              <a:t>current </a:t>
            </a:r>
            <a:r>
              <a:rPr lang="en-US" altLang="zh-TW" sz="1600" b="1" dirty="0">
                <a:solidFill>
                  <a:schemeClr val="accent2"/>
                </a:solidFill>
              </a:rPr>
              <a:t>assets</a:t>
            </a:r>
            <a:endParaRPr lang="zh-TW" altLang="en-US" sz="1600" b="1" dirty="0">
              <a:solidFill>
                <a:schemeClr val="accent2"/>
              </a:solidFill>
            </a:endParaRPr>
          </a:p>
        </p:txBody>
      </p:sp>
      <p:sp>
        <p:nvSpPr>
          <p:cNvPr id="19" name="矩形 18"/>
          <p:cNvSpPr/>
          <p:nvPr/>
        </p:nvSpPr>
        <p:spPr>
          <a:xfrm>
            <a:off x="1507837" y="4890062"/>
            <a:ext cx="2369209" cy="584775"/>
          </a:xfrm>
          <a:prstGeom prst="rect">
            <a:avLst/>
          </a:prstGeom>
          <a:solidFill>
            <a:srgbClr val="F8F8F8"/>
          </a:solidFill>
        </p:spPr>
        <p:txBody>
          <a:bodyPr wrap="square">
            <a:spAutoFit/>
          </a:bodyPr>
          <a:lstStyle/>
          <a:p>
            <a:r>
              <a:rPr lang="en-US" altLang="zh-TW" sz="1600" b="1" dirty="0">
                <a:solidFill>
                  <a:schemeClr val="accent1"/>
                </a:solidFill>
              </a:rPr>
              <a:t>Fixed Assets (including</a:t>
            </a:r>
            <a:r>
              <a:rPr lang="zh-TW" altLang="en-US" sz="1600" b="1" dirty="0">
                <a:solidFill>
                  <a:schemeClr val="accent1"/>
                </a:solidFill>
              </a:rPr>
              <a:t> </a:t>
            </a:r>
            <a:endParaRPr lang="en-US" altLang="zh-TW" sz="1600" b="1" dirty="0">
              <a:solidFill>
                <a:schemeClr val="accent1"/>
              </a:solidFill>
            </a:endParaRPr>
          </a:p>
          <a:p>
            <a:r>
              <a:rPr lang="en-US" altLang="zh-TW" sz="1600" b="1" dirty="0">
                <a:solidFill>
                  <a:schemeClr val="accent1"/>
                </a:solidFill>
              </a:rPr>
              <a:t>PP&amp;E and ROU Assets)</a:t>
            </a:r>
            <a:endParaRPr lang="zh-TW" altLang="en-US" sz="1600" b="1" dirty="0">
              <a:solidFill>
                <a:schemeClr val="accent1"/>
              </a:solidFill>
            </a:endParaRPr>
          </a:p>
        </p:txBody>
      </p:sp>
      <p:sp>
        <p:nvSpPr>
          <p:cNvPr id="20" name="矩形 19"/>
          <p:cNvSpPr/>
          <p:nvPr/>
        </p:nvSpPr>
        <p:spPr>
          <a:xfrm>
            <a:off x="1507837" y="5690988"/>
            <a:ext cx="2369209" cy="338554"/>
          </a:xfrm>
          <a:prstGeom prst="rect">
            <a:avLst/>
          </a:prstGeom>
          <a:solidFill>
            <a:schemeClr val="bg1"/>
          </a:solidFill>
        </p:spPr>
        <p:txBody>
          <a:bodyPr wrap="square">
            <a:spAutoFit/>
          </a:bodyPr>
          <a:lstStyle/>
          <a:p>
            <a:r>
              <a:rPr lang="en-US" altLang="zh-TW" sz="1600" b="1" dirty="0" smtClean="0"/>
              <a:t>Other Assets</a:t>
            </a:r>
            <a:endParaRPr lang="zh-TW" altLang="en-US" sz="1600" b="1" dirty="0"/>
          </a:p>
        </p:txBody>
      </p:sp>
      <p:pic>
        <p:nvPicPr>
          <p:cNvPr id="21" name="圖片 20"/>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86945" y="6450226"/>
            <a:ext cx="2375549" cy="407773"/>
          </a:xfrm>
          <a:prstGeom prst="rect">
            <a:avLst/>
          </a:prstGeom>
        </p:spPr>
      </p:pic>
      <p:sp>
        <p:nvSpPr>
          <p:cNvPr id="22" name="文字方塊 6"/>
          <p:cNvSpPr txBox="1">
            <a:spLocks noChangeArrowheads="1"/>
          </p:cNvSpPr>
          <p:nvPr/>
        </p:nvSpPr>
        <p:spPr bwMode="auto">
          <a:xfrm>
            <a:off x="3710482" y="1884135"/>
            <a:ext cx="4543181" cy="276999"/>
          </a:xfrm>
          <a:prstGeom prst="rect">
            <a:avLst/>
          </a:prstGeom>
          <a:solidFill>
            <a:schemeClr val="bg1"/>
          </a:solidFill>
          <a:ln>
            <a:noFill/>
          </a:ln>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None/>
            </a:pPr>
            <a:r>
              <a:rPr lang="en-US" altLang="zh-TW" sz="1200" dirty="0">
                <a:ea typeface="Calibri" panose="020F0502020204030204" pitchFamily="34" charset="0"/>
                <a:cs typeface="Calibri" panose="020F0502020204030204" pitchFamily="34" charset="0"/>
              </a:rPr>
              <a:t>2026.06.30 </a:t>
            </a:r>
            <a:r>
              <a:rPr lang="en-US" altLang="zh-TW" sz="1200" dirty="0" smtClean="0">
                <a:ea typeface="Calibri" panose="020F0502020204030204" pitchFamily="34" charset="0"/>
                <a:cs typeface="Calibri" panose="020F0502020204030204" pitchFamily="34" charset="0"/>
              </a:rPr>
              <a:t> VS 2025.12.31 </a:t>
            </a:r>
            <a:r>
              <a:rPr lang="zh-TW" altLang="en-US" sz="1200" dirty="0" smtClean="0">
                <a:latin typeface="微軟正黑體" panose="020B0604030504040204" pitchFamily="34" charset="-120"/>
                <a:ea typeface="微軟正黑體" panose="020B0604030504040204" pitchFamily="34" charset="-120"/>
              </a:rPr>
              <a:t>（</a:t>
            </a:r>
            <a:r>
              <a:rPr lang="en-US" altLang="zh-TW" sz="1200" dirty="0" smtClean="0">
                <a:latin typeface="微軟正黑體" panose="020B0604030504040204" pitchFamily="34" charset="-120"/>
                <a:ea typeface="微軟正黑體" panose="020B0604030504040204" pitchFamily="34" charset="-120"/>
              </a:rPr>
              <a:t>Unit</a:t>
            </a:r>
            <a:r>
              <a:rPr lang="zh-TW" altLang="en-US" sz="1200" dirty="0" smtClean="0">
                <a:latin typeface="微軟正黑體" panose="020B0604030504040204" pitchFamily="34" charset="-120"/>
                <a:ea typeface="微軟正黑體" panose="020B0604030504040204" pitchFamily="34" charset="-120"/>
              </a:rPr>
              <a:t>：</a:t>
            </a:r>
            <a:r>
              <a:rPr lang="en-US" altLang="zh-TW" sz="1200" dirty="0" smtClean="0">
                <a:latin typeface="微軟正黑體" panose="020B0604030504040204" pitchFamily="34" charset="-120"/>
                <a:ea typeface="微軟正黑體" panose="020B0604030504040204" pitchFamily="34" charset="-120"/>
              </a:rPr>
              <a:t>$ million</a:t>
            </a:r>
            <a:r>
              <a:rPr lang="zh-TW" altLang="en-US" sz="1200" dirty="0" smtClean="0">
                <a:latin typeface="微軟正黑體" panose="020B0604030504040204" pitchFamily="34" charset="-120"/>
                <a:ea typeface="微軟正黑體" panose="020B0604030504040204" pitchFamily="34" charset="-120"/>
              </a:rPr>
              <a:t>）</a:t>
            </a:r>
            <a:endParaRPr kumimoji="0" lang="zh-TW" altLang="en-US" sz="12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777644636"/>
      </p:ext>
    </p:extLst>
  </p:cSld>
  <p:clrMapOvr>
    <a:masterClrMapping/>
  </p:clrMapOvr>
  <p:transition spd="slow"/>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54256"/>
            <a:ext cx="3795911" cy="461665"/>
          </a:xfrm>
          <a:prstGeom prst="rect">
            <a:avLst/>
          </a:prstGeom>
        </p:spPr>
        <p:txBody>
          <a:bodyPr wrap="none">
            <a:spAutoFit/>
          </a:bodyPr>
          <a:lstStyle/>
          <a:p>
            <a:pPr>
              <a:spcBef>
                <a:spcPct val="0"/>
              </a:spcBef>
            </a:pPr>
            <a:r>
              <a:rPr lang="en-US" altLang="zh-TW" sz="2400" b="1" dirty="0">
                <a:solidFill>
                  <a:schemeClr val="bg1"/>
                </a:solidFill>
                <a:latin typeface="微軟正黑體" panose="020B0604030504040204" pitchFamily="34" charset="-120"/>
                <a:ea typeface="微軟正黑體" panose="020B0604030504040204" pitchFamily="34" charset="-120"/>
              </a:rPr>
              <a:t>Asset Allocation - </a:t>
            </a:r>
            <a:r>
              <a:rPr lang="en-US" altLang="zh-TW" sz="2400" b="1" dirty="0" smtClean="0">
                <a:solidFill>
                  <a:schemeClr val="bg1"/>
                </a:solidFill>
                <a:latin typeface="微軟正黑體" panose="020B0604030504040204" pitchFamily="34" charset="-120"/>
                <a:ea typeface="微軟正黑體" panose="020B0604030504040204" pitchFamily="34" charset="-120"/>
              </a:rPr>
              <a:t>FVOCI</a:t>
            </a:r>
            <a:endParaRPr lang="zh-TW" altLang="en-US" sz="2400" b="1" dirty="0">
              <a:solidFill>
                <a:schemeClr val="bg1"/>
              </a:solidFill>
              <a:latin typeface="微軟正黑體" panose="020B0604030504040204" pitchFamily="34" charset="-120"/>
              <a:ea typeface="微軟正黑體" panose="020B0604030504040204" pitchFamily="34" charset="-120"/>
            </a:endParaRPr>
          </a:p>
        </p:txBody>
      </p:sp>
      <p:sp>
        <p:nvSpPr>
          <p:cNvPr id="17" name="矩形 16">
            <a:extLst>
              <a:ext uri="{FF2B5EF4-FFF2-40B4-BE49-F238E27FC236}">
                <a16:creationId xmlns:a16="http://schemas.microsoft.com/office/drawing/2014/main" xmlns="" id="{3F99E0E4-3B8E-40A7-B082-048371445AF0}"/>
              </a:ext>
            </a:extLst>
          </p:cNvPr>
          <p:cNvSpPr>
            <a:spLocks noGrp="1"/>
          </p:cNvSpPr>
          <p:nvPr/>
        </p:nvSpPr>
        <p:spPr>
          <a:xfrm>
            <a:off x="9757317" y="1009650"/>
            <a:ext cx="1910808" cy="651882"/>
          </a:xfrm>
          <a:prstGeom prst="rect">
            <a:avLst/>
          </a:prstGeom>
          <a:noFill/>
          <a:ln w="0">
            <a:noFill/>
          </a:ln>
        </p:spPr>
        <p:txBody>
          <a:bodyPr anchor="ctr">
            <a:normAutofit/>
          </a:bodyPr>
          <a:lstStyle/>
          <a:p>
            <a:pPr algn="ctr">
              <a:defRPr sz="1350" b="1">
                <a:solidFill>
                  <a:srgbClr val="FFFFFF"/>
                </a:solidFill>
                <a:latin typeface="Microsoft JhengHei"/>
                <a:ea typeface="Microsoft JhengHei"/>
                <a:cs typeface="Microsoft JhengHei"/>
              </a:defRPr>
            </a:pPr>
            <a:r>
              <a:rPr lang="zh-TW" altLang="en-US" sz="1400" b="1" dirty="0">
                <a:solidFill>
                  <a:srgbClr val="FFFFFF"/>
                </a:solidFill>
                <a:latin typeface="Microsoft JhengHei"/>
                <a:ea typeface="Microsoft JhengHei"/>
                <a:cs typeface="Microsoft JhengHei"/>
              </a:rPr>
              <a:t>兩期變動數</a:t>
            </a:r>
            <a:r>
              <a:rPr lang="en-US" altLang="zh-TW" sz="1400" b="1" dirty="0">
                <a:solidFill>
                  <a:srgbClr val="FFFFFF"/>
                </a:solidFill>
                <a:latin typeface="Microsoft JhengHei"/>
                <a:ea typeface="Microsoft JhengHei"/>
                <a:cs typeface="Microsoft JhengHei"/>
              </a:rPr>
              <a:t>(%)</a:t>
            </a:r>
            <a:endParaRPr sz="1400" b="1" dirty="0">
              <a:solidFill>
                <a:srgbClr val="FFFFFF"/>
              </a:solidFill>
              <a:latin typeface="Microsoft JhengHei"/>
              <a:ea typeface="Microsoft JhengHei"/>
              <a:cs typeface="Microsoft JhengHei"/>
            </a:endParaRPr>
          </a:p>
        </p:txBody>
      </p:sp>
      <p:sp>
        <p:nvSpPr>
          <p:cNvPr id="50" name="矩形 49">
            <a:extLst>
              <a:ext uri="{FF2B5EF4-FFF2-40B4-BE49-F238E27FC236}">
                <a16:creationId xmlns:a16="http://schemas.microsoft.com/office/drawing/2014/main" xmlns="" id="{7C78C125-8369-486A-8249-82A967BF1AC8}"/>
              </a:ext>
            </a:extLst>
          </p:cNvPr>
          <p:cNvSpPr>
            <a:spLocks noGrp="1"/>
          </p:cNvSpPr>
          <p:nvPr/>
        </p:nvSpPr>
        <p:spPr>
          <a:xfrm>
            <a:off x="362415" y="1661532"/>
            <a:ext cx="3771900" cy="323850"/>
          </a:xfrm>
          <a:prstGeom prst="rect">
            <a:avLst/>
          </a:prstGeom>
          <a:noFill/>
          <a:ln w="0">
            <a:noFill/>
          </a:ln>
        </p:spPr>
        <p:txBody>
          <a:bodyPr anchor="ctr">
            <a:normAutofit fontScale="92222" lnSpcReduction="20000"/>
          </a:bodyPr>
          <a:lstStyle/>
          <a:p>
            <a:pPr algn="ctr">
              <a:defRPr sz="1800" b="1">
                <a:solidFill>
                  <a:srgbClr val="123F73"/>
                </a:solidFill>
                <a:latin typeface="Microsoft JhengHei"/>
                <a:ea typeface="Microsoft JhengHei"/>
                <a:cs typeface="Microsoft JhengHei"/>
              </a:defRPr>
            </a:pPr>
            <a:r>
              <a:rPr lang="en-US" sz="1800" b="1" dirty="0" smtClean="0">
                <a:solidFill>
                  <a:srgbClr val="123F73"/>
                </a:solidFill>
                <a:latin typeface="Microsoft JhengHei"/>
                <a:ea typeface="Microsoft JhengHei"/>
                <a:cs typeface="Microsoft JhengHei"/>
              </a:rPr>
              <a:t>2026</a:t>
            </a:r>
            <a:r>
              <a:rPr sz="1800" b="1" dirty="0" smtClean="0">
                <a:solidFill>
                  <a:srgbClr val="123F73"/>
                </a:solidFill>
                <a:latin typeface="Microsoft JhengHei"/>
                <a:ea typeface="Microsoft JhengHei"/>
                <a:cs typeface="Microsoft JhengHei"/>
              </a:rPr>
              <a:t>.06.30</a:t>
            </a:r>
            <a:endParaRPr sz="1800" b="1" dirty="0">
              <a:solidFill>
                <a:srgbClr val="123F73"/>
              </a:solidFill>
              <a:latin typeface="Microsoft JhengHei"/>
              <a:ea typeface="Microsoft JhengHei"/>
              <a:cs typeface="Microsoft JhengHei"/>
            </a:endParaRPr>
          </a:p>
        </p:txBody>
      </p:sp>
      <p:sp>
        <p:nvSpPr>
          <p:cNvPr id="51" name="矩形 50">
            <a:extLst>
              <a:ext uri="{FF2B5EF4-FFF2-40B4-BE49-F238E27FC236}">
                <a16:creationId xmlns:a16="http://schemas.microsoft.com/office/drawing/2014/main" xmlns="" id="{7A818B17-4540-4853-AC49-D3928F29CCC4}"/>
              </a:ext>
            </a:extLst>
          </p:cNvPr>
          <p:cNvSpPr>
            <a:spLocks noGrp="1"/>
          </p:cNvSpPr>
          <p:nvPr/>
        </p:nvSpPr>
        <p:spPr>
          <a:xfrm>
            <a:off x="628762" y="6152569"/>
            <a:ext cx="3771900" cy="228600"/>
          </a:xfrm>
          <a:prstGeom prst="rect">
            <a:avLst/>
          </a:prstGeom>
          <a:noFill/>
          <a:ln w="0">
            <a:noFill/>
          </a:ln>
        </p:spPr>
        <p:txBody>
          <a:bodyPr anchor="ctr">
            <a:noAutofit/>
          </a:bodyPr>
          <a:lstStyle/>
          <a:p>
            <a:pPr algn="ctr">
              <a:defRPr sz="1050">
                <a:solidFill>
                  <a:srgbClr val="72879A"/>
                </a:solidFill>
                <a:latin typeface="Microsoft JhengHei"/>
                <a:ea typeface="Microsoft JhengHei"/>
                <a:cs typeface="Microsoft JhengHei"/>
              </a:defRPr>
            </a:pPr>
            <a:r>
              <a:rPr lang="en-US" sz="1400" dirty="0" smtClean="0">
                <a:solidFill>
                  <a:srgbClr val="72879A"/>
                </a:solidFill>
                <a:latin typeface="Microsoft JhengHei"/>
                <a:ea typeface="Microsoft JhengHei"/>
                <a:cs typeface="Microsoft JhengHei"/>
              </a:rPr>
              <a:t>Total</a:t>
            </a:r>
            <a:r>
              <a:rPr sz="1400" dirty="0" smtClean="0">
                <a:solidFill>
                  <a:srgbClr val="72879A"/>
                </a:solidFill>
                <a:latin typeface="Microsoft JhengHei"/>
                <a:ea typeface="Microsoft JhengHei"/>
                <a:cs typeface="Microsoft JhengHei"/>
              </a:rPr>
              <a:t> </a:t>
            </a:r>
            <a:r>
              <a:rPr lang="en-US" sz="1400" dirty="0" smtClean="0">
                <a:solidFill>
                  <a:srgbClr val="72879A"/>
                </a:solidFill>
                <a:latin typeface="Microsoft JhengHei"/>
                <a:ea typeface="Microsoft JhengHei"/>
                <a:cs typeface="Microsoft JhengHei"/>
              </a:rPr>
              <a:t>: </a:t>
            </a:r>
            <a:r>
              <a:rPr sz="1400" dirty="0" smtClean="0">
                <a:solidFill>
                  <a:srgbClr val="72879A"/>
                </a:solidFill>
                <a:latin typeface="Microsoft JhengHei"/>
                <a:ea typeface="Microsoft JhengHei"/>
                <a:cs typeface="Microsoft JhengHei"/>
              </a:rPr>
              <a:t>57,967</a:t>
            </a:r>
            <a:r>
              <a:rPr lang="en-US" altLang="zh-TW" sz="1400" dirty="0">
                <a:solidFill>
                  <a:srgbClr val="72879A"/>
                </a:solidFill>
                <a:latin typeface="Microsoft JhengHei"/>
                <a:ea typeface="Microsoft JhengHei"/>
                <a:cs typeface="Microsoft JhengHei"/>
              </a:rPr>
              <a:t>M</a:t>
            </a:r>
            <a:endParaRPr sz="1400" dirty="0">
              <a:solidFill>
                <a:srgbClr val="72879A"/>
              </a:solidFill>
              <a:latin typeface="Microsoft JhengHei"/>
              <a:ea typeface="Microsoft JhengHei"/>
              <a:cs typeface="Microsoft JhengHei"/>
            </a:endParaRPr>
          </a:p>
        </p:txBody>
      </p:sp>
      <p:graphicFrame>
        <p:nvGraphicFramePr>
          <p:cNvPr id="52" name="Chart"/>
          <p:cNvGraphicFramePr/>
          <p:nvPr>
            <p:extLst>
              <p:ext uri="{D42A27DB-BD31-4B8C-83A1-F6EECF244321}">
                <p14:modId xmlns:p14="http://schemas.microsoft.com/office/powerpoint/2010/main" val="2143940064"/>
              </p:ext>
            </p:extLst>
          </p:nvPr>
        </p:nvGraphicFramePr>
        <p:xfrm>
          <a:off x="362415" y="2213982"/>
          <a:ext cx="37719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53" name="矩形 52">
            <a:extLst>
              <a:ext uri="{FF2B5EF4-FFF2-40B4-BE49-F238E27FC236}">
                <a16:creationId xmlns:a16="http://schemas.microsoft.com/office/drawing/2014/main" xmlns="" id="{28001857-5C54-4A68-A41A-BBFE02205B63}"/>
              </a:ext>
            </a:extLst>
          </p:cNvPr>
          <p:cNvSpPr>
            <a:spLocks noGrp="1"/>
          </p:cNvSpPr>
          <p:nvPr/>
        </p:nvSpPr>
        <p:spPr>
          <a:xfrm>
            <a:off x="1267290" y="4700007"/>
            <a:ext cx="857250" cy="266700"/>
          </a:xfrm>
          <a:prstGeom prst="rect">
            <a:avLst/>
          </a:prstGeom>
          <a:noFill/>
          <a:ln w="0">
            <a:noFill/>
          </a:ln>
        </p:spPr>
        <p:txBody>
          <a:bodyPr anchor="ctr">
            <a:normAutofit/>
          </a:bodyPr>
          <a:lstStyle/>
          <a:p>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4.83%</a:t>
            </a:r>
          </a:p>
        </p:txBody>
      </p:sp>
      <p:sp>
        <p:nvSpPr>
          <p:cNvPr id="54" name="矩形 53">
            <a:extLst>
              <a:ext uri="{FF2B5EF4-FFF2-40B4-BE49-F238E27FC236}">
                <a16:creationId xmlns:a16="http://schemas.microsoft.com/office/drawing/2014/main" xmlns="" id="{79643867-A0BA-47F6-9289-83915315DE31}"/>
              </a:ext>
            </a:extLst>
          </p:cNvPr>
          <p:cNvSpPr>
            <a:spLocks noGrp="1"/>
          </p:cNvSpPr>
          <p:nvPr/>
        </p:nvSpPr>
        <p:spPr>
          <a:xfrm>
            <a:off x="4343865" y="1661532"/>
            <a:ext cx="3771900" cy="323850"/>
          </a:xfrm>
          <a:prstGeom prst="rect">
            <a:avLst/>
          </a:prstGeom>
          <a:noFill/>
          <a:ln w="0">
            <a:noFill/>
          </a:ln>
        </p:spPr>
        <p:txBody>
          <a:bodyPr anchor="ctr">
            <a:normAutofit fontScale="92222" lnSpcReduction="20000"/>
          </a:bodyPr>
          <a:lstStyle/>
          <a:p>
            <a:pPr algn="ctr">
              <a:defRPr sz="1800" b="1">
                <a:solidFill>
                  <a:srgbClr val="123F73"/>
                </a:solidFill>
                <a:latin typeface="Microsoft JhengHei"/>
                <a:ea typeface="Microsoft JhengHei"/>
                <a:cs typeface="Microsoft JhengHei"/>
              </a:defRPr>
            </a:pPr>
            <a:r>
              <a:rPr lang="en-US" sz="1800" b="1" dirty="0" smtClean="0">
                <a:solidFill>
                  <a:srgbClr val="123F73"/>
                </a:solidFill>
                <a:latin typeface="Microsoft JhengHei"/>
                <a:ea typeface="Microsoft JhengHei"/>
                <a:cs typeface="Microsoft JhengHei"/>
              </a:rPr>
              <a:t>2025</a:t>
            </a:r>
            <a:r>
              <a:rPr sz="1800" b="1" dirty="0" smtClean="0">
                <a:solidFill>
                  <a:srgbClr val="123F73"/>
                </a:solidFill>
                <a:latin typeface="Microsoft JhengHei"/>
                <a:ea typeface="Microsoft JhengHei"/>
                <a:cs typeface="Microsoft JhengHei"/>
              </a:rPr>
              <a:t>.12.31</a:t>
            </a:r>
            <a:endParaRPr sz="1800" b="1" dirty="0">
              <a:solidFill>
                <a:srgbClr val="123F73"/>
              </a:solidFill>
              <a:latin typeface="Microsoft JhengHei"/>
              <a:ea typeface="Microsoft JhengHei"/>
              <a:cs typeface="Microsoft JhengHei"/>
            </a:endParaRPr>
          </a:p>
        </p:txBody>
      </p:sp>
      <p:sp>
        <p:nvSpPr>
          <p:cNvPr id="55" name="矩形 54">
            <a:extLst>
              <a:ext uri="{FF2B5EF4-FFF2-40B4-BE49-F238E27FC236}">
                <a16:creationId xmlns:a16="http://schemas.microsoft.com/office/drawing/2014/main" xmlns="" id="{8AEF9E11-B72C-443E-AC1C-C1875D599477}"/>
              </a:ext>
            </a:extLst>
          </p:cNvPr>
          <p:cNvSpPr>
            <a:spLocks noGrp="1"/>
          </p:cNvSpPr>
          <p:nvPr/>
        </p:nvSpPr>
        <p:spPr>
          <a:xfrm>
            <a:off x="4534132" y="6186836"/>
            <a:ext cx="3771900" cy="228600"/>
          </a:xfrm>
          <a:prstGeom prst="rect">
            <a:avLst/>
          </a:prstGeom>
          <a:noFill/>
          <a:ln w="0">
            <a:noFill/>
          </a:ln>
        </p:spPr>
        <p:txBody>
          <a:bodyPr anchor="ctr">
            <a:noAutofit/>
          </a:bodyPr>
          <a:lstStyle/>
          <a:p>
            <a:pPr algn="ctr">
              <a:defRPr sz="1050">
                <a:solidFill>
                  <a:srgbClr val="72879A"/>
                </a:solidFill>
                <a:latin typeface="Microsoft JhengHei"/>
                <a:ea typeface="Microsoft JhengHei"/>
                <a:cs typeface="Microsoft JhengHei"/>
              </a:defRPr>
            </a:pPr>
            <a:r>
              <a:rPr lang="en-US" altLang="zh-TW" sz="1400" dirty="0">
                <a:solidFill>
                  <a:srgbClr val="72879A"/>
                </a:solidFill>
                <a:latin typeface="Microsoft JhengHei"/>
                <a:ea typeface="Microsoft JhengHei"/>
                <a:cs typeface="Microsoft JhengHei"/>
              </a:rPr>
              <a:t>Total :</a:t>
            </a:r>
            <a:r>
              <a:rPr sz="1400" dirty="0" smtClean="0">
                <a:solidFill>
                  <a:srgbClr val="72879A"/>
                </a:solidFill>
                <a:latin typeface="Microsoft JhengHei"/>
                <a:ea typeface="Microsoft JhengHei"/>
                <a:cs typeface="Microsoft JhengHei"/>
              </a:rPr>
              <a:t> </a:t>
            </a:r>
            <a:r>
              <a:rPr sz="1400" dirty="0">
                <a:solidFill>
                  <a:srgbClr val="72879A"/>
                </a:solidFill>
                <a:latin typeface="Microsoft JhengHei"/>
                <a:ea typeface="Microsoft JhengHei"/>
                <a:cs typeface="Microsoft JhengHei"/>
              </a:rPr>
              <a:t>45,549</a:t>
            </a:r>
            <a:r>
              <a:rPr lang="en-US" sz="1400" dirty="0">
                <a:solidFill>
                  <a:srgbClr val="72879A"/>
                </a:solidFill>
                <a:latin typeface="Microsoft JhengHei"/>
                <a:ea typeface="Microsoft JhengHei"/>
                <a:cs typeface="Microsoft JhengHei"/>
              </a:rPr>
              <a:t>M</a:t>
            </a:r>
            <a:endParaRPr sz="1400" dirty="0">
              <a:solidFill>
                <a:srgbClr val="72879A"/>
              </a:solidFill>
              <a:latin typeface="Microsoft JhengHei"/>
              <a:ea typeface="Microsoft JhengHei"/>
              <a:cs typeface="Microsoft JhengHei"/>
            </a:endParaRPr>
          </a:p>
        </p:txBody>
      </p:sp>
      <p:graphicFrame>
        <p:nvGraphicFramePr>
          <p:cNvPr id="56" name="Chart"/>
          <p:cNvGraphicFramePr/>
          <p:nvPr>
            <p:extLst>
              <p:ext uri="{D42A27DB-BD31-4B8C-83A1-F6EECF244321}">
                <p14:modId xmlns:p14="http://schemas.microsoft.com/office/powerpoint/2010/main" val="3333650697"/>
              </p:ext>
            </p:extLst>
          </p:nvPr>
        </p:nvGraphicFramePr>
        <p:xfrm>
          <a:off x="4343865" y="2213982"/>
          <a:ext cx="3771900" cy="3771900"/>
        </p:xfrm>
        <a:graphic>
          <a:graphicData uri="http://schemas.openxmlformats.org/drawingml/2006/chart">
            <c:chart xmlns:c="http://schemas.openxmlformats.org/drawingml/2006/chart" xmlns:r="http://schemas.openxmlformats.org/officeDocument/2006/relationships" r:id="rId4"/>
          </a:graphicData>
        </a:graphic>
      </p:graphicFrame>
      <p:sp>
        <p:nvSpPr>
          <p:cNvPr id="57" name="矩形 56">
            <a:extLst>
              <a:ext uri="{FF2B5EF4-FFF2-40B4-BE49-F238E27FC236}">
                <a16:creationId xmlns:a16="http://schemas.microsoft.com/office/drawing/2014/main" xmlns="" id="{50E5870D-68CB-4FAB-8ED2-1C39781BC5AF}"/>
              </a:ext>
            </a:extLst>
          </p:cNvPr>
          <p:cNvSpPr>
            <a:spLocks noGrp="1"/>
          </p:cNvSpPr>
          <p:nvPr/>
        </p:nvSpPr>
        <p:spPr>
          <a:xfrm>
            <a:off x="5248740" y="4700007"/>
            <a:ext cx="857250" cy="266700"/>
          </a:xfrm>
          <a:prstGeom prst="rect">
            <a:avLst/>
          </a:prstGeom>
          <a:noFill/>
          <a:ln w="0">
            <a:noFill/>
          </a:ln>
        </p:spPr>
        <p:txBody>
          <a:bodyPr anchor="ctr">
            <a:normAutofit/>
          </a:bodyPr>
          <a:lstStyle/>
          <a:p>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3.96%</a:t>
            </a:r>
          </a:p>
        </p:txBody>
      </p:sp>
      <p:sp>
        <p:nvSpPr>
          <p:cNvPr id="58" name="矩形 57">
            <a:extLst>
              <a:ext uri="{FF2B5EF4-FFF2-40B4-BE49-F238E27FC236}">
                <a16:creationId xmlns:a16="http://schemas.microsoft.com/office/drawing/2014/main" xmlns="" id="{D1F8751A-0021-4DC2-8705-27A8C9079BD5}"/>
              </a:ext>
            </a:extLst>
          </p:cNvPr>
          <p:cNvSpPr>
            <a:spLocks noGrp="1"/>
          </p:cNvSpPr>
          <p:nvPr/>
        </p:nvSpPr>
        <p:spPr>
          <a:xfrm>
            <a:off x="8207762" y="687013"/>
            <a:ext cx="3667125" cy="323850"/>
          </a:xfrm>
          <a:prstGeom prst="rect">
            <a:avLst/>
          </a:prstGeom>
          <a:noFill/>
          <a:ln w="0">
            <a:noFill/>
          </a:ln>
        </p:spPr>
        <p:txBody>
          <a:bodyPr anchor="ctr">
            <a:normAutofit/>
          </a:bodyPr>
          <a:lstStyle/>
          <a:p>
            <a:pPr algn="r">
              <a:defRPr sz="1425" b="1">
                <a:solidFill>
                  <a:srgbClr val="5E7488"/>
                </a:solidFill>
                <a:latin typeface="Microsoft JhengHei"/>
                <a:ea typeface="Microsoft JhengHei"/>
                <a:cs typeface="Microsoft JhengHei"/>
              </a:defRPr>
            </a:pPr>
            <a:r>
              <a:rPr lang="en-US" sz="1425" b="1" dirty="0" smtClean="0">
                <a:solidFill>
                  <a:srgbClr val="5E7488"/>
                </a:solidFill>
                <a:latin typeface="Microsoft JhengHei"/>
                <a:ea typeface="Microsoft JhengHei"/>
                <a:cs typeface="Microsoft JhengHei"/>
              </a:rPr>
              <a:t>2026</a:t>
            </a:r>
            <a:r>
              <a:rPr sz="1425" b="1" dirty="0" smtClean="0">
                <a:solidFill>
                  <a:srgbClr val="5E7488"/>
                </a:solidFill>
                <a:latin typeface="Microsoft JhengHei"/>
                <a:ea typeface="Microsoft JhengHei"/>
                <a:cs typeface="Microsoft JhengHei"/>
              </a:rPr>
              <a:t>.06.30 </a:t>
            </a:r>
            <a:r>
              <a:rPr sz="1425" b="1" dirty="0">
                <a:solidFill>
                  <a:srgbClr val="5E7488"/>
                </a:solidFill>
                <a:latin typeface="Microsoft JhengHei"/>
                <a:ea typeface="Microsoft JhengHei"/>
                <a:cs typeface="Microsoft JhengHei"/>
              </a:rPr>
              <a:t>vs </a:t>
            </a:r>
            <a:r>
              <a:rPr lang="en-US" sz="1425" b="1" dirty="0" smtClean="0">
                <a:solidFill>
                  <a:srgbClr val="5E7488"/>
                </a:solidFill>
                <a:latin typeface="Microsoft JhengHei"/>
                <a:ea typeface="Microsoft JhengHei"/>
                <a:cs typeface="Microsoft JhengHei"/>
              </a:rPr>
              <a:t>2025</a:t>
            </a:r>
            <a:r>
              <a:rPr sz="1425" b="1" dirty="0" smtClean="0">
                <a:solidFill>
                  <a:srgbClr val="5E7488"/>
                </a:solidFill>
                <a:latin typeface="Microsoft JhengHei"/>
                <a:ea typeface="Microsoft JhengHei"/>
                <a:cs typeface="Microsoft JhengHei"/>
              </a:rPr>
              <a:t>.12.31</a:t>
            </a:r>
            <a:endParaRPr sz="1425" b="1" dirty="0">
              <a:solidFill>
                <a:srgbClr val="5E7488"/>
              </a:solidFill>
              <a:latin typeface="Microsoft JhengHei"/>
              <a:ea typeface="Microsoft JhengHei"/>
              <a:cs typeface="Microsoft JhengHei"/>
            </a:endParaRPr>
          </a:p>
        </p:txBody>
      </p:sp>
      <p:sp>
        <p:nvSpPr>
          <p:cNvPr id="60" name="矩形 59">
            <a:extLst>
              <a:ext uri="{FF2B5EF4-FFF2-40B4-BE49-F238E27FC236}">
                <a16:creationId xmlns:a16="http://schemas.microsoft.com/office/drawing/2014/main" xmlns="" id="{C3EE0F5F-0C95-41E7-AF8F-23A85623F2FA}"/>
              </a:ext>
            </a:extLst>
          </p:cNvPr>
          <p:cNvSpPr>
            <a:spLocks noGrp="1"/>
          </p:cNvSpPr>
          <p:nvPr/>
        </p:nvSpPr>
        <p:spPr>
          <a:xfrm>
            <a:off x="8496300" y="962025"/>
            <a:ext cx="19050" cy="5219700"/>
          </a:xfrm>
          <a:prstGeom prst="rect">
            <a:avLst/>
          </a:prstGeom>
          <a:solidFill>
            <a:srgbClr val="D5DFE8"/>
          </a:solidFill>
          <a:ln w="0">
            <a:solidFill>
              <a:srgbClr val="D5DFE8"/>
            </a:solidFill>
          </a:ln>
        </p:spPr>
      </p:sp>
      <p:sp>
        <p:nvSpPr>
          <p:cNvPr id="61" name="矩形 60">
            <a:extLst>
              <a:ext uri="{FF2B5EF4-FFF2-40B4-BE49-F238E27FC236}">
                <a16:creationId xmlns:a16="http://schemas.microsoft.com/office/drawing/2014/main" xmlns="" id="{12DEDBD5-2C69-4A08-A055-5747C5AEDDB2}"/>
              </a:ext>
            </a:extLst>
          </p:cNvPr>
          <p:cNvSpPr>
            <a:spLocks noGrp="1"/>
          </p:cNvSpPr>
          <p:nvPr/>
        </p:nvSpPr>
        <p:spPr>
          <a:xfrm>
            <a:off x="8686800" y="1009650"/>
            <a:ext cx="3076575" cy="666750"/>
          </a:xfrm>
          <a:prstGeom prst="rect">
            <a:avLst/>
          </a:prstGeom>
          <a:solidFill>
            <a:srgbClr val="0878BD"/>
          </a:solidFill>
          <a:ln w="9525">
            <a:solidFill>
              <a:srgbClr val="0668A6"/>
            </a:solidFill>
          </a:ln>
        </p:spPr>
      </p:sp>
      <p:sp>
        <p:nvSpPr>
          <p:cNvPr id="62" name="矩形 61">
            <a:extLst>
              <a:ext uri="{FF2B5EF4-FFF2-40B4-BE49-F238E27FC236}">
                <a16:creationId xmlns:a16="http://schemas.microsoft.com/office/drawing/2014/main" xmlns="" id="{250AC057-DFE8-47A6-8DCC-F43C4E2B3BD8}"/>
              </a:ext>
            </a:extLst>
          </p:cNvPr>
          <p:cNvSpPr>
            <a:spLocks noGrp="1"/>
          </p:cNvSpPr>
          <p:nvPr/>
        </p:nvSpPr>
        <p:spPr>
          <a:xfrm>
            <a:off x="10429875" y="1009650"/>
            <a:ext cx="9525" cy="666750"/>
          </a:xfrm>
          <a:prstGeom prst="rect">
            <a:avLst/>
          </a:prstGeom>
          <a:solidFill>
            <a:srgbClr val="0668A6"/>
          </a:solidFill>
          <a:ln w="0">
            <a:solidFill>
              <a:srgbClr val="0668A6"/>
            </a:solidFill>
          </a:ln>
        </p:spPr>
      </p:sp>
      <p:sp>
        <p:nvSpPr>
          <p:cNvPr id="63" name="矩形 62">
            <a:extLst>
              <a:ext uri="{FF2B5EF4-FFF2-40B4-BE49-F238E27FC236}">
                <a16:creationId xmlns:a16="http://schemas.microsoft.com/office/drawing/2014/main" xmlns="" id="{82D72F75-C96C-4FAA-856B-6058F071EDE8}"/>
              </a:ext>
            </a:extLst>
          </p:cNvPr>
          <p:cNvSpPr>
            <a:spLocks noGrp="1"/>
          </p:cNvSpPr>
          <p:nvPr/>
        </p:nvSpPr>
        <p:spPr>
          <a:xfrm>
            <a:off x="8763000" y="1009650"/>
            <a:ext cx="1600200" cy="666750"/>
          </a:xfrm>
          <a:prstGeom prst="rect">
            <a:avLst/>
          </a:prstGeom>
          <a:noFill/>
          <a:ln w="0">
            <a:noFill/>
          </a:ln>
        </p:spPr>
        <p:txBody>
          <a:bodyPr anchor="ctr">
            <a:normAutofit/>
          </a:bodyPr>
          <a:lstStyle/>
          <a:p>
            <a:pPr algn="ctr">
              <a:defRPr sz="1350" b="1">
                <a:solidFill>
                  <a:srgbClr val="FFFFFF"/>
                </a:solidFill>
                <a:latin typeface="Microsoft JhengHei"/>
                <a:ea typeface="Microsoft JhengHei"/>
                <a:cs typeface="Microsoft JhengHei"/>
              </a:defRPr>
            </a:pPr>
            <a:r>
              <a:rPr lang="en-US" altLang="zh-TW" sz="1350" b="1" dirty="0">
                <a:solidFill>
                  <a:srgbClr val="FFFFFF"/>
                </a:solidFill>
                <a:latin typeface="Microsoft JhengHei"/>
                <a:ea typeface="Microsoft JhengHei"/>
                <a:cs typeface="Microsoft JhengHei"/>
              </a:rPr>
              <a:t>Investment Targets</a:t>
            </a:r>
            <a:endParaRPr sz="1350" b="1" dirty="0">
              <a:solidFill>
                <a:srgbClr val="FFFFFF"/>
              </a:solidFill>
              <a:latin typeface="Microsoft JhengHei"/>
              <a:ea typeface="Microsoft JhengHei"/>
              <a:cs typeface="Microsoft JhengHei"/>
            </a:endParaRPr>
          </a:p>
        </p:txBody>
      </p:sp>
      <p:sp>
        <p:nvSpPr>
          <p:cNvPr id="64" name="矩形 63">
            <a:extLst>
              <a:ext uri="{FF2B5EF4-FFF2-40B4-BE49-F238E27FC236}">
                <a16:creationId xmlns:a16="http://schemas.microsoft.com/office/drawing/2014/main" xmlns="" id="{22BA7A2B-4D96-4725-9262-44D67124621E}"/>
              </a:ext>
            </a:extLst>
          </p:cNvPr>
          <p:cNvSpPr>
            <a:spLocks noGrp="1"/>
          </p:cNvSpPr>
          <p:nvPr/>
        </p:nvSpPr>
        <p:spPr>
          <a:xfrm>
            <a:off x="10458450" y="1009650"/>
            <a:ext cx="1257300" cy="666750"/>
          </a:xfrm>
          <a:prstGeom prst="rect">
            <a:avLst/>
          </a:prstGeom>
          <a:noFill/>
          <a:ln w="0">
            <a:noFill/>
          </a:ln>
        </p:spPr>
        <p:txBody>
          <a:bodyPr anchor="ctr">
            <a:normAutofit/>
          </a:bodyPr>
          <a:lstStyle/>
          <a:p>
            <a:pPr algn="ctr">
              <a:defRPr sz="1200" b="1">
                <a:solidFill>
                  <a:srgbClr val="FFFFFF"/>
                </a:solidFill>
                <a:latin typeface="Microsoft JhengHei"/>
                <a:ea typeface="Microsoft JhengHei"/>
                <a:cs typeface="Microsoft JhengHei"/>
              </a:defRPr>
            </a:pPr>
            <a:r>
              <a:rPr lang="en-US" altLang="zh-TW" sz="1200" b="1" dirty="0"/>
              <a:t>Amount Increase (Change %) </a:t>
            </a:r>
            <a:r>
              <a:rPr sz="1200" b="1" dirty="0" smtClean="0">
                <a:solidFill>
                  <a:srgbClr val="FFFFFF"/>
                </a:solidFill>
                <a:latin typeface="Microsoft JhengHei"/>
                <a:ea typeface="Microsoft JhengHei"/>
                <a:cs typeface="Microsoft JhengHei"/>
              </a:rPr>
              <a:t>）</a:t>
            </a:r>
            <a:endParaRPr sz="1200" b="1" dirty="0">
              <a:solidFill>
                <a:srgbClr val="FFFFFF"/>
              </a:solidFill>
              <a:latin typeface="Microsoft JhengHei"/>
              <a:ea typeface="Microsoft JhengHei"/>
              <a:cs typeface="Microsoft JhengHei"/>
            </a:endParaRPr>
          </a:p>
        </p:txBody>
      </p:sp>
      <p:sp>
        <p:nvSpPr>
          <p:cNvPr id="65" name="矩形 64">
            <a:extLst>
              <a:ext uri="{FF2B5EF4-FFF2-40B4-BE49-F238E27FC236}">
                <a16:creationId xmlns:a16="http://schemas.microsoft.com/office/drawing/2014/main" xmlns="" id="{79D20769-60C4-4254-8FC3-8C473463A470}"/>
              </a:ext>
            </a:extLst>
          </p:cNvPr>
          <p:cNvSpPr>
            <a:spLocks noGrp="1"/>
          </p:cNvSpPr>
          <p:nvPr/>
        </p:nvSpPr>
        <p:spPr>
          <a:xfrm>
            <a:off x="8686800" y="1676400"/>
            <a:ext cx="3076575" cy="1066800"/>
          </a:xfrm>
          <a:prstGeom prst="rect">
            <a:avLst/>
          </a:prstGeom>
          <a:solidFill>
            <a:srgbClr val="FFFFFF"/>
          </a:solidFill>
          <a:ln w="9525">
            <a:solidFill>
              <a:srgbClr val="D5DFE8"/>
            </a:solidFill>
          </a:ln>
        </p:spPr>
      </p:sp>
      <p:sp>
        <p:nvSpPr>
          <p:cNvPr id="66" name="橢圓 65">
            <a:extLst>
              <a:ext uri="{FF2B5EF4-FFF2-40B4-BE49-F238E27FC236}">
                <a16:creationId xmlns:a16="http://schemas.microsoft.com/office/drawing/2014/main" xmlns="" id="{A12F2CA1-A4A8-48FF-A00D-D68B75DEAEBB}"/>
              </a:ext>
            </a:extLst>
          </p:cNvPr>
          <p:cNvSpPr>
            <a:spLocks noGrp="1"/>
          </p:cNvSpPr>
          <p:nvPr/>
        </p:nvSpPr>
        <p:spPr>
          <a:xfrm>
            <a:off x="8801100" y="2028825"/>
            <a:ext cx="342900" cy="342900"/>
          </a:xfrm>
          <a:prstGeom prst="ellipse">
            <a:avLst/>
          </a:prstGeom>
          <a:solidFill>
            <a:srgbClr val="154A8A"/>
          </a:solidFill>
          <a:ln w="0">
            <a:solidFill>
              <a:srgbClr val="154A8A"/>
            </a:solidFill>
          </a:ln>
        </p:spPr>
      </p:sp>
      <p:sp>
        <p:nvSpPr>
          <p:cNvPr id="67" name="矩形 66">
            <a:extLst>
              <a:ext uri="{FF2B5EF4-FFF2-40B4-BE49-F238E27FC236}">
                <a16:creationId xmlns:a16="http://schemas.microsoft.com/office/drawing/2014/main" xmlns="" id="{CD910B20-D246-4A8C-BED5-17276026BBE5}"/>
              </a:ext>
            </a:extLst>
          </p:cNvPr>
          <p:cNvSpPr>
            <a:spLocks noGrp="1"/>
          </p:cNvSpPr>
          <p:nvPr/>
        </p:nvSpPr>
        <p:spPr>
          <a:xfrm>
            <a:off x="8801100" y="2028825"/>
            <a:ext cx="342900" cy="342900"/>
          </a:xfrm>
          <a:prstGeom prst="rect">
            <a:avLst/>
          </a:prstGeom>
          <a:noFill/>
          <a:ln w="0">
            <a:noFill/>
          </a:ln>
        </p:spPr>
        <p:txBody>
          <a:bodyPr anchor="ctr">
            <a:normAutofit/>
          </a:bodyPr>
          <a:lstStyle/>
          <a:p>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01</a:t>
            </a:r>
          </a:p>
        </p:txBody>
      </p:sp>
      <p:sp>
        <p:nvSpPr>
          <p:cNvPr id="68" name="矩形 67">
            <a:extLst>
              <a:ext uri="{FF2B5EF4-FFF2-40B4-BE49-F238E27FC236}">
                <a16:creationId xmlns:a16="http://schemas.microsoft.com/office/drawing/2014/main" xmlns="" id="{8A765BE0-55CA-4F8A-9D76-B748AAD06865}"/>
              </a:ext>
            </a:extLst>
          </p:cNvPr>
          <p:cNvSpPr>
            <a:spLocks noGrp="1"/>
          </p:cNvSpPr>
          <p:nvPr/>
        </p:nvSpPr>
        <p:spPr>
          <a:xfrm>
            <a:off x="9220200" y="1828800"/>
            <a:ext cx="1123950" cy="762000"/>
          </a:xfrm>
          <a:prstGeom prst="rect">
            <a:avLst/>
          </a:prstGeom>
          <a:noFill/>
          <a:ln w="0">
            <a:noFill/>
          </a:ln>
        </p:spPr>
        <p:txBody>
          <a:bodyPr anchor="ctr">
            <a:normAutofit/>
          </a:bodyPr>
          <a:lstStyle/>
          <a:p>
            <a:pPr>
              <a:defRPr sz="1050" b="1">
                <a:solidFill>
                  <a:srgbClr val="16344D"/>
                </a:solidFill>
                <a:latin typeface="Microsoft JhengHei"/>
                <a:ea typeface="Microsoft JhengHei"/>
                <a:cs typeface="Microsoft JhengHei"/>
              </a:defRPr>
            </a:pPr>
            <a:r>
              <a:rPr lang="en-US" altLang="zh-TW" sz="1050" b="1" dirty="0"/>
              <a:t>MiTAC Holdings Corporation</a:t>
            </a:r>
            <a:endParaRPr sz="1400" b="1" dirty="0">
              <a:solidFill>
                <a:srgbClr val="16344D"/>
              </a:solidFill>
              <a:latin typeface="Microsoft JhengHei"/>
              <a:ea typeface="Microsoft JhengHei"/>
              <a:cs typeface="Microsoft JhengHei"/>
            </a:endParaRPr>
          </a:p>
        </p:txBody>
      </p:sp>
      <p:sp>
        <p:nvSpPr>
          <p:cNvPr id="69" name="矩形 68">
            <a:extLst>
              <a:ext uri="{FF2B5EF4-FFF2-40B4-BE49-F238E27FC236}">
                <a16:creationId xmlns:a16="http://schemas.microsoft.com/office/drawing/2014/main" xmlns="" id="{15F886A8-C948-4CD1-841E-4A296E78C7E4}"/>
              </a:ext>
            </a:extLst>
          </p:cNvPr>
          <p:cNvSpPr>
            <a:spLocks noGrp="1"/>
          </p:cNvSpPr>
          <p:nvPr/>
        </p:nvSpPr>
        <p:spPr>
          <a:xfrm>
            <a:off x="10458450" y="2019300"/>
            <a:ext cx="209550" cy="342900"/>
          </a:xfrm>
          <a:prstGeom prst="rect">
            <a:avLst/>
          </a:prstGeom>
          <a:noFill/>
          <a:ln w="0">
            <a:noFill/>
          </a:ln>
        </p:spPr>
        <p:txBody>
          <a:bodyPr anchor="ctr">
            <a:normAutofit/>
          </a:bodyPr>
          <a:lstStyle/>
          <a:p>
            <a:pPr algn="ctr">
              <a:defRPr sz="1350" b="1">
                <a:solidFill>
                  <a:srgbClr val="D61F2C"/>
                </a:solidFill>
                <a:latin typeface="Microsoft JhengHei"/>
                <a:ea typeface="Microsoft JhengHei"/>
                <a:cs typeface="Microsoft JhengHei"/>
              </a:defRPr>
            </a:pPr>
            <a:r>
              <a:rPr sz="1400" b="1">
                <a:solidFill>
                  <a:srgbClr val="D61F2C"/>
                </a:solidFill>
                <a:latin typeface="Microsoft JhengHei"/>
                <a:ea typeface="Microsoft JhengHei"/>
                <a:cs typeface="Microsoft JhengHei"/>
              </a:rPr>
              <a:t>▲</a:t>
            </a:r>
          </a:p>
        </p:txBody>
      </p:sp>
      <p:sp>
        <p:nvSpPr>
          <p:cNvPr id="70" name="矩形 69">
            <a:extLst>
              <a:ext uri="{FF2B5EF4-FFF2-40B4-BE49-F238E27FC236}">
                <a16:creationId xmlns:a16="http://schemas.microsoft.com/office/drawing/2014/main" xmlns="" id="{5E7A48E5-E139-4733-9C27-8A5D6B0F03C3}"/>
              </a:ext>
            </a:extLst>
          </p:cNvPr>
          <p:cNvSpPr>
            <a:spLocks noGrp="1"/>
          </p:cNvSpPr>
          <p:nvPr/>
        </p:nvSpPr>
        <p:spPr>
          <a:xfrm>
            <a:off x="10668000" y="1847850"/>
            <a:ext cx="1028700" cy="723900"/>
          </a:xfrm>
          <a:prstGeom prst="rect">
            <a:avLst/>
          </a:prstGeom>
          <a:noFill/>
          <a:ln w="0">
            <a:noFill/>
          </a:ln>
        </p:spPr>
        <p:txBody>
          <a:bodyPr anchor="ctr">
            <a:normAutofit/>
          </a:bodyPr>
          <a:lstStyle/>
          <a:p>
            <a:pPr algn="ctr">
              <a:defRPr sz="1200" b="1">
                <a:solidFill>
                  <a:srgbClr val="1B344A"/>
                </a:solidFill>
                <a:latin typeface="Microsoft JhengHei"/>
                <a:ea typeface="Microsoft JhengHei"/>
                <a:cs typeface="Microsoft JhengHei"/>
              </a:defRPr>
            </a:pPr>
            <a:r>
              <a:rPr sz="1400" b="1">
                <a:solidFill>
                  <a:srgbClr val="1B344A"/>
                </a:solidFill>
                <a:latin typeface="Microsoft JhengHei"/>
                <a:ea typeface="Microsoft JhengHei"/>
                <a:cs typeface="Microsoft JhengHei"/>
              </a:rPr>
              <a:t>238</a:t>
            </a:r>
          </a:p>
          <a:p>
            <a:pPr algn="ctr">
              <a:defRPr sz="1200" b="1">
                <a:solidFill>
                  <a:srgbClr val="1B344A"/>
                </a:solidFill>
                <a:latin typeface="Microsoft JhengHei"/>
                <a:ea typeface="Microsoft JhengHei"/>
                <a:cs typeface="Microsoft JhengHei"/>
              </a:defRPr>
            </a:pPr>
            <a:r>
              <a:rPr sz="1400" b="1">
                <a:solidFill>
                  <a:srgbClr val="1B344A"/>
                </a:solidFill>
                <a:latin typeface="Microsoft JhengHei"/>
                <a:ea typeface="Microsoft JhengHei"/>
                <a:cs typeface="Microsoft JhengHei"/>
              </a:rPr>
              <a:t>(+1.21%)</a:t>
            </a:r>
          </a:p>
        </p:txBody>
      </p:sp>
      <p:sp>
        <p:nvSpPr>
          <p:cNvPr id="71" name="矩形 70">
            <a:extLst>
              <a:ext uri="{FF2B5EF4-FFF2-40B4-BE49-F238E27FC236}">
                <a16:creationId xmlns:a16="http://schemas.microsoft.com/office/drawing/2014/main" xmlns="" id="{F14E1873-9372-479F-8DAA-289BCEA5D269}"/>
              </a:ext>
            </a:extLst>
          </p:cNvPr>
          <p:cNvSpPr>
            <a:spLocks noGrp="1"/>
          </p:cNvSpPr>
          <p:nvPr/>
        </p:nvSpPr>
        <p:spPr>
          <a:xfrm>
            <a:off x="8686800" y="2743200"/>
            <a:ext cx="3076575" cy="1066800"/>
          </a:xfrm>
          <a:prstGeom prst="rect">
            <a:avLst/>
          </a:prstGeom>
          <a:solidFill>
            <a:srgbClr val="F1F5F8"/>
          </a:solidFill>
          <a:ln w="9525">
            <a:solidFill>
              <a:srgbClr val="D5DFE8"/>
            </a:solidFill>
          </a:ln>
        </p:spPr>
      </p:sp>
      <p:sp>
        <p:nvSpPr>
          <p:cNvPr id="72" name="橢圓 71">
            <a:extLst>
              <a:ext uri="{FF2B5EF4-FFF2-40B4-BE49-F238E27FC236}">
                <a16:creationId xmlns:a16="http://schemas.microsoft.com/office/drawing/2014/main" xmlns="" id="{91358C49-E3F0-446B-A6D5-A23C3121C59F}"/>
              </a:ext>
            </a:extLst>
          </p:cNvPr>
          <p:cNvSpPr>
            <a:spLocks noGrp="1"/>
          </p:cNvSpPr>
          <p:nvPr/>
        </p:nvSpPr>
        <p:spPr>
          <a:xfrm>
            <a:off x="8801100" y="3095625"/>
            <a:ext cx="342900" cy="342900"/>
          </a:xfrm>
          <a:prstGeom prst="ellipse">
            <a:avLst/>
          </a:prstGeom>
          <a:solidFill>
            <a:srgbClr val="F28E2B"/>
          </a:solidFill>
          <a:ln w="0">
            <a:solidFill>
              <a:srgbClr val="F28E2B"/>
            </a:solidFill>
          </a:ln>
        </p:spPr>
      </p:sp>
      <p:sp>
        <p:nvSpPr>
          <p:cNvPr id="73" name="矩形 72">
            <a:extLst>
              <a:ext uri="{FF2B5EF4-FFF2-40B4-BE49-F238E27FC236}">
                <a16:creationId xmlns:a16="http://schemas.microsoft.com/office/drawing/2014/main" xmlns="" id="{BF92CB88-10EA-4625-B983-F9696E7EB55C}"/>
              </a:ext>
            </a:extLst>
          </p:cNvPr>
          <p:cNvSpPr>
            <a:spLocks noGrp="1"/>
          </p:cNvSpPr>
          <p:nvPr/>
        </p:nvSpPr>
        <p:spPr>
          <a:xfrm>
            <a:off x="8801100" y="3095625"/>
            <a:ext cx="342900" cy="342900"/>
          </a:xfrm>
          <a:prstGeom prst="rect">
            <a:avLst/>
          </a:prstGeom>
          <a:noFill/>
          <a:ln w="0">
            <a:noFill/>
          </a:ln>
        </p:spPr>
        <p:txBody>
          <a:bodyPr anchor="ctr">
            <a:normAutofit/>
          </a:bodyPr>
          <a:lstStyle/>
          <a:p>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02</a:t>
            </a:r>
          </a:p>
        </p:txBody>
      </p:sp>
      <p:sp>
        <p:nvSpPr>
          <p:cNvPr id="74" name="矩形 73">
            <a:extLst>
              <a:ext uri="{FF2B5EF4-FFF2-40B4-BE49-F238E27FC236}">
                <a16:creationId xmlns:a16="http://schemas.microsoft.com/office/drawing/2014/main" xmlns="" id="{B59AFF43-4D86-490D-80D4-8AACEA35000A}"/>
              </a:ext>
            </a:extLst>
          </p:cNvPr>
          <p:cNvSpPr>
            <a:spLocks noGrp="1"/>
          </p:cNvSpPr>
          <p:nvPr/>
        </p:nvSpPr>
        <p:spPr>
          <a:xfrm>
            <a:off x="9220200" y="2895600"/>
            <a:ext cx="1123950" cy="762000"/>
          </a:xfrm>
          <a:prstGeom prst="rect">
            <a:avLst/>
          </a:prstGeom>
          <a:noFill/>
          <a:ln w="0">
            <a:noFill/>
          </a:ln>
        </p:spPr>
        <p:txBody>
          <a:bodyPr anchor="ctr">
            <a:normAutofit/>
          </a:bodyPr>
          <a:lstStyle/>
          <a:p>
            <a:pPr>
              <a:defRPr sz="1050" b="1">
                <a:solidFill>
                  <a:srgbClr val="16344D"/>
                </a:solidFill>
                <a:latin typeface="Microsoft JhengHei"/>
                <a:ea typeface="Microsoft JhengHei"/>
                <a:cs typeface="Microsoft JhengHei"/>
              </a:defRPr>
            </a:pPr>
            <a:r>
              <a:rPr lang="en-US" altLang="zh-TW" sz="1050" b="1" dirty="0" err="1"/>
              <a:t>Synnex</a:t>
            </a:r>
            <a:r>
              <a:rPr lang="en-US" altLang="zh-TW" sz="1050" b="1" dirty="0"/>
              <a:t> Technology International Corporation</a:t>
            </a:r>
            <a:endParaRPr sz="1400" b="1" dirty="0">
              <a:solidFill>
                <a:srgbClr val="16344D"/>
              </a:solidFill>
              <a:latin typeface="Microsoft JhengHei"/>
              <a:ea typeface="Microsoft JhengHei"/>
              <a:cs typeface="Microsoft JhengHei"/>
            </a:endParaRPr>
          </a:p>
        </p:txBody>
      </p:sp>
      <p:sp>
        <p:nvSpPr>
          <p:cNvPr id="75" name="矩形 74">
            <a:extLst>
              <a:ext uri="{FF2B5EF4-FFF2-40B4-BE49-F238E27FC236}">
                <a16:creationId xmlns:a16="http://schemas.microsoft.com/office/drawing/2014/main" xmlns="" id="{D45073C9-2762-4FB1-9A3D-7F4C7FFCE8C0}"/>
              </a:ext>
            </a:extLst>
          </p:cNvPr>
          <p:cNvSpPr>
            <a:spLocks noGrp="1"/>
          </p:cNvSpPr>
          <p:nvPr/>
        </p:nvSpPr>
        <p:spPr>
          <a:xfrm>
            <a:off x="10458450" y="3086100"/>
            <a:ext cx="209550" cy="342900"/>
          </a:xfrm>
          <a:prstGeom prst="rect">
            <a:avLst/>
          </a:prstGeom>
          <a:noFill/>
          <a:ln w="0">
            <a:noFill/>
          </a:ln>
        </p:spPr>
        <p:txBody>
          <a:bodyPr anchor="ctr">
            <a:normAutofit/>
          </a:bodyPr>
          <a:lstStyle/>
          <a:p>
            <a:pPr algn="ctr">
              <a:defRPr sz="1350" b="1">
                <a:solidFill>
                  <a:srgbClr val="D61F2C"/>
                </a:solidFill>
                <a:latin typeface="Microsoft JhengHei"/>
                <a:ea typeface="Microsoft JhengHei"/>
                <a:cs typeface="Microsoft JhengHei"/>
              </a:defRPr>
            </a:pPr>
            <a:r>
              <a:rPr sz="1400" b="1">
                <a:solidFill>
                  <a:srgbClr val="D61F2C"/>
                </a:solidFill>
                <a:latin typeface="Microsoft JhengHei"/>
                <a:ea typeface="Microsoft JhengHei"/>
                <a:cs typeface="Microsoft JhengHei"/>
              </a:rPr>
              <a:t>▲</a:t>
            </a:r>
          </a:p>
        </p:txBody>
      </p:sp>
      <p:sp>
        <p:nvSpPr>
          <p:cNvPr id="76" name="矩形 75">
            <a:extLst>
              <a:ext uri="{FF2B5EF4-FFF2-40B4-BE49-F238E27FC236}">
                <a16:creationId xmlns:a16="http://schemas.microsoft.com/office/drawing/2014/main" xmlns="" id="{B33DC77F-F6C5-4B9D-AB2C-028A3BEAEB8C}"/>
              </a:ext>
            </a:extLst>
          </p:cNvPr>
          <p:cNvSpPr>
            <a:spLocks noGrp="1"/>
          </p:cNvSpPr>
          <p:nvPr/>
        </p:nvSpPr>
        <p:spPr>
          <a:xfrm>
            <a:off x="10544872" y="2952750"/>
            <a:ext cx="1181100" cy="723900"/>
          </a:xfrm>
          <a:prstGeom prst="rect">
            <a:avLst/>
          </a:prstGeom>
          <a:noFill/>
          <a:ln w="0">
            <a:noFill/>
          </a:ln>
        </p:spPr>
        <p:txBody>
          <a:bodyPr anchor="ctr">
            <a:normAutofit/>
          </a:bodyPr>
          <a:lstStyle/>
          <a:p>
            <a:pPr algn="ctr">
              <a:defRPr sz="1200" b="1">
                <a:solidFill>
                  <a:srgbClr val="1B344A"/>
                </a:solidFill>
                <a:latin typeface="Microsoft JhengHei"/>
                <a:ea typeface="Microsoft JhengHei"/>
                <a:cs typeface="Microsoft JhengHei"/>
              </a:defRPr>
            </a:pPr>
            <a:r>
              <a:rPr sz="1400" b="1" dirty="0">
                <a:solidFill>
                  <a:srgbClr val="1B344A"/>
                </a:solidFill>
                <a:latin typeface="Microsoft JhengHei"/>
                <a:ea typeface="Microsoft JhengHei"/>
                <a:cs typeface="Microsoft JhengHei"/>
              </a:rPr>
              <a:t>10,641</a:t>
            </a:r>
          </a:p>
          <a:p>
            <a:pPr algn="ctr">
              <a:defRPr sz="1200" b="1">
                <a:solidFill>
                  <a:srgbClr val="1B344A"/>
                </a:solidFill>
                <a:latin typeface="Microsoft JhengHei"/>
                <a:ea typeface="Microsoft JhengHei"/>
                <a:cs typeface="Microsoft JhengHei"/>
              </a:defRPr>
            </a:pPr>
            <a:r>
              <a:rPr sz="1400" b="1" dirty="0">
                <a:solidFill>
                  <a:srgbClr val="1B344A"/>
                </a:solidFill>
                <a:latin typeface="Microsoft JhengHei"/>
                <a:ea typeface="Microsoft JhengHei"/>
                <a:cs typeface="Microsoft JhengHei"/>
              </a:rPr>
              <a:t>(+57.34%)</a:t>
            </a:r>
          </a:p>
        </p:txBody>
      </p:sp>
      <p:sp>
        <p:nvSpPr>
          <p:cNvPr id="77" name="矩形 76">
            <a:extLst>
              <a:ext uri="{FF2B5EF4-FFF2-40B4-BE49-F238E27FC236}">
                <a16:creationId xmlns:a16="http://schemas.microsoft.com/office/drawing/2014/main" xmlns="" id="{3E7CE058-C386-422D-989B-71F928BE675E}"/>
              </a:ext>
            </a:extLst>
          </p:cNvPr>
          <p:cNvSpPr>
            <a:spLocks noGrp="1"/>
          </p:cNvSpPr>
          <p:nvPr/>
        </p:nvSpPr>
        <p:spPr>
          <a:xfrm>
            <a:off x="8686800" y="3810000"/>
            <a:ext cx="3076575" cy="1066800"/>
          </a:xfrm>
          <a:prstGeom prst="rect">
            <a:avLst/>
          </a:prstGeom>
          <a:solidFill>
            <a:srgbClr val="FFFFFF"/>
          </a:solidFill>
          <a:ln w="9525">
            <a:solidFill>
              <a:srgbClr val="D5DFE8"/>
            </a:solidFill>
          </a:ln>
        </p:spPr>
      </p:sp>
      <p:sp>
        <p:nvSpPr>
          <p:cNvPr id="78" name="橢圓 77">
            <a:extLst>
              <a:ext uri="{FF2B5EF4-FFF2-40B4-BE49-F238E27FC236}">
                <a16:creationId xmlns:a16="http://schemas.microsoft.com/office/drawing/2014/main" xmlns="" id="{22CA277B-4002-41B7-9F1B-C19DECCB610D}"/>
              </a:ext>
            </a:extLst>
          </p:cNvPr>
          <p:cNvSpPr>
            <a:spLocks noGrp="1"/>
          </p:cNvSpPr>
          <p:nvPr/>
        </p:nvSpPr>
        <p:spPr>
          <a:xfrm>
            <a:off x="8801100" y="4162425"/>
            <a:ext cx="342900" cy="342900"/>
          </a:xfrm>
          <a:prstGeom prst="ellipse">
            <a:avLst/>
          </a:prstGeom>
          <a:solidFill>
            <a:srgbClr val="2E9D57"/>
          </a:solidFill>
          <a:ln w="0">
            <a:solidFill>
              <a:srgbClr val="2E9D57"/>
            </a:solidFill>
          </a:ln>
        </p:spPr>
      </p:sp>
      <p:sp>
        <p:nvSpPr>
          <p:cNvPr id="79" name="矩形 78">
            <a:extLst>
              <a:ext uri="{FF2B5EF4-FFF2-40B4-BE49-F238E27FC236}">
                <a16:creationId xmlns:a16="http://schemas.microsoft.com/office/drawing/2014/main" xmlns="" id="{36E72772-3517-42A3-BC20-69D81FCF5384}"/>
              </a:ext>
            </a:extLst>
          </p:cNvPr>
          <p:cNvSpPr>
            <a:spLocks noGrp="1"/>
          </p:cNvSpPr>
          <p:nvPr/>
        </p:nvSpPr>
        <p:spPr>
          <a:xfrm>
            <a:off x="8801100" y="4162425"/>
            <a:ext cx="342900" cy="342900"/>
          </a:xfrm>
          <a:prstGeom prst="rect">
            <a:avLst/>
          </a:prstGeom>
          <a:noFill/>
          <a:ln w="0">
            <a:noFill/>
          </a:ln>
        </p:spPr>
        <p:txBody>
          <a:bodyPr anchor="ctr">
            <a:normAutofit/>
          </a:bodyPr>
          <a:lstStyle/>
          <a:p>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03</a:t>
            </a:r>
          </a:p>
        </p:txBody>
      </p:sp>
      <p:sp>
        <p:nvSpPr>
          <p:cNvPr id="80" name="矩形 79">
            <a:extLst>
              <a:ext uri="{FF2B5EF4-FFF2-40B4-BE49-F238E27FC236}">
                <a16:creationId xmlns:a16="http://schemas.microsoft.com/office/drawing/2014/main" xmlns="" id="{F964C01D-48CC-4400-BD87-31E66A39E933}"/>
              </a:ext>
            </a:extLst>
          </p:cNvPr>
          <p:cNvSpPr>
            <a:spLocks noGrp="1"/>
          </p:cNvSpPr>
          <p:nvPr/>
        </p:nvSpPr>
        <p:spPr>
          <a:xfrm>
            <a:off x="9220200" y="3962400"/>
            <a:ext cx="1123950" cy="762000"/>
          </a:xfrm>
          <a:prstGeom prst="rect">
            <a:avLst/>
          </a:prstGeom>
          <a:noFill/>
          <a:ln w="0">
            <a:noFill/>
          </a:ln>
        </p:spPr>
        <p:txBody>
          <a:bodyPr anchor="ctr">
            <a:normAutofit/>
          </a:bodyPr>
          <a:lstStyle/>
          <a:p>
            <a:pPr>
              <a:defRPr sz="1050" b="1">
                <a:solidFill>
                  <a:srgbClr val="16344D"/>
                </a:solidFill>
                <a:latin typeface="Microsoft JhengHei"/>
                <a:ea typeface="Microsoft JhengHei"/>
                <a:cs typeface="Microsoft JhengHei"/>
              </a:defRPr>
            </a:pPr>
            <a:r>
              <a:rPr sz="1400" b="1">
                <a:solidFill>
                  <a:srgbClr val="16344D"/>
                </a:solidFill>
                <a:latin typeface="Microsoft JhengHei"/>
                <a:ea typeface="Microsoft JhengHei"/>
                <a:cs typeface="Microsoft JhengHei"/>
              </a:rPr>
              <a:t>Kelington Group Berhad</a:t>
            </a:r>
          </a:p>
        </p:txBody>
      </p:sp>
      <p:sp>
        <p:nvSpPr>
          <p:cNvPr id="81" name="矩形 80">
            <a:extLst>
              <a:ext uri="{FF2B5EF4-FFF2-40B4-BE49-F238E27FC236}">
                <a16:creationId xmlns:a16="http://schemas.microsoft.com/office/drawing/2014/main" xmlns="" id="{2055BBBD-3ED6-4122-834D-20FF64754598}"/>
              </a:ext>
            </a:extLst>
          </p:cNvPr>
          <p:cNvSpPr>
            <a:spLocks noGrp="1"/>
          </p:cNvSpPr>
          <p:nvPr/>
        </p:nvSpPr>
        <p:spPr>
          <a:xfrm>
            <a:off x="10458450" y="4152900"/>
            <a:ext cx="209550" cy="342900"/>
          </a:xfrm>
          <a:prstGeom prst="rect">
            <a:avLst/>
          </a:prstGeom>
          <a:noFill/>
          <a:ln w="0">
            <a:noFill/>
          </a:ln>
        </p:spPr>
        <p:txBody>
          <a:bodyPr anchor="ctr">
            <a:normAutofit/>
          </a:bodyPr>
          <a:lstStyle/>
          <a:p>
            <a:pPr algn="ctr">
              <a:defRPr sz="1350" b="1">
                <a:solidFill>
                  <a:srgbClr val="D61F2C"/>
                </a:solidFill>
                <a:latin typeface="Microsoft JhengHei"/>
                <a:ea typeface="Microsoft JhengHei"/>
                <a:cs typeface="Microsoft JhengHei"/>
              </a:defRPr>
            </a:pPr>
            <a:r>
              <a:rPr sz="1400" b="1">
                <a:solidFill>
                  <a:srgbClr val="D61F2C"/>
                </a:solidFill>
                <a:latin typeface="Microsoft JhengHei"/>
                <a:ea typeface="Microsoft JhengHei"/>
                <a:cs typeface="Microsoft JhengHei"/>
              </a:rPr>
              <a:t>▲</a:t>
            </a:r>
          </a:p>
        </p:txBody>
      </p:sp>
      <p:sp>
        <p:nvSpPr>
          <p:cNvPr id="82" name="矩形 81">
            <a:extLst>
              <a:ext uri="{FF2B5EF4-FFF2-40B4-BE49-F238E27FC236}">
                <a16:creationId xmlns:a16="http://schemas.microsoft.com/office/drawing/2014/main" xmlns="" id="{186AE556-E44C-4EE3-A43D-C3C2925E9F85}"/>
              </a:ext>
            </a:extLst>
          </p:cNvPr>
          <p:cNvSpPr>
            <a:spLocks noGrp="1"/>
          </p:cNvSpPr>
          <p:nvPr/>
        </p:nvSpPr>
        <p:spPr>
          <a:xfrm>
            <a:off x="10562296" y="3958683"/>
            <a:ext cx="1181100" cy="723900"/>
          </a:xfrm>
          <a:prstGeom prst="rect">
            <a:avLst/>
          </a:prstGeom>
          <a:noFill/>
          <a:ln w="0">
            <a:noFill/>
          </a:ln>
        </p:spPr>
        <p:txBody>
          <a:bodyPr anchor="ctr">
            <a:normAutofit/>
          </a:bodyPr>
          <a:lstStyle/>
          <a:p>
            <a:pPr algn="ctr">
              <a:defRPr sz="1200" b="1">
                <a:solidFill>
                  <a:srgbClr val="1B344A"/>
                </a:solidFill>
                <a:latin typeface="Microsoft JhengHei"/>
                <a:ea typeface="Microsoft JhengHei"/>
                <a:cs typeface="Microsoft JhengHei"/>
              </a:defRPr>
            </a:pPr>
            <a:r>
              <a:rPr sz="1400" b="1" dirty="0">
                <a:solidFill>
                  <a:srgbClr val="1B344A"/>
                </a:solidFill>
                <a:latin typeface="Microsoft JhengHei"/>
                <a:ea typeface="Microsoft JhengHei"/>
                <a:cs typeface="Microsoft JhengHei"/>
              </a:rPr>
              <a:t>998</a:t>
            </a:r>
          </a:p>
          <a:p>
            <a:pPr algn="ctr">
              <a:defRPr sz="1200" b="1">
                <a:solidFill>
                  <a:srgbClr val="1B344A"/>
                </a:solidFill>
                <a:latin typeface="Microsoft JhengHei"/>
                <a:ea typeface="Microsoft JhengHei"/>
                <a:cs typeface="Microsoft JhengHei"/>
              </a:defRPr>
            </a:pPr>
            <a:r>
              <a:rPr sz="1400" b="1" dirty="0">
                <a:solidFill>
                  <a:srgbClr val="1B344A"/>
                </a:solidFill>
                <a:latin typeface="Microsoft JhengHei"/>
                <a:ea typeface="Microsoft JhengHei"/>
                <a:cs typeface="Microsoft JhengHei"/>
              </a:rPr>
              <a:t>(+55.35%)</a:t>
            </a:r>
          </a:p>
        </p:txBody>
      </p:sp>
      <p:sp>
        <p:nvSpPr>
          <p:cNvPr id="83" name="矩形 82">
            <a:extLst>
              <a:ext uri="{FF2B5EF4-FFF2-40B4-BE49-F238E27FC236}">
                <a16:creationId xmlns:a16="http://schemas.microsoft.com/office/drawing/2014/main" xmlns="" id="{99C09F43-5220-411B-9E8A-46DD9C41D20D}"/>
              </a:ext>
            </a:extLst>
          </p:cNvPr>
          <p:cNvSpPr>
            <a:spLocks noGrp="1"/>
          </p:cNvSpPr>
          <p:nvPr/>
        </p:nvSpPr>
        <p:spPr>
          <a:xfrm>
            <a:off x="8686800" y="4891204"/>
            <a:ext cx="3076575" cy="1066800"/>
          </a:xfrm>
          <a:prstGeom prst="rect">
            <a:avLst/>
          </a:prstGeom>
          <a:solidFill>
            <a:srgbClr val="F1F5F8"/>
          </a:solidFill>
          <a:ln w="9525">
            <a:solidFill>
              <a:srgbClr val="D5DFE8"/>
            </a:solidFill>
          </a:ln>
        </p:spPr>
      </p:sp>
      <p:sp>
        <p:nvSpPr>
          <p:cNvPr id="84" name="橢圓 83">
            <a:extLst>
              <a:ext uri="{FF2B5EF4-FFF2-40B4-BE49-F238E27FC236}">
                <a16:creationId xmlns:a16="http://schemas.microsoft.com/office/drawing/2014/main" xmlns="" id="{B364945A-49A3-4B4A-BE10-A38A1865E3DE}"/>
              </a:ext>
            </a:extLst>
          </p:cNvPr>
          <p:cNvSpPr>
            <a:spLocks noGrp="1"/>
          </p:cNvSpPr>
          <p:nvPr/>
        </p:nvSpPr>
        <p:spPr>
          <a:xfrm>
            <a:off x="8801100" y="5229225"/>
            <a:ext cx="342900" cy="342900"/>
          </a:xfrm>
          <a:prstGeom prst="ellipse">
            <a:avLst/>
          </a:prstGeom>
          <a:solidFill>
            <a:srgbClr val="7B4AB5"/>
          </a:solidFill>
          <a:ln w="0">
            <a:solidFill>
              <a:srgbClr val="7B4AB5"/>
            </a:solidFill>
          </a:ln>
        </p:spPr>
      </p:sp>
      <p:sp>
        <p:nvSpPr>
          <p:cNvPr id="85" name="矩形 84">
            <a:extLst>
              <a:ext uri="{FF2B5EF4-FFF2-40B4-BE49-F238E27FC236}">
                <a16:creationId xmlns:a16="http://schemas.microsoft.com/office/drawing/2014/main" xmlns="" id="{3D7FC75C-2013-46F8-92D8-2A8D4A8DAC97}"/>
              </a:ext>
            </a:extLst>
          </p:cNvPr>
          <p:cNvSpPr>
            <a:spLocks noGrp="1"/>
          </p:cNvSpPr>
          <p:nvPr/>
        </p:nvSpPr>
        <p:spPr>
          <a:xfrm>
            <a:off x="8801100" y="5229225"/>
            <a:ext cx="342900" cy="342900"/>
          </a:xfrm>
          <a:prstGeom prst="rect">
            <a:avLst/>
          </a:prstGeom>
          <a:noFill/>
          <a:ln w="0">
            <a:noFill/>
          </a:ln>
        </p:spPr>
        <p:txBody>
          <a:bodyPr anchor="ctr">
            <a:normAutofit/>
          </a:bodyPr>
          <a:lstStyle/>
          <a:p>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04</a:t>
            </a:r>
          </a:p>
        </p:txBody>
      </p:sp>
      <p:sp>
        <p:nvSpPr>
          <p:cNvPr id="86" name="矩形 85">
            <a:extLst>
              <a:ext uri="{FF2B5EF4-FFF2-40B4-BE49-F238E27FC236}">
                <a16:creationId xmlns:a16="http://schemas.microsoft.com/office/drawing/2014/main" xmlns="" id="{4F27820B-3AC8-4C8A-849C-BE63597F3190}"/>
              </a:ext>
            </a:extLst>
          </p:cNvPr>
          <p:cNvSpPr>
            <a:spLocks noGrp="1"/>
          </p:cNvSpPr>
          <p:nvPr/>
        </p:nvSpPr>
        <p:spPr>
          <a:xfrm>
            <a:off x="9220200" y="5029200"/>
            <a:ext cx="1123950" cy="762000"/>
          </a:xfrm>
          <a:prstGeom prst="rect">
            <a:avLst/>
          </a:prstGeom>
          <a:noFill/>
          <a:ln w="0">
            <a:noFill/>
          </a:ln>
        </p:spPr>
        <p:txBody>
          <a:bodyPr anchor="ctr">
            <a:normAutofit/>
          </a:bodyPr>
          <a:lstStyle/>
          <a:p>
            <a:pPr>
              <a:defRPr sz="1050" b="1">
                <a:solidFill>
                  <a:srgbClr val="16344D"/>
                </a:solidFill>
                <a:latin typeface="Microsoft JhengHei"/>
                <a:ea typeface="Microsoft JhengHei"/>
                <a:cs typeface="Microsoft JhengHei"/>
              </a:defRPr>
            </a:pPr>
            <a:r>
              <a:rPr lang="en-US" sz="1400" b="1" dirty="0" smtClean="0">
                <a:solidFill>
                  <a:srgbClr val="16344D"/>
                </a:solidFill>
                <a:latin typeface="Microsoft JhengHei"/>
                <a:ea typeface="Microsoft JhengHei"/>
                <a:cs typeface="Microsoft JhengHei"/>
              </a:rPr>
              <a:t>Other</a:t>
            </a:r>
            <a:endParaRPr sz="1400" b="1" dirty="0">
              <a:solidFill>
                <a:srgbClr val="16344D"/>
              </a:solidFill>
              <a:latin typeface="Microsoft JhengHei"/>
              <a:ea typeface="Microsoft JhengHei"/>
              <a:cs typeface="Microsoft JhengHei"/>
            </a:endParaRPr>
          </a:p>
        </p:txBody>
      </p:sp>
      <p:sp>
        <p:nvSpPr>
          <p:cNvPr id="87" name="矩形 86">
            <a:extLst>
              <a:ext uri="{FF2B5EF4-FFF2-40B4-BE49-F238E27FC236}">
                <a16:creationId xmlns:a16="http://schemas.microsoft.com/office/drawing/2014/main" xmlns="" id="{0247AAF0-C835-4CA0-A332-C50E69FAD3BF}"/>
              </a:ext>
            </a:extLst>
          </p:cNvPr>
          <p:cNvSpPr>
            <a:spLocks noGrp="1"/>
          </p:cNvSpPr>
          <p:nvPr/>
        </p:nvSpPr>
        <p:spPr>
          <a:xfrm>
            <a:off x="10458450" y="5219700"/>
            <a:ext cx="209550" cy="342900"/>
          </a:xfrm>
          <a:prstGeom prst="rect">
            <a:avLst/>
          </a:prstGeom>
          <a:noFill/>
          <a:ln w="0">
            <a:noFill/>
          </a:ln>
        </p:spPr>
        <p:txBody>
          <a:bodyPr anchor="ctr">
            <a:normAutofit/>
          </a:bodyPr>
          <a:lstStyle/>
          <a:p>
            <a:pPr algn="ctr">
              <a:defRPr sz="1350" b="1">
                <a:solidFill>
                  <a:srgbClr val="D61F2C"/>
                </a:solidFill>
                <a:latin typeface="Microsoft JhengHei"/>
                <a:ea typeface="Microsoft JhengHei"/>
                <a:cs typeface="Microsoft JhengHei"/>
              </a:defRPr>
            </a:pPr>
            <a:r>
              <a:rPr sz="1400" b="1">
                <a:solidFill>
                  <a:srgbClr val="D61F2C"/>
                </a:solidFill>
                <a:latin typeface="Microsoft JhengHei"/>
                <a:ea typeface="Microsoft JhengHei"/>
                <a:cs typeface="Microsoft JhengHei"/>
              </a:rPr>
              <a:t>▲</a:t>
            </a:r>
          </a:p>
        </p:txBody>
      </p:sp>
      <p:sp>
        <p:nvSpPr>
          <p:cNvPr id="88" name="矩形 87">
            <a:extLst>
              <a:ext uri="{FF2B5EF4-FFF2-40B4-BE49-F238E27FC236}">
                <a16:creationId xmlns:a16="http://schemas.microsoft.com/office/drawing/2014/main" xmlns="" id="{965F99B1-220C-44F7-822A-C15156BC69E1}"/>
              </a:ext>
            </a:extLst>
          </p:cNvPr>
          <p:cNvSpPr>
            <a:spLocks noGrp="1"/>
          </p:cNvSpPr>
          <p:nvPr/>
        </p:nvSpPr>
        <p:spPr>
          <a:xfrm>
            <a:off x="10668000" y="5048250"/>
            <a:ext cx="1028700" cy="723900"/>
          </a:xfrm>
          <a:prstGeom prst="rect">
            <a:avLst/>
          </a:prstGeom>
          <a:noFill/>
          <a:ln w="0">
            <a:noFill/>
          </a:ln>
        </p:spPr>
        <p:txBody>
          <a:bodyPr anchor="ctr">
            <a:normAutofit/>
          </a:bodyPr>
          <a:lstStyle/>
          <a:p>
            <a:pPr algn="ctr">
              <a:defRPr sz="1200" b="1">
                <a:solidFill>
                  <a:srgbClr val="1B344A"/>
                </a:solidFill>
                <a:latin typeface="Microsoft JhengHei"/>
                <a:ea typeface="Microsoft JhengHei"/>
                <a:cs typeface="Microsoft JhengHei"/>
              </a:defRPr>
            </a:pPr>
            <a:r>
              <a:rPr sz="1400" b="1" dirty="0">
                <a:solidFill>
                  <a:srgbClr val="1B344A"/>
                </a:solidFill>
                <a:latin typeface="Microsoft JhengHei"/>
                <a:ea typeface="Microsoft JhengHei"/>
                <a:cs typeface="Microsoft JhengHei"/>
              </a:rPr>
              <a:t>541</a:t>
            </a:r>
          </a:p>
          <a:p>
            <a:pPr algn="ctr">
              <a:defRPr sz="1200" b="1">
                <a:solidFill>
                  <a:srgbClr val="1B344A"/>
                </a:solidFill>
                <a:latin typeface="Microsoft JhengHei"/>
                <a:ea typeface="Microsoft JhengHei"/>
                <a:cs typeface="Microsoft JhengHei"/>
              </a:defRPr>
            </a:pPr>
            <a:r>
              <a:rPr sz="1400" b="1" dirty="0">
                <a:solidFill>
                  <a:srgbClr val="1B344A"/>
                </a:solidFill>
                <a:latin typeface="Microsoft JhengHei"/>
                <a:ea typeface="Microsoft JhengHei"/>
                <a:cs typeface="Microsoft JhengHei"/>
              </a:rPr>
              <a:t>(+9.87%)</a:t>
            </a:r>
          </a:p>
        </p:txBody>
      </p:sp>
      <p:pic>
        <p:nvPicPr>
          <p:cNvPr id="42" name="圖片 41"/>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686945" y="6450226"/>
            <a:ext cx="2375549" cy="407773"/>
          </a:xfrm>
          <a:prstGeom prst="rect">
            <a:avLst/>
          </a:prstGeom>
        </p:spPr>
      </p:pic>
      <p:sp>
        <p:nvSpPr>
          <p:cNvPr id="43" name="文字方塊 42">
            <a:extLst>
              <a:ext uri="{FF2B5EF4-FFF2-40B4-BE49-F238E27FC236}">
                <a16:creationId xmlns="" xmlns:a16="http://schemas.microsoft.com/office/drawing/2014/main" id="{F1D9DB46-BF4D-494B-87FC-B5C12614B189}"/>
              </a:ext>
            </a:extLst>
          </p:cNvPr>
          <p:cNvSpPr txBox="1"/>
          <p:nvPr/>
        </p:nvSpPr>
        <p:spPr>
          <a:xfrm>
            <a:off x="150604" y="2328386"/>
            <a:ext cx="2423269" cy="738664"/>
          </a:xfrm>
          <a:prstGeom prst="rect">
            <a:avLst/>
          </a:prstGeom>
          <a:solidFill>
            <a:schemeClr val="accent1">
              <a:lumMod val="40000"/>
              <a:lumOff val="60000"/>
            </a:schemeClr>
          </a:solidFill>
        </p:spPr>
        <p:txBody>
          <a:bodyPr wrap="square" rtlCol="0">
            <a:spAutoFit/>
          </a:bodyPr>
          <a:lstStyle/>
          <a:p>
            <a:r>
              <a:rPr lang="en-US" altLang="zh-TW" sz="1400" dirty="0"/>
              <a:t>Shareholding </a:t>
            </a:r>
            <a:r>
              <a:rPr lang="en-US" altLang="zh-TW" sz="1400" dirty="0" smtClean="0"/>
              <a:t>percentage</a:t>
            </a:r>
            <a:r>
              <a:rPr lang="en-US" altLang="zh-TW" sz="1400" dirty="0"/>
              <a:t>: 17</a:t>
            </a:r>
            <a:r>
              <a:rPr lang="en-US" altLang="zh-TW" sz="1400" dirty="0" smtClean="0"/>
              <a:t>%</a:t>
            </a:r>
          </a:p>
          <a:p>
            <a:r>
              <a:rPr lang="en-US" altLang="zh-TW" sz="1400" dirty="0" smtClean="0"/>
              <a:t>TSR</a:t>
            </a:r>
            <a:r>
              <a:rPr lang="zh-TW" altLang="en-US" sz="1400" dirty="0" smtClean="0"/>
              <a:t> </a:t>
            </a:r>
            <a:r>
              <a:rPr lang="en-US" altLang="zh-TW" sz="1400" dirty="0"/>
              <a:t>7.6%</a:t>
            </a:r>
          </a:p>
          <a:p>
            <a:r>
              <a:rPr lang="en-US" altLang="zh-TW" sz="1400" dirty="0"/>
              <a:t>Share price CAGR of 21.4%</a:t>
            </a:r>
            <a:endParaRPr lang="zh-TW" altLang="en-US" sz="1400" dirty="0"/>
          </a:p>
        </p:txBody>
      </p:sp>
      <p:sp>
        <p:nvSpPr>
          <p:cNvPr id="44" name="文字方塊 1">
            <a:extLst>
              <a:ext uri="{FF2B5EF4-FFF2-40B4-BE49-F238E27FC236}">
                <a16:creationId xmlns:c="http://schemas.openxmlformats.org/drawingml/2006/chart" xmlns:cdr="http://schemas.openxmlformats.org/drawingml/2006/chartDrawing" xmlns:a16="http://schemas.microsoft.com/office/drawing/2014/main" xmlns="" xmlns:lc="http://schemas.openxmlformats.org/drawingml/2006/lockedCanvas" id="{798D1B22-0093-4510-82AE-FAA04442B4BF}"/>
              </a:ext>
            </a:extLst>
          </p:cNvPr>
          <p:cNvSpPr txBox="1"/>
          <p:nvPr/>
        </p:nvSpPr>
        <p:spPr>
          <a:xfrm>
            <a:off x="2089228" y="5029200"/>
            <a:ext cx="2333625" cy="791495"/>
          </a:xfrm>
          <a:prstGeom prst="rect">
            <a:avLst/>
          </a:prstGeom>
          <a:solidFill>
            <a:schemeClr val="accent2">
              <a:lumMod val="20000"/>
              <a:lumOff val="80000"/>
            </a:schemeClr>
          </a:solidFill>
        </p:spPr>
        <p:txBody>
          <a:bodyPr wrap="non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r>
              <a:rPr lang="en-US" altLang="zh-TW" sz="1400" dirty="0"/>
              <a:t>Shareholding percentage: 19%</a:t>
            </a:r>
          </a:p>
          <a:p>
            <a:r>
              <a:rPr lang="en-US" altLang="zh-TW" sz="1400" dirty="0"/>
              <a:t>TSR</a:t>
            </a:r>
            <a:r>
              <a:rPr lang="zh-TW" altLang="en-US" sz="1400" dirty="0"/>
              <a:t> </a:t>
            </a:r>
            <a:r>
              <a:rPr lang="en-US" altLang="zh-TW" sz="1400" dirty="0"/>
              <a:t>5.7%</a:t>
            </a:r>
          </a:p>
          <a:p>
            <a:r>
              <a:rPr lang="en-US" altLang="zh-TW" sz="1400" dirty="0"/>
              <a:t>Share price CAGR of 7.8%</a:t>
            </a:r>
            <a:endParaRPr lang="zh-TW" altLang="en-US" sz="1400" dirty="0"/>
          </a:p>
        </p:txBody>
      </p:sp>
    </p:spTree>
    <p:extLst>
      <p:ext uri="{BB962C8B-B14F-4D97-AF65-F5344CB8AC3E}">
        <p14:creationId xmlns:p14="http://schemas.microsoft.com/office/powerpoint/2010/main" val="1671009565"/>
      </p:ext>
    </p:extLst>
  </p:cSld>
  <p:clrMapOvr>
    <a:masterClrMapping/>
  </p:clrMapOvr>
  <p:transition spd="slow"/>
  <p:timing>
    <p:tnLst>
      <p:par>
        <p:cTn id="1" dur="indefinite" restart="never" nodeType="tmRoot"/>
      </p:par>
    </p:tnLst>
  </p:timing>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id="2" name="圖片 1"/>
          <p:cNvPicPr>
            <a:picLocks noChangeAspect="1"/>
          </p:cNvPicPr>
          <p:nvPr/>
        </p:nvPicPr>
        <p:blipFill>
          <a:blip cstate="email" r:embed="rId2">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sp>
        <p:nvSpPr>
          <p:cNvPr id="4" name="矩形 3"/>
          <p:cNvSpPr/>
          <p:nvPr/>
        </p:nvSpPr>
        <p:spPr>
          <a:xfrm>
            <a:off x="2489200" y="6210300"/>
            <a:ext cx="2679700" cy="469900"/>
          </a:xfrm>
          <a:prstGeom prst="rect">
            <a:avLst/>
          </a:prstGeom>
          <a:solidFill>
            <a:srgbClr val="FEFEF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TW"/>
          </a:p>
        </p:txBody>
      </p:sp>
      <p:pic>
        <p:nvPicPr>
          <p:cNvPr id="3" name="圖片 2"/>
          <p:cNvPicPr>
            <a:picLocks noChangeAspect="1"/>
          </p:cNvPicPr>
          <p:nvPr/>
        </p:nvPicPr>
        <p:blipFill>
          <a:blip cstate="screen" r:embed="rId3">
            <a:extLst>
              <a:ext uri="{28A0092B-C50C-407E-A947-70E740481C1C}">
                <a14:useLocalDpi xmlns:a14="http://schemas.microsoft.com/office/drawing/2010/main"/>
              </a:ext>
            </a:extLst>
          </a:blip>
          <a:stretch>
            <a:fillRect/>
          </a:stretch>
        </p:blipFill>
        <p:spPr>
          <a:xfrm>
            <a:off x="419998" y="6200681"/>
            <a:ext cx="2412000" cy="414030"/>
          </a:xfrm>
          <a:prstGeom prst="rect">
            <a:avLst/>
          </a:prstGeom>
        </p:spPr>
      </p:pic>
      <p:pic>
        <p:nvPicPr>
          <p:cNvPr id="5" name="圖片 4"/>
          <p:cNvPicPr>
            <a:picLocks noChangeAspect="1"/>
          </p:cNvPicPr>
          <p:nvPr/>
        </p:nvPicPr>
        <p:blipFill rotWithShape="1">
          <a:blip cstate="email" r:embed="rId4">
            <a:extLst>
              <a:ext uri="{28A0092B-C50C-407E-A947-70E740481C1C}">
                <a14:useLocalDpi xmlns:a14="http://schemas.microsoft.com/office/drawing/2010/main"/>
              </a:ext>
            </a:extLst>
          </a:blip>
          <a:srcRect r="119"/>
          <a:stretch/>
        </p:blipFill>
        <p:spPr>
          <a:xfrm>
            <a:off x="387340" y="2982686"/>
            <a:ext cx="9202973" cy="1415143"/>
          </a:xfrm>
          <a:prstGeom prst="rect">
            <a:avLst/>
          </a:prstGeom>
        </p:spPr>
      </p:pic>
      <p:sp>
        <p:nvSpPr>
          <p:cNvPr id="6" name="圓角矩形 5"/>
          <p:cNvSpPr/>
          <p:nvPr/>
        </p:nvSpPr>
        <p:spPr>
          <a:xfrm>
            <a:off x="457200" y="4430486"/>
            <a:ext cx="9002486" cy="1273628"/>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TW"/>
          </a:p>
        </p:txBody>
      </p:sp>
    </p:spTree>
    <p:extLst>
      <p:ext uri="{BB962C8B-B14F-4D97-AF65-F5344CB8AC3E}">
        <p14:creationId xmlns:p14="http://schemas.microsoft.com/office/powerpoint/2010/main" val="2774396001"/>
      </p:ext>
    </p:extLst>
  </p:cSld>
  <p:clrMapOvr>
    <a:masterClrMapping/>
  </p:clrMapOvr>
  <p:timing>
    <p:tnLst>
      <p:par>
        <p:cTn dur="indefinite" id="1" nodeType="tmRoot" restart="never"/>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群組 7"/>
          <p:cNvGrpSpPr/>
          <p:nvPr/>
        </p:nvGrpSpPr>
        <p:grpSpPr>
          <a:xfrm>
            <a:off x="6478" y="0"/>
            <a:ext cx="12185522" cy="6858000"/>
            <a:chOff x="3239" y="0"/>
            <a:chExt cx="12185522" cy="6858000"/>
          </a:xfrm>
        </p:grpSpPr>
        <p:pic>
          <p:nvPicPr>
            <p:cNvPr id="2" name="圖片 1"/>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239" y="0"/>
              <a:ext cx="12185522" cy="6858000"/>
            </a:xfrm>
            <a:prstGeom prst="rect">
              <a:avLst/>
            </a:prstGeom>
          </p:spPr>
        </p:pic>
        <p:pic>
          <p:nvPicPr>
            <p:cNvPr id="3" name="圖片 2"/>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449012" y="444301"/>
              <a:ext cx="5477034" cy="940156"/>
            </a:xfrm>
            <a:prstGeom prst="rect">
              <a:avLst/>
            </a:prstGeom>
          </p:spPr>
        </p:pic>
        <p:pic>
          <p:nvPicPr>
            <p:cNvPr id="4" name="圖片 3"/>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49012" y="444301"/>
              <a:ext cx="5477034" cy="1040147"/>
            </a:xfrm>
            <a:prstGeom prst="rect">
              <a:avLst/>
            </a:prstGeom>
          </p:spPr>
        </p:pic>
        <p:sp>
          <p:nvSpPr>
            <p:cNvPr id="6" name="矩形 5"/>
            <p:cNvSpPr/>
            <p:nvPr/>
          </p:nvSpPr>
          <p:spPr>
            <a:xfrm>
              <a:off x="8861012" y="4269417"/>
              <a:ext cx="2534668" cy="375552"/>
            </a:xfrm>
            <a:prstGeom prst="rect">
              <a:avLst/>
            </a:prstGeom>
            <a:solidFill>
              <a:schemeClr val="bg1"/>
            </a:solidFill>
          </p:spPr>
          <p:txBody>
            <a:bodyPr wrap="none">
              <a:spAutoFit/>
            </a:bodyPr>
            <a:lstStyle/>
            <a:p>
              <a:pPr>
                <a:lnSpc>
                  <a:spcPct val="150000"/>
                </a:lnSpc>
                <a:defRPr/>
              </a:pPr>
              <a:r>
                <a:rPr lang="en-US" altLang="zh-CN" sz="1400" kern="0" dirty="0">
                  <a:ln>
                    <a:solidFill>
                      <a:schemeClr val="accent5">
                        <a:lumMod val="50000"/>
                      </a:schemeClr>
                    </a:solidFill>
                  </a:ln>
                  <a:solidFill>
                    <a:srgbClr val="002060"/>
                  </a:solidFill>
                  <a:latin typeface="Arial" panose="020B0604020202020204" pitchFamily="34" charset="0"/>
                  <a:ea typeface="微軟正黑體" panose="020B0604030504040204" pitchFamily="34" charset="-120"/>
                  <a:cs typeface="Arial" panose="020B0604020202020204" pitchFamily="34" charset="0"/>
                </a:rPr>
                <a:t>https://www.lhicholdings.com/</a:t>
              </a:r>
            </a:p>
          </p:txBody>
        </p:sp>
        <p:sp>
          <p:nvSpPr>
            <p:cNvPr id="7" name="文字方塊 6"/>
            <p:cNvSpPr txBox="1"/>
            <p:nvPr/>
          </p:nvSpPr>
          <p:spPr>
            <a:xfrm>
              <a:off x="157162" y="6372225"/>
              <a:ext cx="3000376" cy="328613"/>
            </a:xfrm>
            <a:prstGeom prst="rect">
              <a:avLst/>
            </a:prstGeom>
            <a:solidFill>
              <a:schemeClr val="bg1"/>
            </a:solidFill>
          </p:spPr>
          <p:txBody>
            <a:bodyPr wrap="square" rtlCol="0">
              <a:spAutoFit/>
            </a:bodyPr>
            <a:lstStyle/>
            <a:p>
              <a:endParaRPr lang="zh-TW" altLang="en-US" dirty="0"/>
            </a:p>
          </p:txBody>
        </p:sp>
      </p:grpSp>
    </p:spTree>
    <p:extLst>
      <p:ext uri="{BB962C8B-B14F-4D97-AF65-F5344CB8AC3E}">
        <p14:creationId xmlns:p14="http://schemas.microsoft.com/office/powerpoint/2010/main" val="7427188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文字方塊 2"/>
          <p:cNvSpPr txBox="1">
            <a:spLocks noChangeArrowheads="1"/>
          </p:cNvSpPr>
          <p:nvPr/>
        </p:nvSpPr>
        <p:spPr bwMode="auto">
          <a:xfrm>
            <a:off x="130175" y="571500"/>
            <a:ext cx="2646363"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zh-TW" altLang="en-US" sz="3200" b="1" dirty="0">
                <a:solidFill>
                  <a:schemeClr val="bg1"/>
                </a:solidFill>
                <a:latin typeface="微軟正黑體" panose="020B0604030504040204" pitchFamily="34" charset="-120"/>
                <a:ea typeface="微軟正黑體" panose="020B0604030504040204" pitchFamily="34" charset="-120"/>
              </a:rPr>
              <a:t>合併營收趨勢</a:t>
            </a:r>
          </a:p>
        </p:txBody>
      </p:sp>
      <p:graphicFrame>
        <p:nvGraphicFramePr>
          <p:cNvPr id="4" name="圖表 3"/>
          <p:cNvGraphicFramePr>
            <a:graphicFrameLocks/>
          </p:cNvGraphicFramePr>
          <p:nvPr>
            <p:extLst>
              <p:ext uri="{D42A27DB-BD31-4B8C-83A1-F6EECF244321}">
                <p14:modId xmlns:p14="http://schemas.microsoft.com/office/powerpoint/2010/main" val="137141328"/>
              </p:ext>
            </p:extLst>
          </p:nvPr>
        </p:nvGraphicFramePr>
        <p:xfrm>
          <a:off x="1206499" y="1422400"/>
          <a:ext cx="9935509" cy="4940300"/>
        </p:xfrm>
        <a:graphic>
          <a:graphicData uri="http://schemas.openxmlformats.org/drawingml/2006/chart">
            <c:chart xmlns:c="http://schemas.openxmlformats.org/drawingml/2006/chart" xmlns:r="http://schemas.openxmlformats.org/officeDocument/2006/relationships" r:id="rId3"/>
          </a:graphicData>
        </a:graphic>
      </p:graphicFrame>
      <p:pic>
        <p:nvPicPr>
          <p:cNvPr id="5" name="圖片 4"/>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650495" y="6443970"/>
            <a:ext cx="2412000" cy="414030"/>
          </a:xfrm>
          <a:prstGeom prst="rect">
            <a:avLst/>
          </a:prstGeom>
        </p:spPr>
      </p:pic>
      <p:pic>
        <p:nvPicPr>
          <p:cNvPr id="2" name="圖片 1"/>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927704" y="5847347"/>
            <a:ext cx="8720244" cy="489285"/>
          </a:xfrm>
          <a:prstGeom prst="rect">
            <a:avLst/>
          </a:prstGeom>
        </p:spPr>
      </p:pic>
    </p:spTree>
    <p:extLst>
      <p:ext uri="{BB962C8B-B14F-4D97-AF65-F5344CB8AC3E}">
        <p14:creationId xmlns:p14="http://schemas.microsoft.com/office/powerpoint/2010/main" val="1335052614"/>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778125339"/>
              </p:ext>
            </p:extLst>
          </p:nvPr>
        </p:nvGraphicFramePr>
        <p:xfrm>
          <a:off x="7026725" y="3368393"/>
          <a:ext cx="4816934" cy="1398790"/>
        </p:xfrm>
        <a:graphic>
          <a:graphicData uri="http://schemas.openxmlformats.org/drawingml/2006/table">
            <a:tbl>
              <a:tblPr/>
              <a:tblGrid>
                <a:gridCol w="1105524">
                  <a:extLst>
                    <a:ext uri="{9D8B030D-6E8A-4147-A177-3AD203B41FA5}">
                      <a16:colId xmlns:a16="http://schemas.microsoft.com/office/drawing/2014/main" xmlns="" val="20000"/>
                    </a:ext>
                  </a:extLst>
                </a:gridCol>
                <a:gridCol w="742282">
                  <a:extLst>
                    <a:ext uri="{9D8B030D-6E8A-4147-A177-3AD203B41FA5}">
                      <a16:colId xmlns:a16="http://schemas.microsoft.com/office/drawing/2014/main" xmlns="" val="20001"/>
                    </a:ext>
                  </a:extLst>
                </a:gridCol>
                <a:gridCol w="742282">
                  <a:extLst>
                    <a:ext uri="{9D8B030D-6E8A-4147-A177-3AD203B41FA5}">
                      <a16:colId xmlns:a16="http://schemas.microsoft.com/office/drawing/2014/main" xmlns="" val="20002"/>
                    </a:ext>
                  </a:extLst>
                </a:gridCol>
                <a:gridCol w="742282">
                  <a:extLst>
                    <a:ext uri="{9D8B030D-6E8A-4147-A177-3AD203B41FA5}">
                      <a16:colId xmlns:a16="http://schemas.microsoft.com/office/drawing/2014/main" xmlns="" val="20003"/>
                    </a:ext>
                  </a:extLst>
                </a:gridCol>
                <a:gridCol w="742282">
                  <a:extLst>
                    <a:ext uri="{9D8B030D-6E8A-4147-A177-3AD203B41FA5}">
                      <a16:colId xmlns:a16="http://schemas.microsoft.com/office/drawing/2014/main" xmlns="" val="20004"/>
                    </a:ext>
                  </a:extLst>
                </a:gridCol>
                <a:gridCol w="742282">
                  <a:extLst>
                    <a:ext uri="{9D8B030D-6E8A-4147-A177-3AD203B41FA5}">
                      <a16:colId xmlns:a16="http://schemas.microsoft.com/office/drawing/2014/main" xmlns="" val="20005"/>
                    </a:ext>
                  </a:extLst>
                </a:gridCol>
              </a:tblGrid>
              <a:tr h="321151">
                <a:tc>
                  <a:txBody>
                    <a:bodyPr/>
                    <a:lstStyle/>
                    <a:p>
                      <a:pPr algn="ctr" rtl="0" fontAlgn="ctr">
                        <a:spcBef>
                          <a:spcPts val="0"/>
                        </a:spcBef>
                        <a:spcAft>
                          <a:spcPts val="0"/>
                        </a:spcAft>
                      </a:pPr>
                      <a:r>
                        <a:rPr lang="zh-TW" altLang="en-US" sz="1200" b="1" i="0" u="none" strike="noStrike" dirty="0">
                          <a:solidFill>
                            <a:srgbClr val="FFFFFF"/>
                          </a:solidFill>
                          <a:effectLst/>
                          <a:latin typeface="微軟正黑體" panose="020B0604030504040204" pitchFamily="34" charset="-120"/>
                          <a:ea typeface="微軟正黑體" panose="020B0604030504040204" pitchFamily="34" charset="-120"/>
                        </a:rPr>
                        <a:t>年度</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spcBef>
                          <a:spcPts val="0"/>
                        </a:spcBef>
                        <a:spcAft>
                          <a:spcPts val="0"/>
                        </a:spcAft>
                      </a:pPr>
                      <a:r>
                        <a:rPr lang="en-US" altLang="zh-TW" sz="1200" b="1" i="0" u="none" strike="noStrike" dirty="0">
                          <a:solidFill>
                            <a:srgbClr val="FFFFFF"/>
                          </a:solidFill>
                          <a:effectLst/>
                          <a:latin typeface="微軟正黑體" panose="020B0604030504040204" pitchFamily="34" charset="-120"/>
                          <a:ea typeface="微軟正黑體" panose="020B0604030504040204" pitchFamily="34" charset="-120"/>
                        </a:rPr>
                        <a:t>2021</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spcBef>
                          <a:spcPts val="0"/>
                        </a:spcBef>
                        <a:spcAft>
                          <a:spcPts val="0"/>
                        </a:spcAft>
                      </a:pPr>
                      <a:r>
                        <a:rPr lang="en-US" altLang="zh-TW" sz="1200" b="1" i="0" u="none" strike="noStrike" dirty="0">
                          <a:solidFill>
                            <a:srgbClr val="FFFFFF"/>
                          </a:solidFill>
                          <a:effectLst/>
                          <a:latin typeface="微軟正黑體" panose="020B0604030504040204" pitchFamily="34" charset="-120"/>
                          <a:ea typeface="微軟正黑體" panose="020B0604030504040204" pitchFamily="34" charset="-120"/>
                        </a:rPr>
                        <a:t>2022</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spcBef>
                          <a:spcPts val="0"/>
                        </a:spcBef>
                        <a:spcAft>
                          <a:spcPts val="0"/>
                        </a:spcAft>
                      </a:pPr>
                      <a:r>
                        <a:rPr lang="en-US" altLang="zh-TW" sz="1200" b="1" i="0" u="none" strike="noStrike">
                          <a:solidFill>
                            <a:srgbClr val="FFFFFF"/>
                          </a:solidFill>
                          <a:effectLst/>
                          <a:latin typeface="微軟正黑體" panose="020B0604030504040204" pitchFamily="34" charset="-120"/>
                          <a:ea typeface="微軟正黑體" panose="020B0604030504040204" pitchFamily="34" charset="-120"/>
                        </a:rPr>
                        <a:t>2023</a:t>
                      </a:r>
                      <a:endParaRPr lang="zh-TW" altLang="en-US" sz="120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spcBef>
                          <a:spcPts val="0"/>
                        </a:spcBef>
                        <a:spcAft>
                          <a:spcPts val="0"/>
                        </a:spcAft>
                      </a:pPr>
                      <a:r>
                        <a:rPr lang="en-US" altLang="zh-TW" sz="1200" b="1" i="0" u="none" strike="noStrike">
                          <a:solidFill>
                            <a:srgbClr val="FFFFFF"/>
                          </a:solidFill>
                          <a:effectLst/>
                          <a:latin typeface="微軟正黑體" panose="020B0604030504040204" pitchFamily="34" charset="-120"/>
                          <a:ea typeface="微軟正黑體" panose="020B0604030504040204" pitchFamily="34" charset="-120"/>
                        </a:rPr>
                        <a:t>2024</a:t>
                      </a:r>
                      <a:endParaRPr lang="zh-TW" altLang="en-US" sz="120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tc>
                  <a:txBody>
                    <a:bodyPr/>
                    <a:lstStyle/>
                    <a:p>
                      <a:pPr algn="ctr" rtl="0" fontAlgn="ctr">
                        <a:spcBef>
                          <a:spcPts val="0"/>
                        </a:spcBef>
                        <a:spcAft>
                          <a:spcPts val="0"/>
                        </a:spcAft>
                      </a:pPr>
                      <a:r>
                        <a:rPr lang="en-US" altLang="zh-TW" sz="1200" b="1" i="0" u="none" strike="noStrike" dirty="0">
                          <a:solidFill>
                            <a:srgbClr val="FFFFFF"/>
                          </a:solidFill>
                          <a:effectLst/>
                          <a:latin typeface="微軟正黑體" panose="020B0604030504040204" pitchFamily="34" charset="-120"/>
                          <a:ea typeface="微軟正黑體" panose="020B0604030504040204" pitchFamily="34" charset="-120"/>
                        </a:rPr>
                        <a:t>2025</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2060"/>
                    </a:solidFill>
                  </a:tcPr>
                </a:tc>
                <a:extLst>
                  <a:ext uri="{0D108BD9-81ED-4DB2-BD59-A6C34878D82A}">
                    <a16:rowId xmlns:a16="http://schemas.microsoft.com/office/drawing/2014/main" xmlns="" val="10000"/>
                  </a:ext>
                </a:extLst>
              </a:tr>
              <a:tr h="378244">
                <a:tc>
                  <a:txBody>
                    <a:bodyPr/>
                    <a:lstStyle/>
                    <a:p>
                      <a:pPr rtl="0" fontAlgn="ctr">
                        <a:spcBef>
                          <a:spcPts val="0"/>
                        </a:spcBef>
                        <a:spcAft>
                          <a:spcPts val="0"/>
                        </a:spcAft>
                      </a:pPr>
                      <a:r>
                        <a:rPr lang="zh-TW" altLang="en-US" sz="1200" b="1" i="0" u="none" strike="noStrike" dirty="0">
                          <a:solidFill>
                            <a:srgbClr val="0C2340"/>
                          </a:solidFill>
                          <a:effectLst/>
                          <a:latin typeface="微軟正黑體" panose="020B0604030504040204" pitchFamily="34" charset="-120"/>
                          <a:ea typeface="微軟正黑體" panose="020B0604030504040204" pitchFamily="34" charset="-120"/>
                        </a:rPr>
                        <a:t>現金股利 </a:t>
                      </a:r>
                      <a:r>
                        <a:rPr lang="en-US" altLang="zh-TW" sz="1200" b="1" i="0" u="none" strike="noStrike" dirty="0">
                          <a:solidFill>
                            <a:srgbClr val="0C2340"/>
                          </a:solidFill>
                          <a:effectLst/>
                          <a:latin typeface="微軟正黑體" panose="020B0604030504040204" pitchFamily="34" charset="-120"/>
                          <a:ea typeface="微軟正黑體" panose="020B0604030504040204" pitchFamily="34" charset="-120"/>
                        </a:rPr>
                        <a:t>(</a:t>
                      </a:r>
                      <a:r>
                        <a:rPr lang="zh-TW" altLang="en-US" sz="1200" b="1" i="0" u="none" strike="noStrike" dirty="0">
                          <a:solidFill>
                            <a:srgbClr val="0C2340"/>
                          </a:solidFill>
                          <a:effectLst/>
                          <a:latin typeface="微軟正黑體" panose="020B0604030504040204" pitchFamily="34" charset="-120"/>
                          <a:ea typeface="微軟正黑體" panose="020B0604030504040204" pitchFamily="34" charset="-120"/>
                        </a:rPr>
                        <a:t>元</a:t>
                      </a:r>
                      <a:r>
                        <a:rPr lang="en-US" altLang="zh-TW" sz="1200" b="1" i="0" u="none" strike="noStrike" dirty="0">
                          <a:solidFill>
                            <a:srgbClr val="0C2340"/>
                          </a:solidFill>
                          <a:effectLst/>
                          <a:latin typeface="微軟正黑體" panose="020B0604030504040204" pitchFamily="34" charset="-120"/>
                          <a:ea typeface="微軟正黑體" panose="020B0604030504040204" pitchFamily="34" charset="-120"/>
                        </a:rPr>
                        <a:t>)</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algn="ctr" rtl="0" fontAlgn="ctr">
                        <a:spcBef>
                          <a:spcPts val="0"/>
                        </a:spcBef>
                        <a:spcAft>
                          <a:spcPts val="0"/>
                        </a:spcAft>
                      </a:pPr>
                      <a:r>
                        <a:rPr lang="en-US" altLang="zh-TW" sz="1200" b="0" i="0" u="none" strike="noStrike">
                          <a:solidFill>
                            <a:srgbClr val="334155"/>
                          </a:solidFill>
                          <a:effectLst/>
                          <a:latin typeface="微軟正黑體" panose="020B0604030504040204" pitchFamily="34" charset="-120"/>
                          <a:ea typeface="微軟正黑體" panose="020B0604030504040204" pitchFamily="34" charset="-120"/>
                        </a:rPr>
                        <a:t>1.8</a:t>
                      </a:r>
                      <a:endParaRPr lang="zh-TW" altLang="en-US" sz="120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CF4"/>
                    </a:solidFill>
                  </a:tcPr>
                </a:tc>
                <a:tc>
                  <a:txBody>
                    <a:bodyPr/>
                    <a:lstStyle/>
                    <a:p>
                      <a:pPr algn="ctr" rtl="0" fontAlgn="ctr">
                        <a:spcBef>
                          <a:spcPts val="0"/>
                        </a:spcBef>
                        <a:spcAft>
                          <a:spcPts val="0"/>
                        </a:spcAft>
                      </a:pPr>
                      <a:r>
                        <a:rPr lang="en-US" altLang="zh-TW" sz="1200" b="0" i="0" u="none" strike="noStrike" dirty="0">
                          <a:solidFill>
                            <a:srgbClr val="334155"/>
                          </a:solidFill>
                          <a:effectLst/>
                          <a:latin typeface="微軟正黑體" panose="020B0604030504040204" pitchFamily="34" charset="-120"/>
                          <a:ea typeface="微軟正黑體" panose="020B0604030504040204" pitchFamily="34" charset="-120"/>
                        </a:rPr>
                        <a:t>1.3</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CF4"/>
                    </a:solidFill>
                  </a:tcPr>
                </a:tc>
                <a:tc>
                  <a:txBody>
                    <a:bodyPr/>
                    <a:lstStyle/>
                    <a:p>
                      <a:pPr algn="ctr" rtl="0" fontAlgn="ctr">
                        <a:spcBef>
                          <a:spcPts val="0"/>
                        </a:spcBef>
                        <a:spcAft>
                          <a:spcPts val="0"/>
                        </a:spcAft>
                      </a:pPr>
                      <a:r>
                        <a:rPr lang="en-US" altLang="zh-TW" sz="1200" b="0" i="0" u="none" strike="noStrike" dirty="0">
                          <a:solidFill>
                            <a:srgbClr val="334155"/>
                          </a:solidFill>
                          <a:effectLst/>
                          <a:latin typeface="微軟正黑體" panose="020B0604030504040204" pitchFamily="34" charset="-120"/>
                          <a:ea typeface="微軟正黑體" panose="020B0604030504040204" pitchFamily="34" charset="-120"/>
                        </a:rPr>
                        <a:t>1.3</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CF4"/>
                    </a:solidFill>
                  </a:tcPr>
                </a:tc>
                <a:tc>
                  <a:txBody>
                    <a:bodyPr/>
                    <a:lstStyle/>
                    <a:p>
                      <a:pPr algn="ctr" rtl="0" fontAlgn="ctr">
                        <a:spcBef>
                          <a:spcPts val="0"/>
                        </a:spcBef>
                        <a:spcAft>
                          <a:spcPts val="0"/>
                        </a:spcAft>
                      </a:pPr>
                      <a:r>
                        <a:rPr lang="en-US" altLang="zh-TW" sz="1200" b="0" i="0" u="none" strike="noStrike" dirty="0">
                          <a:solidFill>
                            <a:srgbClr val="334155"/>
                          </a:solidFill>
                          <a:effectLst/>
                          <a:latin typeface="微軟正黑體" panose="020B0604030504040204" pitchFamily="34" charset="-120"/>
                          <a:ea typeface="微軟正黑體" panose="020B0604030504040204" pitchFamily="34" charset="-120"/>
                        </a:rPr>
                        <a:t>1.3</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CF4"/>
                    </a:solidFill>
                  </a:tcPr>
                </a:tc>
                <a:tc>
                  <a:txBody>
                    <a:bodyPr/>
                    <a:lstStyle/>
                    <a:p>
                      <a:pPr algn="ctr" rtl="0" fontAlgn="ctr">
                        <a:spcBef>
                          <a:spcPts val="0"/>
                        </a:spcBef>
                        <a:spcAft>
                          <a:spcPts val="0"/>
                        </a:spcAft>
                      </a:pPr>
                      <a:r>
                        <a:rPr lang="en-US" altLang="zh-TW" sz="1200" b="1" i="0" u="none" strike="noStrike">
                          <a:solidFill>
                            <a:srgbClr val="1D70B8"/>
                          </a:solidFill>
                          <a:effectLst/>
                          <a:latin typeface="微軟正黑體" panose="020B0604030504040204" pitchFamily="34" charset="-120"/>
                          <a:ea typeface="微軟正黑體" panose="020B0604030504040204" pitchFamily="34" charset="-120"/>
                        </a:rPr>
                        <a:t>1.8</a:t>
                      </a:r>
                      <a:endParaRPr lang="zh-TW" altLang="en-US" sz="120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ECF4"/>
                    </a:solidFill>
                  </a:tcPr>
                </a:tc>
                <a:extLst>
                  <a:ext uri="{0D108BD9-81ED-4DB2-BD59-A6C34878D82A}">
                    <a16:rowId xmlns:a16="http://schemas.microsoft.com/office/drawing/2014/main" xmlns="" val="10001"/>
                  </a:ext>
                </a:extLst>
              </a:tr>
              <a:tr h="378244">
                <a:tc>
                  <a:txBody>
                    <a:bodyPr/>
                    <a:lstStyle/>
                    <a:p>
                      <a:pPr rtl="0" fontAlgn="ctr">
                        <a:spcBef>
                          <a:spcPts val="0"/>
                        </a:spcBef>
                        <a:spcAft>
                          <a:spcPts val="0"/>
                        </a:spcAft>
                      </a:pPr>
                      <a:r>
                        <a:rPr lang="zh-TW" altLang="en-US" sz="1200" b="1" i="0" u="none" strike="noStrike">
                          <a:solidFill>
                            <a:srgbClr val="0C2340"/>
                          </a:solidFill>
                          <a:effectLst/>
                          <a:latin typeface="微軟正黑體" panose="020B0604030504040204" pitchFamily="34" charset="-120"/>
                          <a:ea typeface="微軟正黑體" panose="020B0604030504040204" pitchFamily="34" charset="-120"/>
                        </a:rPr>
                        <a:t>股票股利 </a:t>
                      </a:r>
                      <a:r>
                        <a:rPr lang="en-US" altLang="zh-TW" sz="1200" b="1" i="0" u="none" strike="noStrike">
                          <a:solidFill>
                            <a:srgbClr val="0C2340"/>
                          </a:solidFill>
                          <a:effectLst/>
                          <a:latin typeface="微軟正黑體" panose="020B0604030504040204" pitchFamily="34" charset="-120"/>
                          <a:ea typeface="微軟正黑體" panose="020B0604030504040204" pitchFamily="34" charset="-120"/>
                        </a:rPr>
                        <a:t>(</a:t>
                      </a:r>
                      <a:r>
                        <a:rPr lang="zh-TW" altLang="en-US" sz="1200" b="1" i="0" u="none" strike="noStrike">
                          <a:solidFill>
                            <a:srgbClr val="0C2340"/>
                          </a:solidFill>
                          <a:effectLst/>
                          <a:latin typeface="微軟正黑體" panose="020B0604030504040204" pitchFamily="34" charset="-120"/>
                          <a:ea typeface="微軟正黑體" panose="020B0604030504040204" pitchFamily="34" charset="-120"/>
                        </a:rPr>
                        <a:t>元</a:t>
                      </a:r>
                      <a:r>
                        <a:rPr lang="en-US" altLang="zh-TW" sz="1200" b="1" i="0" u="none" strike="noStrike">
                          <a:solidFill>
                            <a:srgbClr val="0C2340"/>
                          </a:solidFill>
                          <a:effectLst/>
                          <a:latin typeface="微軟正黑體" panose="020B0604030504040204" pitchFamily="34" charset="-120"/>
                          <a:ea typeface="微軟正黑體" panose="020B0604030504040204" pitchFamily="34" charset="-120"/>
                        </a:rPr>
                        <a:t>)</a:t>
                      </a:r>
                      <a:endParaRPr lang="zh-TW" altLang="en-US" sz="120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algn="ctr" rtl="0" fontAlgn="ctr">
                        <a:spcBef>
                          <a:spcPts val="0"/>
                        </a:spcBef>
                        <a:spcAft>
                          <a:spcPts val="0"/>
                        </a:spcAft>
                      </a:pPr>
                      <a:r>
                        <a:rPr lang="en-US" altLang="zh-TW" sz="1200" b="0" i="0" u="none" strike="noStrike">
                          <a:solidFill>
                            <a:srgbClr val="334155"/>
                          </a:solidFill>
                          <a:effectLst/>
                          <a:latin typeface="微軟正黑體" panose="020B0604030504040204" pitchFamily="34" charset="-120"/>
                          <a:ea typeface="微軟正黑體" panose="020B0604030504040204" pitchFamily="34" charset="-120"/>
                        </a:rPr>
                        <a:t>0.5</a:t>
                      </a:r>
                      <a:endParaRPr lang="zh-TW" altLang="en-US" sz="120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rtl="0" fontAlgn="ctr">
                        <a:spcBef>
                          <a:spcPts val="0"/>
                        </a:spcBef>
                        <a:spcAft>
                          <a:spcPts val="0"/>
                        </a:spcAft>
                      </a:pPr>
                      <a:r>
                        <a:rPr lang="en-US" altLang="zh-TW" sz="1200" b="0" i="0" u="none" strike="noStrike" dirty="0">
                          <a:solidFill>
                            <a:srgbClr val="334155"/>
                          </a:solidFill>
                          <a:effectLst/>
                          <a:latin typeface="微軟正黑體" panose="020B0604030504040204" pitchFamily="34" charset="-120"/>
                          <a:ea typeface="微軟正黑體" panose="020B0604030504040204" pitchFamily="34" charset="-120"/>
                        </a:rPr>
                        <a:t>0.7</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rtl="0" fontAlgn="ctr">
                        <a:spcBef>
                          <a:spcPts val="0"/>
                        </a:spcBef>
                        <a:spcAft>
                          <a:spcPts val="0"/>
                        </a:spcAft>
                      </a:pPr>
                      <a:r>
                        <a:rPr lang="en-US" altLang="zh-TW" sz="1200" b="0" i="0" u="none" strike="noStrike" dirty="0">
                          <a:solidFill>
                            <a:srgbClr val="334155"/>
                          </a:solidFill>
                          <a:effectLst/>
                          <a:latin typeface="微軟正黑體" panose="020B0604030504040204" pitchFamily="34" charset="-120"/>
                          <a:ea typeface="微軟正黑體" panose="020B0604030504040204" pitchFamily="34" charset="-120"/>
                        </a:rPr>
                        <a:t>0.8</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rtl="0" fontAlgn="ctr">
                        <a:spcBef>
                          <a:spcPts val="0"/>
                        </a:spcBef>
                        <a:spcAft>
                          <a:spcPts val="0"/>
                        </a:spcAft>
                      </a:pPr>
                      <a:r>
                        <a:rPr lang="en-US" altLang="zh-TW" sz="1200" b="0" i="0" u="none" strike="noStrike" dirty="0">
                          <a:solidFill>
                            <a:srgbClr val="334155"/>
                          </a:solidFill>
                          <a:effectLst/>
                          <a:latin typeface="微軟正黑體" panose="020B0604030504040204" pitchFamily="34" charset="-120"/>
                          <a:ea typeface="微軟正黑體" panose="020B0604030504040204" pitchFamily="34" charset="-120"/>
                        </a:rPr>
                        <a:t>0.5</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tc>
                  <a:txBody>
                    <a:bodyPr/>
                    <a:lstStyle/>
                    <a:p>
                      <a:pPr algn="ctr" rtl="0" fontAlgn="ctr">
                        <a:spcBef>
                          <a:spcPts val="0"/>
                        </a:spcBef>
                        <a:spcAft>
                          <a:spcPts val="0"/>
                        </a:spcAft>
                      </a:pPr>
                      <a:r>
                        <a:rPr lang="en-US" altLang="zh-TW" sz="1200" b="0" i="0" u="none" strike="noStrike" dirty="0">
                          <a:solidFill>
                            <a:srgbClr val="334155"/>
                          </a:solidFill>
                          <a:effectLst/>
                          <a:latin typeface="微軟正黑體" panose="020B0604030504040204" pitchFamily="34" charset="-120"/>
                          <a:ea typeface="微軟正黑體" panose="020B0604030504040204" pitchFamily="34" charset="-120"/>
                        </a:rPr>
                        <a:t>0.2</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FD7E7"/>
                    </a:solidFill>
                  </a:tcPr>
                </a:tc>
                <a:extLst>
                  <a:ext uri="{0D108BD9-81ED-4DB2-BD59-A6C34878D82A}">
                    <a16:rowId xmlns:a16="http://schemas.microsoft.com/office/drawing/2014/main" xmlns="" val="10002"/>
                  </a:ext>
                </a:extLst>
              </a:tr>
              <a:tr h="321151">
                <a:tc>
                  <a:txBody>
                    <a:bodyPr/>
                    <a:lstStyle/>
                    <a:p>
                      <a:pPr rtl="0" fontAlgn="ctr">
                        <a:spcBef>
                          <a:spcPts val="0"/>
                        </a:spcBef>
                        <a:spcAft>
                          <a:spcPts val="0"/>
                        </a:spcAft>
                      </a:pPr>
                      <a:r>
                        <a:rPr lang="zh-TW" altLang="en-US" sz="1200" b="1" i="0" u="none" strike="noStrike">
                          <a:solidFill>
                            <a:srgbClr val="0C2340"/>
                          </a:solidFill>
                          <a:effectLst/>
                          <a:latin typeface="微軟正黑體" panose="020B0604030504040204" pitchFamily="34" charset="-120"/>
                          <a:ea typeface="微軟正黑體" panose="020B0604030504040204" pitchFamily="34" charset="-120"/>
                        </a:rPr>
                        <a:t>盈餘分配率</a:t>
                      </a:r>
                      <a:endParaRPr lang="zh-TW" altLang="en-US" sz="120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algn="ctr" rtl="0" fontAlgn="ctr">
                        <a:spcBef>
                          <a:spcPts val="0"/>
                        </a:spcBef>
                        <a:spcAft>
                          <a:spcPts val="0"/>
                        </a:spcAft>
                      </a:pPr>
                      <a:r>
                        <a:rPr lang="en-US" altLang="zh-TW" sz="1200" b="1" i="0" u="none" strike="noStrike" dirty="0">
                          <a:solidFill>
                            <a:srgbClr val="1D70B8"/>
                          </a:solidFill>
                          <a:effectLst/>
                          <a:latin typeface="微軟正黑體" panose="020B0604030504040204" pitchFamily="34" charset="-120"/>
                          <a:ea typeface="微軟正黑體" panose="020B0604030504040204" pitchFamily="34" charset="-120"/>
                        </a:rPr>
                        <a:t>79%</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ctr">
                        <a:spcBef>
                          <a:spcPts val="0"/>
                        </a:spcBef>
                        <a:spcAft>
                          <a:spcPts val="0"/>
                        </a:spcAft>
                      </a:pPr>
                      <a:r>
                        <a:rPr lang="en-US" altLang="zh-TW" sz="1200" b="1" i="0" u="none" strike="noStrike" dirty="0">
                          <a:solidFill>
                            <a:srgbClr val="1D70B8"/>
                          </a:solidFill>
                          <a:effectLst/>
                          <a:latin typeface="微軟正黑體" panose="020B0604030504040204" pitchFamily="34" charset="-120"/>
                          <a:ea typeface="微軟正黑體" panose="020B0604030504040204" pitchFamily="34" charset="-120"/>
                        </a:rPr>
                        <a:t>76%</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ctr">
                        <a:spcBef>
                          <a:spcPts val="0"/>
                        </a:spcBef>
                        <a:spcAft>
                          <a:spcPts val="0"/>
                        </a:spcAft>
                      </a:pPr>
                      <a:r>
                        <a:rPr lang="en-US" altLang="zh-TW" sz="1200" b="1" i="0" u="none" strike="noStrike" dirty="0">
                          <a:solidFill>
                            <a:srgbClr val="1D70B8"/>
                          </a:solidFill>
                          <a:effectLst/>
                          <a:latin typeface="微軟正黑體" panose="020B0604030504040204" pitchFamily="34" charset="-120"/>
                          <a:ea typeface="微軟正黑體" panose="020B0604030504040204" pitchFamily="34" charset="-120"/>
                        </a:rPr>
                        <a:t>80%</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rtl="0" fontAlgn="ctr">
                        <a:spcBef>
                          <a:spcPts val="0"/>
                        </a:spcBef>
                        <a:spcAft>
                          <a:spcPts val="0"/>
                        </a:spcAft>
                      </a:pPr>
                      <a:r>
                        <a:rPr lang="en-US" altLang="zh-TW" sz="1200" b="1" i="0" u="none" strike="noStrike" dirty="0">
                          <a:solidFill>
                            <a:srgbClr val="1D70B8"/>
                          </a:solidFill>
                          <a:effectLst/>
                          <a:latin typeface="微軟正黑體" panose="020B0604030504040204" pitchFamily="34" charset="-120"/>
                          <a:ea typeface="微軟正黑體" panose="020B0604030504040204" pitchFamily="34" charset="-120"/>
                        </a:rPr>
                        <a:t>73%</a:t>
                      </a:r>
                      <a:endParaRPr lang="zh-TW" altLang="en-US" sz="1200" dirty="0">
                        <a:effectLst/>
                        <a:latin typeface="微軟正黑體" panose="020B0604030504040204" pitchFamily="34" charset="-120"/>
                        <a:ea typeface="微軟正黑體" panose="020B0604030504040204" pitchFamily="34" charset="-120"/>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ctr" latinLnBrk="0" hangingPunct="1">
                        <a:spcBef>
                          <a:spcPts val="0"/>
                        </a:spcBef>
                        <a:spcAft>
                          <a:spcPts val="0"/>
                        </a:spcAft>
                      </a:pPr>
                      <a:r>
                        <a:rPr lang="en-US" altLang="zh-TW" sz="1200" b="1" i="0" u="none" strike="noStrike" kern="1200" dirty="0">
                          <a:solidFill>
                            <a:srgbClr val="1D70B8"/>
                          </a:solidFill>
                          <a:effectLst/>
                          <a:latin typeface="微軟正黑體" panose="020B0604030504040204" pitchFamily="34" charset="-120"/>
                          <a:ea typeface="微軟正黑體" panose="020B0604030504040204" pitchFamily="34" charset="-120"/>
                          <a:cs typeface="+mn-cs"/>
                        </a:rPr>
                        <a:t>78%</a:t>
                      </a:r>
                      <a:endParaRPr lang="zh-TW" altLang="en-US" sz="1200" b="1" i="0" u="none" strike="noStrike" kern="1200" dirty="0">
                        <a:solidFill>
                          <a:srgbClr val="1D70B8"/>
                        </a:solidFill>
                        <a:effectLst/>
                        <a:latin typeface="微軟正黑體" panose="020B0604030504040204" pitchFamily="34" charset="-120"/>
                        <a:ea typeface="微軟正黑體" panose="020B0604030504040204" pitchFamily="34" charset="-120"/>
                        <a:cs typeface="+mn-cs"/>
                      </a:endParaRPr>
                    </a:p>
                  </a:txBody>
                  <a:tcPr marL="44450" marR="44450" marT="19050" marB="1905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xmlns="" val="10003"/>
                  </a:ext>
                </a:extLst>
              </a:tr>
            </a:tbl>
          </a:graphicData>
        </a:graphic>
      </p:graphicFrame>
      <p:sp>
        <p:nvSpPr>
          <p:cNvPr id="5" name="Rectangle 1"/>
          <p:cNvSpPr>
            <a:spLocks noChangeArrowheads="1"/>
          </p:cNvSpPr>
          <p:nvPr/>
        </p:nvSpPr>
        <p:spPr bwMode="auto">
          <a:xfrm>
            <a:off x="4159250" y="30829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8" name="矩形 7"/>
          <p:cNvSpPr/>
          <p:nvPr/>
        </p:nvSpPr>
        <p:spPr>
          <a:xfrm>
            <a:off x="7026725" y="5655687"/>
            <a:ext cx="3020363" cy="338554"/>
          </a:xfrm>
          <a:prstGeom prst="rect">
            <a:avLst/>
          </a:prstGeom>
        </p:spPr>
        <p:txBody>
          <a:bodyPr wrap="square">
            <a:spAutoFit/>
          </a:bodyPr>
          <a:lstStyle/>
          <a:p>
            <a:pPr>
              <a:spcBef>
                <a:spcPts val="0"/>
              </a:spcBef>
              <a:spcAft>
                <a:spcPts val="0"/>
              </a:spcAft>
            </a:pPr>
            <a:r>
              <a:rPr lang="zh-TW" altLang="en-US" sz="1600" b="1" dirty="0">
                <a:solidFill>
                  <a:srgbClr val="64748B"/>
                </a:solidFill>
                <a:latin typeface="Noto Sans TC" panose="020B0200000000000000" pitchFamily="34" charset="-120"/>
                <a:ea typeface="Noto Sans TC" panose="020B0200000000000000" pitchFamily="34" charset="-120"/>
              </a:rPr>
              <a:t>盈餘分配率計算公式說明：</a:t>
            </a:r>
            <a:endParaRPr lang="zh-TW" altLang="en-US" sz="1600" dirty="0"/>
          </a:p>
        </p:txBody>
      </p:sp>
      <p:pic>
        <p:nvPicPr>
          <p:cNvPr id="10" name="圖片 9"/>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026725" y="5994241"/>
            <a:ext cx="3664138" cy="417116"/>
          </a:xfrm>
          <a:prstGeom prst="rect">
            <a:avLst/>
          </a:prstGeom>
        </p:spPr>
      </p:pic>
      <p:sp>
        <p:nvSpPr>
          <p:cNvPr id="11" name="文字方塊 10"/>
          <p:cNvSpPr txBox="1"/>
          <p:nvPr/>
        </p:nvSpPr>
        <p:spPr>
          <a:xfrm>
            <a:off x="6930931" y="2177399"/>
            <a:ext cx="3835403" cy="523220"/>
          </a:xfrm>
          <a:prstGeom prst="rect">
            <a:avLst/>
          </a:prstGeom>
          <a:noFill/>
        </p:spPr>
        <p:txBody>
          <a:bodyPr wrap="square" rtlCol="0">
            <a:spAutoFit/>
          </a:bodyPr>
          <a:lstStyle/>
          <a:p>
            <a:r>
              <a:rPr lang="zh-TW" altLang="en-US" sz="2800" b="1" dirty="0">
                <a:solidFill>
                  <a:srgbClr val="0070C0"/>
                </a:solidFill>
                <a:latin typeface="微軟正黑體" panose="020B0604030504040204" pitchFamily="34" charset="-120"/>
                <a:ea typeface="微軟正黑體" panose="020B0604030504040204" pitchFamily="34" charset="-120"/>
              </a:rPr>
              <a:t>連續</a:t>
            </a:r>
            <a:r>
              <a:rPr lang="en-US" altLang="zh-TW" sz="2800" b="1" dirty="0">
                <a:solidFill>
                  <a:srgbClr val="0070C0"/>
                </a:solidFill>
                <a:latin typeface="微軟正黑體" panose="020B0604030504040204" pitchFamily="34" charset="-120"/>
                <a:ea typeface="微軟正黑體" panose="020B0604030504040204" pitchFamily="34" charset="-120"/>
              </a:rPr>
              <a:t>43</a:t>
            </a:r>
            <a:r>
              <a:rPr lang="zh-TW" altLang="en-US" sz="2800" b="1" dirty="0">
                <a:solidFill>
                  <a:srgbClr val="0070C0"/>
                </a:solidFill>
                <a:latin typeface="微軟正黑體" panose="020B0604030504040204" pitchFamily="34" charset="-120"/>
                <a:ea typeface="微軟正黑體" panose="020B0604030504040204" pitchFamily="34" charset="-120"/>
              </a:rPr>
              <a:t>年穩定配發股利</a:t>
            </a:r>
          </a:p>
        </p:txBody>
      </p:sp>
      <p:pic>
        <p:nvPicPr>
          <p:cNvPr id="6" name="圖片 5"/>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8532" y="1972638"/>
            <a:ext cx="6320065" cy="4230161"/>
          </a:xfrm>
          <a:prstGeom prst="rect">
            <a:avLst/>
          </a:prstGeom>
          <a:ln>
            <a:solidFill>
              <a:schemeClr val="tx1"/>
            </a:solidFill>
          </a:ln>
        </p:spPr>
      </p:pic>
      <p:sp>
        <p:nvSpPr>
          <p:cNvPr id="14" name="矩形 13"/>
          <p:cNvSpPr/>
          <p:nvPr/>
        </p:nvSpPr>
        <p:spPr>
          <a:xfrm>
            <a:off x="103256" y="553895"/>
            <a:ext cx="3612656" cy="646331"/>
          </a:xfrm>
          <a:prstGeom prst="rect">
            <a:avLst/>
          </a:prstGeom>
        </p:spPr>
        <p:txBody>
          <a:bodyPr wrap="none">
            <a:spAutoFit/>
          </a:bodyPr>
          <a:lstStyle/>
          <a:p>
            <a:pPr>
              <a:spcBef>
                <a:spcPct val="0"/>
              </a:spcBef>
            </a:pPr>
            <a:r>
              <a:rPr lang="en-US" altLang="zh-TW" sz="3600" b="1" dirty="0">
                <a:solidFill>
                  <a:schemeClr val="bg1"/>
                </a:solidFill>
                <a:latin typeface="微軟正黑體" panose="020B0604030504040204" pitchFamily="34" charset="-120"/>
                <a:ea typeface="微軟正黑體" panose="020B0604030504040204" pitchFamily="34" charset="-120"/>
              </a:rPr>
              <a:t>Dividend Policy</a:t>
            </a:r>
          </a:p>
        </p:txBody>
      </p:sp>
    </p:spTree>
    <p:extLst>
      <p:ext uri="{BB962C8B-B14F-4D97-AF65-F5344CB8AC3E}">
        <p14:creationId xmlns:p14="http://schemas.microsoft.com/office/powerpoint/2010/main" val="3604497878"/>
      </p:ext>
    </p:extLst>
  </p:cSld>
  <p:clrMapOvr>
    <a:masterClrMapping/>
  </p:clrMapOvr>
  <p:transition spd="slow"/>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5143</TotalTime>
  <Words>3613</Words>
  <Application>Microsoft Office PowerPoint</Application>
  <PresentationFormat>寬螢幕</PresentationFormat>
  <Paragraphs>522</Paragraphs>
  <Slides>32</Slides>
  <Notes>22</Notes>
  <HiddenSlides>2</HiddenSlides>
  <MMClips>0</MMClips>
  <ScaleCrop>false</ScaleCrop>
  <HeadingPairs>
    <vt:vector size="8" baseType="variant">
      <vt:variant>
        <vt:lpstr>使用字型</vt:lpstr>
      </vt:variant>
      <vt:variant>
        <vt:i4>15</vt:i4>
      </vt:variant>
      <vt:variant>
        <vt:lpstr>佈景主題</vt:lpstr>
      </vt:variant>
      <vt:variant>
        <vt:i4>1</vt:i4>
      </vt:variant>
      <vt:variant>
        <vt:lpstr>內嵌 OLE 伺服程式</vt:lpstr>
      </vt:variant>
      <vt:variant>
        <vt:i4>1</vt:i4>
      </vt:variant>
      <vt:variant>
        <vt:lpstr>投影片標題</vt:lpstr>
      </vt:variant>
      <vt:variant>
        <vt:i4>32</vt:i4>
      </vt:variant>
    </vt:vector>
  </HeadingPairs>
  <TitlesOfParts>
    <vt:vector size="49" baseType="lpstr">
      <vt:lpstr>Arial Unicode MS</vt:lpstr>
      <vt:lpstr>等线</vt:lpstr>
      <vt:lpstr>Microsoft YaHei</vt:lpstr>
      <vt:lpstr>Noto Sans HK</vt:lpstr>
      <vt:lpstr>Noto Sans TC</vt:lpstr>
      <vt:lpstr>Noto Sans TC ExtraBold</vt:lpstr>
      <vt:lpstr>細明體</vt:lpstr>
      <vt:lpstr>Microsoft JhengHei</vt:lpstr>
      <vt:lpstr>Microsoft JhengHei</vt:lpstr>
      <vt:lpstr>新細明體</vt:lpstr>
      <vt:lpstr>Arial</vt:lpstr>
      <vt:lpstr>Calibri</vt:lpstr>
      <vt:lpstr>Calibri Light</vt:lpstr>
      <vt:lpstr>Segoe UI</vt:lpstr>
      <vt:lpstr>Wingdings</vt:lpstr>
      <vt:lpstr>Office 佈景主題</vt:lpstr>
      <vt:lpstr>工作表</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HP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Y.T Tseng[曾耀泰]</dc:creator>
  <cp:lastModifiedBy>Y.T Tseng[曾耀泰]</cp:lastModifiedBy>
  <cp:revision>263</cp:revision>
  <cp:lastPrinted>2026-09-18T08:34:19Z</cp:lastPrinted>
  <dcterms:created xsi:type="dcterms:W3CDTF">2026-06-25T01:11:26Z</dcterms:created>
  <dcterms:modified xsi:type="dcterms:W3CDTF">2026-09-29T09:52:27Z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3883347</vt:lpwstr>
  </property>
  <property fmtid="{D5CDD505-2E9C-101B-9397-08002B2CF9AE}" name="NXPowerLiteSettings" pid="3">
    <vt:lpwstr>F7000400038000</vt:lpwstr>
  </property>
  <property fmtid="{D5CDD505-2E9C-101B-9397-08002B2CF9AE}" name="NXPowerLiteVersion" pid="4">
    <vt:lpwstr>S11.0.1</vt:lpwstr>
  </property>
</Properties>
</file>